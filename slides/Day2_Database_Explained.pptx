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82"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3" r:id="rId2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512A513-C832-B915-C8A4-6C36C0CB1083}">
          <p14:sldIdLst>
            <p14:sldId id="256"/>
            <p14:sldId id="282"/>
            <p14:sldId id="257"/>
            <p14:sldId id="258"/>
            <p14:sldId id="259"/>
          </p14:sldIdLst>
        </p14:section>
        <p14:section name="What a database is" id="{4D74C15A-6F24-6DCF-46EB-AD4962D91B62}">
          <p14:sldIdLst>
            <p14:sldId id="260"/>
            <p14:sldId id="261"/>
          </p14:sldIdLst>
        </p14:section>
        <p14:section name="Our data" id="{C9965EFB-5B44-A8FB-4699-A3ED947CE9A2}">
          <p14:sldIdLst>
            <p14:sldId id="262"/>
            <p14:sldId id="263"/>
          </p14:sldIdLst>
        </p14:section>
        <p14:section name="Three tables" id="{246A7C00-C8DF-25FA-AB86-0938DAA5E192}">
          <p14:sldIdLst>
            <p14:sldId id="264"/>
            <p14:sldId id="265"/>
            <p14:sldId id="266"/>
          </p14:sldIdLst>
        </p14:section>
        <p14:section name="The code" id="{27E11501-8CB5-A30E-CC34-E0370F79274E}">
          <p14:sldIdLst>
            <p14:sldId id="267"/>
            <p14:sldId id="268"/>
            <p14:sldId id="269"/>
            <p14:sldId id="270"/>
          </p14:sldIdLst>
        </p14:section>
        <p14:section name="The answers" id="{FE82BF3F-DF00-9224-B9B3-812DF195CF43}">
          <p14:sldIdLst>
            <p14:sldId id="271"/>
            <p14:sldId id="272"/>
            <p14:sldId id="273"/>
            <p14:sldId id="274"/>
          </p14:sldIdLst>
        </p14:section>
        <p14:section name="Extra: PostgreSQL" id="{68DB76B0-7E5C-3A64-C52B-DCB3C1C64C29}">
          <p14:sldIdLst>
            <p14:sldId id="275"/>
            <p14:sldId id="276"/>
            <p14:sldId id="277"/>
            <p14:sldId id="278"/>
          </p14:sldIdLst>
        </p14:section>
        <p14:section name="Review" id="{B8F07A75-21D1-7546-1696-BC714980F479}">
          <p14:sldIdLst>
            <p14:sldId id="279"/>
            <p14:sldId id="280"/>
          </p14:sldIdLst>
        </p14:section>
        <p14:section name="Close" id="{370DE68E-FB3A-6ED0-04AA-20596E1619EF}">
          <p14:sldIdLst>
            <p14:sldId id="281"/>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1"/>
    <p:restoredTop sz="94610"/>
  </p:normalViewPr>
  <p:slideViewPr>
    <p:cSldViewPr snapToGrid="0" snapToObjects="1">
      <p:cViewPr varScale="1">
        <p:scale>
          <a:sx n="170" d="100"/>
          <a:sy n="170" d="100"/>
        </p:scale>
        <p:origin x="50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32290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Day 2 from scratch, in plain words, using the real Day 2 code and its real outputs. Every number on these slides comes from running the code. Use it before the hands-on steps on the Day 2 page.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problem as the engineer would say it. Then show that the six steps map one-to-one onto the six steps of the Day 2 page. The next two slides show how this problem becomes a technical design.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questions people ask first: is it real, is it live, where is it stored, how many tables. The flow on top is the whole Day 2 pipeline in one line.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File: data/campus_feb_mar_2026.csv. 59 days × 96 readings a day = 5,664 rows. Ask: at 13:00 the campus uses 859 kW and solar gives 237 kW — where does the rest come from? (The grid, through the transformer.)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real statements and outputs of day2_tue_database/code/01_sql_basics.py. Read each SQL line aloud as an English sentence. After this, students know what the Python code below is doing for them.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clears most confusion. Reading and Calculation are not functions — they are tables. readings is filled once from the CSV and only read. calculations is the API's diary: each calculation request adds one row. appliances is Monday's list, now on disk.</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each card on the board. 1) Units: watts × hours gives watt-hours; ÷ 1000 gives kWh, which is what the meter calls a unit. 12 × ₹8 = ₹96. 2) Slab tariff: the first 100 units are charged ₹3, the next 100 ₹4.50, everything above 200 ₹6.50: 300 + 450 + 325 = ₹1,075. These slab rates are illustrative, not a real utility's. 3) The Day 1 calculator. Stress that the three requests are independent — what links them is only that each adds one line to the calculations table (next slide).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ORM = Object-Relational Mapping. The class is a template; an object made from it is one row. SQLAlchemy writes the CREATE TABLE and INSERT statements from the last section for us.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refresh is right for a fixed two-month file. A live plant would load incrementally every 15 minutes, or upsert when meters resend corrected readings. Delete + insert are one transaction: a failure leaves the old data untouched.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queries.py: loading = max(load − solar, 0) ÷ 0.93 ÷ 630. Numbers are the real 23 March 12:45 row: (854.2 − 230.7) ÷ 0.93 ÷ 630 = 106.4 %. kVA vs kW: the transformer heats with the total current, including the part that does no useful work.</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for this step is in day2_tue_database/postgres/ with a README. Docker means nothing is installed on the laptop itself, and every student gets the identical server.</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matters: load SQLite first (02_load_readings.py WITHOUT DATABASE_URL), then set DATABASE_URL and migrate. Shortcut: with DATABASE_URL set, 02_load_readings.py loads the CSV straight into PostgreSQL — but then the saved calculations and appliances are not copied. Counts of calculations and appliances depend on each student's earlier work; they only have to match.</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need to load data again: every day uses the same PostgreSQL database filled in the previous step. Troubleshooting table in postgres/README.md: port 5432 busy, wrong password, container not running, psycopg missing, DATABASE_URL set in a different terminal.</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Memory (RAM) is wiped when the program ends.  2. calculations.  3. Still 5,664 — it deletes before inserting.  4. DATABASE_URL in db.py, plus install the driver (psycopg) and run a PostgreSQL server.  5. (700 − 100) ÷ 0.93 ÷ 630 = 102.4 % — overloaded.</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X_DARK">
    <p:bg>
      <p:bgPr>
        <a:solidFill>
          <a:srgbClr val="1A2535"/>
        </a:solidFill>
        <a:effectLst/>
      </p:bgPr>
    </p:bg>
    <p:spTree>
      <p:nvGrpSpPr>
        <p:cNvPr id="1" name=""/>
        <p:cNvGrpSpPr/>
        <p:nvPr/>
      </p:nvGrpSpPr>
      <p:grpSpPr>
        <a:xfrm>
          <a:off x="0" y="0"/>
          <a:ext cx="0" cy="0"/>
          <a:chOff x="0" y="0"/>
          <a:chExt cx="0" cy="0"/>
        </a:xfrm>
      </p:grpSpPr>
      <p:sp>
        <p:nvSpPr>
          <p:cNvPr id="2" name="Shape 0"/>
          <p:cNvSpPr/>
          <p:nvPr/>
        </p:nvSpPr>
        <p:spPr>
          <a:xfrm>
            <a:off x="0" y="0"/>
            <a:ext cx="82296" cy="5143500"/>
          </a:xfrm>
          <a:prstGeom prst="rect">
            <a:avLst/>
          </a:prstGeom>
          <a:solidFill>
            <a:srgbClr val="F59E0B"/>
          </a:solidFill>
          <a:ln/>
        </p:spPr>
        <p:txBody>
          <a:bodyPr/>
          <a:lstStyle/>
          <a:p>
            <a:endParaRPr lang="en-US"/>
          </a:p>
        </p:txBody>
      </p:sp>
      <p:pic>
        <p:nvPicPr>
          <p:cNvPr id="3" name="Image 0" descr="/Users/vijayreddy/github/Interns/mgit/v1/assets/img/actoryx-logo-tile.png"/>
          <p:cNvPicPr>
            <a:picLocks noChangeAspect="1"/>
          </p:cNvPicPr>
          <p:nvPr/>
        </p:nvPicPr>
        <p:blipFill>
          <a:blip r:embed="rId2"/>
          <a:stretch>
            <a:fillRect/>
          </a:stretch>
        </p:blipFill>
        <p:spPr>
          <a:xfrm>
            <a:off x="274320" y="228600"/>
            <a:ext cx="2834640" cy="1892808"/>
          </a:xfrm>
          <a:prstGeom prst="rect">
            <a:avLst/>
          </a:prstGeom>
        </p:spPr>
      </p:pic>
      <p:sp>
        <p:nvSpPr>
          <p:cNvPr id="4" name="Shape 1"/>
          <p:cNvSpPr/>
          <p:nvPr/>
        </p:nvSpPr>
        <p:spPr>
          <a:xfrm>
            <a:off x="274320" y="2286000"/>
            <a:ext cx="8595360" cy="10973"/>
          </a:xfrm>
          <a:prstGeom prst="rect">
            <a:avLst/>
          </a:prstGeom>
          <a:solidFill>
            <a:srgbClr val="F59E0B"/>
          </a:solidFill>
          <a:ln/>
        </p:spPr>
        <p:txBody>
          <a:bodyPr/>
          <a:lstStyle/>
          <a:p>
            <a:endParaRPr lang="en-US"/>
          </a:p>
        </p:txBody>
      </p:sp>
      <p:sp>
        <p:nvSpPr>
          <p:cNvPr id="5" name="Text 2"/>
          <p:cNvSpPr>
            <a:spLocks noGrp="1"/>
          </p:cNvSpPr>
          <p:nvPr>
            <p:ph type="title" idx="107" hasCustomPrompt="1"/>
          </p:nvPr>
        </p:nvSpPr>
        <p:spPr>
          <a:xfrm>
            <a:off x="274320" y="2377440"/>
            <a:ext cx="8595360" cy="731520"/>
          </a:xfrm>
          <a:prstGeom prst="rect">
            <a:avLst/>
          </a:prstGeom>
          <a:noFill/>
          <a:ln/>
        </p:spPr>
        <p:txBody>
          <a:bodyPr wrap="square" rtlCol="0"/>
          <a:lstStyle>
            <a:lvl1pPr marL="0" indent="0" algn="l">
              <a:buNone/>
              <a:defRPr lang="en-US" sz="3000" b="1" dirty="0">
                <a:solidFill>
                  <a:srgbClr val="FFFFFF"/>
                </a:solidFill>
              </a:defRPr>
            </a:lvl1pPr>
          </a:lstStyle>
          <a:p>
            <a:pPr marL="0" indent="0" algn="l">
              <a:buNone/>
            </a:pPr>
            <a:endParaRPr lang="en-US" sz="3000" dirty="0"/>
          </a:p>
        </p:txBody>
      </p:sp>
      <p:sp>
        <p:nvSpPr>
          <p:cNvPr id="6" name="Text 2"/>
          <p:cNvSpPr>
            <a:spLocks noGrp="1"/>
          </p:cNvSpPr>
          <p:nvPr>
            <p:ph type="body" idx="108" hasCustomPrompt="1"/>
          </p:nvPr>
        </p:nvSpPr>
        <p:spPr>
          <a:xfrm>
            <a:off x="274320" y="3127248"/>
            <a:ext cx="8595360" cy="411480"/>
          </a:xfrm>
          <a:prstGeom prst="rect">
            <a:avLst/>
          </a:prstGeom>
          <a:noFill/>
          <a:ln/>
        </p:spPr>
        <p:txBody>
          <a:bodyPr wrap="square" rtlCol="0"/>
          <a:lstStyle>
            <a:lvl1pPr marL="0" indent="0">
              <a:buNone/>
              <a:defRPr lang="en-US" sz="1400" dirty="0">
                <a:solidFill>
                  <a:srgbClr val="F59E0B"/>
                </a:solidFill>
              </a:defRPr>
            </a:lvl1pPr>
          </a:lstStyle>
          <a:p>
            <a:pPr marL="0" indent="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X_CONTENT">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A2535"/>
          </a:solidFill>
          <a:ln/>
        </p:spPr>
      </p:sp>
      <p:pic>
        <p:nvPicPr>
          <p:cNvPr id="3" name="Image 0" descr="/Users/vijayreddy/github/Interns/mgit/v1/assets/img/actoryx-logo-tile.png"/>
          <p:cNvPicPr>
            <a:picLocks noChangeAspect="1"/>
          </p:cNvPicPr>
          <p:nvPr/>
        </p:nvPicPr>
        <p:blipFill>
          <a:blip r:embed="rId2"/>
          <a:stretch>
            <a:fillRect/>
          </a:stretch>
        </p:blipFill>
        <p:spPr>
          <a:xfrm>
            <a:off x="182880" y="13716"/>
            <a:ext cx="754380" cy="502920"/>
          </a:xfrm>
          <a:prstGeom prst="rect">
            <a:avLst/>
          </a:prstGeom>
        </p:spPr>
      </p:pic>
      <p:sp>
        <p:nvSpPr>
          <p:cNvPr id="4" name="Text 1"/>
          <p:cNvSpPr>
            <a:spLocks noGrp="1"/>
          </p:cNvSpPr>
          <p:nvPr>
            <p:ph type="title" idx="102" hasCustomPrompt="1"/>
          </p:nvPr>
        </p:nvSpPr>
        <p:spPr>
          <a:xfrm>
            <a:off x="1097280" y="91440"/>
            <a:ext cx="7772400" cy="347472"/>
          </a:xfrm>
          <a:prstGeom prst="rect">
            <a:avLst/>
          </a:prstGeom>
          <a:noFill/>
          <a:ln/>
        </p:spPr>
        <p:txBody>
          <a:bodyPr wrap="square" rtlCol="0"/>
          <a:lstStyle>
            <a:lvl1pPr marL="0" indent="0" algn="l">
              <a:buNone/>
              <a:defRPr lang="en-US" sz="1300" b="1" dirty="0">
                <a:solidFill>
                  <a:srgbClr val="F59E0B"/>
                </a:solidFill>
              </a:defRPr>
            </a:lvl1pPr>
          </a:lstStyle>
          <a:p>
            <a:pPr marL="0" indent="0" algn="l">
              <a:buNone/>
            </a:pPr>
            <a:endParaRPr lang="en-US" sz="1300" dirty="0"/>
          </a:p>
        </p:txBody>
      </p:sp>
      <p:sp>
        <p:nvSpPr>
          <p:cNvPr id="25" name="Slide Number Placeholder 0"/>
          <p:cNvSpPr>
            <a:spLocks noGrp="1"/>
          </p:cNvSpPr>
          <p:nvPr>
            <p:ph type="sldNum" sz="quarter" idx="4294967295"/>
          </p:nvPr>
        </p:nvSpPr>
        <p:spPr>
          <a:xfrm>
            <a:off x="8549640" y="4919472"/>
            <a:ext cx="36576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718096"/>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549640" y="4919472"/>
            <a:ext cx="36576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71809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2"/>
          <p:cNvSpPr>
            <a:spLocks noGrp="1"/>
          </p:cNvSpPr>
          <p:nvPr>
            <p:ph type="title" idx="107" hasCustomPrompt="1"/>
          </p:nvPr>
        </p:nvSpPr>
        <p:spPr>
          <a:xfrm>
            <a:off x="274320" y="2377440"/>
            <a:ext cx="8595360" cy="731520"/>
          </a:xfrm>
          <a:prstGeom prst="rect">
            <a:avLst/>
          </a:prstGeom>
          <a:noFill/>
          <a:ln/>
        </p:spPr>
        <p:txBody>
          <a:bodyPr wrap="square" lIns="0" tIns="0" rIns="0" bIns="0" rtlCol="0" anchor="ctr"/>
          <a:lstStyle/>
          <a:p>
            <a:pPr marL="0" indent="0" algn="l">
              <a:buNone/>
            </a:pPr>
            <a:r>
              <a:rPr lang="en-US" sz="3000" b="1" dirty="0">
                <a:solidFill>
                  <a:srgbClr val="FFFFFF"/>
                </a:solidFill>
              </a:rPr>
              <a:t>Giving Our API a Memory</a:t>
            </a:r>
            <a:endParaRPr lang="en-US" sz="3000" dirty="0"/>
          </a:p>
        </p:txBody>
      </p:sp>
      <p:sp>
        <p:nvSpPr>
          <p:cNvPr id="3" name="Text 2"/>
          <p:cNvSpPr>
            <a:spLocks noGrp="1"/>
          </p:cNvSpPr>
          <p:nvPr>
            <p:ph type="body" idx="108" hasCustomPrompt="1"/>
          </p:nvPr>
        </p:nvSpPr>
        <p:spPr>
          <a:xfrm>
            <a:off x="274320" y="3127248"/>
            <a:ext cx="8595360" cy="411480"/>
          </a:xfrm>
          <a:prstGeom prst="rect">
            <a:avLst/>
          </a:prstGeom>
          <a:noFill/>
          <a:ln/>
        </p:spPr>
        <p:txBody>
          <a:bodyPr wrap="square" lIns="0" tIns="0" rIns="0" bIns="0" rtlCol="0" anchor="t"/>
          <a:lstStyle/>
          <a:p>
            <a:pPr marL="0" indent="0">
              <a:buNone/>
            </a:pPr>
            <a:r>
              <a:rPr lang="en-US" sz="1400" dirty="0">
                <a:solidFill>
                  <a:srgbClr val="F59E0B"/>
                </a:solidFill>
              </a:rPr>
              <a:t>Day 2 explained simply — what a database is, why we need one, and exactly what our code does</a:t>
            </a:r>
            <a:endParaRPr lang="en-US" sz="1400" dirty="0"/>
          </a:p>
        </p:txBody>
      </p:sp>
      <p:sp>
        <p:nvSpPr>
          <p:cNvPr id="4" name="chip-1"/>
          <p:cNvSpPr/>
          <p:nvPr/>
        </p:nvSpPr>
        <p:spPr>
          <a:xfrm>
            <a:off x="274320" y="3730752"/>
            <a:ext cx="1353312" cy="274320"/>
          </a:xfrm>
          <a:prstGeom prst="roundRect">
            <a:avLst>
              <a:gd name="adj" fmla="val 16667"/>
            </a:avLst>
          </a:prstGeom>
          <a:solidFill>
            <a:srgbClr val="2D3748"/>
          </a:solidFill>
          <a:ln w="12700">
            <a:solidFill>
              <a:srgbClr val="2D3748"/>
            </a:solidFill>
            <a:prstDash val="solid"/>
          </a:ln>
        </p:spPr>
        <p:txBody>
          <a:bodyPr/>
          <a:lstStyle/>
          <a:p>
            <a:endParaRPr lang="en-US"/>
          </a:p>
        </p:txBody>
      </p:sp>
      <p:sp>
        <p:nvSpPr>
          <p:cNvPr id="5" name="chip-t-2"/>
          <p:cNvSpPr txBox="1"/>
          <p:nvPr/>
        </p:nvSpPr>
        <p:spPr>
          <a:xfrm>
            <a:off x="274320" y="3730752"/>
            <a:ext cx="1353312" cy="274320"/>
          </a:xfrm>
          <a:prstGeom prst="rect">
            <a:avLst/>
          </a:prstGeom>
          <a:noFill/>
          <a:ln/>
        </p:spPr>
        <p:txBody>
          <a:bodyPr wrap="square" lIns="0" tIns="0" rIns="0" bIns="0" rtlCol="0" anchor="ctr"/>
          <a:lstStyle/>
          <a:p>
            <a:pPr marL="0" indent="0" algn="ctr">
              <a:buNone/>
            </a:pPr>
            <a:r>
              <a:rPr lang="en-US" sz="950" b="1" dirty="0">
                <a:solidFill>
                  <a:srgbClr val="F59E0B"/>
                </a:solidFill>
              </a:rPr>
              <a:t>The problem</a:t>
            </a:r>
            <a:endParaRPr lang="en-US" sz="950" dirty="0"/>
          </a:p>
        </p:txBody>
      </p:sp>
      <p:sp>
        <p:nvSpPr>
          <p:cNvPr id="6" name="chip-3"/>
          <p:cNvSpPr/>
          <p:nvPr/>
        </p:nvSpPr>
        <p:spPr>
          <a:xfrm>
            <a:off x="1719072" y="3730752"/>
            <a:ext cx="1353312" cy="274320"/>
          </a:xfrm>
          <a:prstGeom prst="roundRect">
            <a:avLst>
              <a:gd name="adj" fmla="val 16667"/>
            </a:avLst>
          </a:prstGeom>
          <a:solidFill>
            <a:srgbClr val="2D3748"/>
          </a:solidFill>
          <a:ln w="12700">
            <a:solidFill>
              <a:srgbClr val="2D3748"/>
            </a:solidFill>
            <a:prstDash val="solid"/>
          </a:ln>
        </p:spPr>
        <p:txBody>
          <a:bodyPr/>
          <a:lstStyle/>
          <a:p>
            <a:endParaRPr lang="en-US"/>
          </a:p>
        </p:txBody>
      </p:sp>
      <p:sp>
        <p:nvSpPr>
          <p:cNvPr id="7" name="chip-t-4"/>
          <p:cNvSpPr txBox="1"/>
          <p:nvPr/>
        </p:nvSpPr>
        <p:spPr>
          <a:xfrm>
            <a:off x="1719072" y="3730752"/>
            <a:ext cx="1353312" cy="274320"/>
          </a:xfrm>
          <a:prstGeom prst="rect">
            <a:avLst/>
          </a:prstGeom>
          <a:noFill/>
          <a:ln/>
        </p:spPr>
        <p:txBody>
          <a:bodyPr wrap="square" lIns="0" tIns="0" rIns="0" bIns="0" rtlCol="0" anchor="ctr"/>
          <a:lstStyle/>
          <a:p>
            <a:pPr marL="0" indent="0" algn="ctr">
              <a:buNone/>
            </a:pPr>
            <a:r>
              <a:rPr lang="en-US" sz="950" b="1" dirty="0">
                <a:solidFill>
                  <a:srgbClr val="F59E0B"/>
                </a:solidFill>
              </a:rPr>
              <a:t>What a database is</a:t>
            </a:r>
            <a:endParaRPr lang="en-US" sz="950" dirty="0"/>
          </a:p>
        </p:txBody>
      </p:sp>
      <p:sp>
        <p:nvSpPr>
          <p:cNvPr id="8" name="chip-5"/>
          <p:cNvSpPr/>
          <p:nvPr/>
        </p:nvSpPr>
        <p:spPr>
          <a:xfrm>
            <a:off x="3163824" y="3730752"/>
            <a:ext cx="1353312" cy="274320"/>
          </a:xfrm>
          <a:prstGeom prst="roundRect">
            <a:avLst>
              <a:gd name="adj" fmla="val 16667"/>
            </a:avLst>
          </a:prstGeom>
          <a:solidFill>
            <a:srgbClr val="2D3748"/>
          </a:solidFill>
          <a:ln w="12700">
            <a:solidFill>
              <a:srgbClr val="2D3748"/>
            </a:solidFill>
            <a:prstDash val="solid"/>
          </a:ln>
        </p:spPr>
        <p:txBody>
          <a:bodyPr/>
          <a:lstStyle/>
          <a:p>
            <a:endParaRPr lang="en-US"/>
          </a:p>
        </p:txBody>
      </p:sp>
      <p:sp>
        <p:nvSpPr>
          <p:cNvPr id="9" name="chip-t-6"/>
          <p:cNvSpPr txBox="1"/>
          <p:nvPr/>
        </p:nvSpPr>
        <p:spPr>
          <a:xfrm>
            <a:off x="3163824" y="3730752"/>
            <a:ext cx="1353312" cy="274320"/>
          </a:xfrm>
          <a:prstGeom prst="rect">
            <a:avLst/>
          </a:prstGeom>
          <a:noFill/>
          <a:ln/>
        </p:spPr>
        <p:txBody>
          <a:bodyPr wrap="square" lIns="0" tIns="0" rIns="0" bIns="0" rtlCol="0" anchor="ctr"/>
          <a:lstStyle/>
          <a:p>
            <a:pPr marL="0" indent="0" algn="ctr">
              <a:buNone/>
            </a:pPr>
            <a:r>
              <a:rPr lang="en-US" sz="950" b="1" dirty="0">
                <a:solidFill>
                  <a:srgbClr val="F59E0B"/>
                </a:solidFill>
              </a:rPr>
              <a:t>Our data</a:t>
            </a:r>
            <a:endParaRPr lang="en-US" sz="950" dirty="0"/>
          </a:p>
        </p:txBody>
      </p:sp>
      <p:sp>
        <p:nvSpPr>
          <p:cNvPr id="10" name="chip-7"/>
          <p:cNvSpPr/>
          <p:nvPr/>
        </p:nvSpPr>
        <p:spPr>
          <a:xfrm>
            <a:off x="4608576" y="3730752"/>
            <a:ext cx="1353312" cy="274320"/>
          </a:xfrm>
          <a:prstGeom prst="roundRect">
            <a:avLst>
              <a:gd name="adj" fmla="val 16667"/>
            </a:avLst>
          </a:prstGeom>
          <a:solidFill>
            <a:srgbClr val="2D3748"/>
          </a:solidFill>
          <a:ln w="12700">
            <a:solidFill>
              <a:srgbClr val="2D3748"/>
            </a:solidFill>
            <a:prstDash val="solid"/>
          </a:ln>
        </p:spPr>
        <p:txBody>
          <a:bodyPr/>
          <a:lstStyle/>
          <a:p>
            <a:endParaRPr lang="en-US"/>
          </a:p>
        </p:txBody>
      </p:sp>
      <p:sp>
        <p:nvSpPr>
          <p:cNvPr id="11" name="chip-t-8"/>
          <p:cNvSpPr txBox="1"/>
          <p:nvPr/>
        </p:nvSpPr>
        <p:spPr>
          <a:xfrm>
            <a:off x="4608576" y="3730752"/>
            <a:ext cx="1353312" cy="274320"/>
          </a:xfrm>
          <a:prstGeom prst="rect">
            <a:avLst/>
          </a:prstGeom>
          <a:noFill/>
          <a:ln/>
        </p:spPr>
        <p:txBody>
          <a:bodyPr wrap="square" lIns="0" tIns="0" rIns="0" bIns="0" rtlCol="0" anchor="ctr"/>
          <a:lstStyle/>
          <a:p>
            <a:pPr marL="0" indent="0" algn="ctr">
              <a:buNone/>
            </a:pPr>
            <a:r>
              <a:rPr lang="en-US" sz="950" b="1" dirty="0">
                <a:solidFill>
                  <a:srgbClr val="F59E0B"/>
                </a:solidFill>
              </a:rPr>
              <a:t>Three tables</a:t>
            </a:r>
            <a:endParaRPr lang="en-US" sz="950" dirty="0"/>
          </a:p>
        </p:txBody>
      </p:sp>
      <p:sp>
        <p:nvSpPr>
          <p:cNvPr id="12" name="chip-9"/>
          <p:cNvSpPr/>
          <p:nvPr/>
        </p:nvSpPr>
        <p:spPr>
          <a:xfrm>
            <a:off x="6053328" y="3730752"/>
            <a:ext cx="1353312" cy="274320"/>
          </a:xfrm>
          <a:prstGeom prst="roundRect">
            <a:avLst>
              <a:gd name="adj" fmla="val 16667"/>
            </a:avLst>
          </a:prstGeom>
          <a:solidFill>
            <a:srgbClr val="2D3748"/>
          </a:solidFill>
          <a:ln w="12700">
            <a:solidFill>
              <a:srgbClr val="2D3748"/>
            </a:solidFill>
            <a:prstDash val="solid"/>
          </a:ln>
        </p:spPr>
        <p:txBody>
          <a:bodyPr/>
          <a:lstStyle/>
          <a:p>
            <a:endParaRPr lang="en-US"/>
          </a:p>
        </p:txBody>
      </p:sp>
      <p:sp>
        <p:nvSpPr>
          <p:cNvPr id="13" name="chip-t-10"/>
          <p:cNvSpPr txBox="1"/>
          <p:nvPr/>
        </p:nvSpPr>
        <p:spPr>
          <a:xfrm>
            <a:off x="6053328" y="3730752"/>
            <a:ext cx="1353312" cy="274320"/>
          </a:xfrm>
          <a:prstGeom prst="rect">
            <a:avLst/>
          </a:prstGeom>
          <a:noFill/>
          <a:ln/>
        </p:spPr>
        <p:txBody>
          <a:bodyPr wrap="square" lIns="0" tIns="0" rIns="0" bIns="0" rtlCol="0" anchor="ctr"/>
          <a:lstStyle/>
          <a:p>
            <a:pPr marL="0" indent="0" algn="ctr">
              <a:buNone/>
            </a:pPr>
            <a:r>
              <a:rPr lang="en-US" sz="950" b="1" dirty="0">
                <a:solidFill>
                  <a:srgbClr val="F59E0B"/>
                </a:solidFill>
              </a:rPr>
              <a:t>The code</a:t>
            </a:r>
            <a:endParaRPr lang="en-US" sz="950" dirty="0"/>
          </a:p>
        </p:txBody>
      </p:sp>
      <p:sp>
        <p:nvSpPr>
          <p:cNvPr id="14" name="chip-11"/>
          <p:cNvSpPr/>
          <p:nvPr/>
        </p:nvSpPr>
        <p:spPr>
          <a:xfrm>
            <a:off x="7498080" y="3730752"/>
            <a:ext cx="1353312" cy="274320"/>
          </a:xfrm>
          <a:prstGeom prst="roundRect">
            <a:avLst>
              <a:gd name="adj" fmla="val 16667"/>
            </a:avLst>
          </a:prstGeom>
          <a:solidFill>
            <a:srgbClr val="2D3748"/>
          </a:solidFill>
          <a:ln w="12700">
            <a:solidFill>
              <a:srgbClr val="2D3748"/>
            </a:solidFill>
            <a:prstDash val="solid"/>
          </a:ln>
        </p:spPr>
        <p:txBody>
          <a:bodyPr/>
          <a:lstStyle/>
          <a:p>
            <a:endParaRPr lang="en-US"/>
          </a:p>
        </p:txBody>
      </p:sp>
      <p:sp>
        <p:nvSpPr>
          <p:cNvPr id="15" name="chip-t-12"/>
          <p:cNvSpPr txBox="1"/>
          <p:nvPr/>
        </p:nvSpPr>
        <p:spPr>
          <a:xfrm>
            <a:off x="7498080" y="3730752"/>
            <a:ext cx="1353312" cy="274320"/>
          </a:xfrm>
          <a:prstGeom prst="rect">
            <a:avLst/>
          </a:prstGeom>
          <a:noFill/>
          <a:ln/>
        </p:spPr>
        <p:txBody>
          <a:bodyPr wrap="square" lIns="0" tIns="0" rIns="0" bIns="0" rtlCol="0" anchor="ctr"/>
          <a:lstStyle/>
          <a:p>
            <a:pPr marL="0" indent="0" algn="ctr">
              <a:buNone/>
            </a:pPr>
            <a:r>
              <a:rPr lang="en-US" sz="950" b="1" dirty="0">
                <a:solidFill>
                  <a:srgbClr val="F59E0B"/>
                </a:solidFill>
              </a:rPr>
              <a:t>The answers</a:t>
            </a:r>
            <a:endParaRPr lang="en-US" sz="950" dirty="0"/>
          </a:p>
        </p:txBody>
      </p:sp>
      <p:sp>
        <p:nvSpPr>
          <p:cNvPr id="16" name="title-footer"/>
          <p:cNvSpPr txBox="1"/>
          <p:nvPr/>
        </p:nvSpPr>
        <p:spPr>
          <a:xfrm>
            <a:off x="274320" y="4754880"/>
            <a:ext cx="8595360" cy="256032"/>
          </a:xfrm>
          <a:prstGeom prst="rect">
            <a:avLst/>
          </a:prstGeom>
          <a:noFill/>
          <a:ln/>
        </p:spPr>
        <p:txBody>
          <a:bodyPr wrap="square" lIns="0" tIns="0" rIns="0" bIns="0" rtlCol="0" anchor="ctr"/>
          <a:lstStyle/>
          <a:p>
            <a:pPr marL="0" indent="0">
              <a:buNone/>
            </a:pPr>
            <a:r>
              <a:rPr lang="en-US" sz="950" dirty="0">
                <a:solidFill>
                  <a:srgbClr val="718096"/>
                </a:solidFill>
              </a:rPr>
              <a:t>Actoryx Technologies  ·  MGIT Centre of Excellence in AI  ·  Day 2 of 5  ·  No coding background needed</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143" y="0"/>
            <a:ext cx="9141714" cy="51435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 name="Picture 1">
            <a:extLst>
              <a:ext uri="{FF2B5EF4-FFF2-40B4-BE49-F238E27FC236}">
                <a16:creationId xmlns:a16="http://schemas.microsoft.com/office/drawing/2014/main" id="{BEB7DA7B-9304-D84F-0A2A-39B26C3A9A4E}"/>
              </a:ext>
            </a:extLst>
          </p:cNvPr>
          <p:cNvPicPr>
            <a:picLocks noChangeAspect="1"/>
          </p:cNvPicPr>
          <p:nvPr/>
        </p:nvPicPr>
        <p:blipFill>
          <a:blip r:embed="rId2"/>
          <a:srcRect t="18"/>
          <a:stretch>
            <a:fillRect/>
          </a:stretch>
        </p:blipFill>
        <p:spPr>
          <a:xfrm>
            <a:off x="20" y="961"/>
            <a:ext cx="9143980" cy="5142539"/>
          </a:xfrm>
          <a:prstGeom prst="rect">
            <a:avLst/>
          </a:prstGeom>
        </p:spPr>
      </p:pic>
    </p:spTree>
    <p:extLst>
      <p:ext uri="{BB962C8B-B14F-4D97-AF65-F5344CB8AC3E}">
        <p14:creationId xmlns:p14="http://schemas.microsoft.com/office/powerpoint/2010/main" val="18750620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1097280" y="91440"/>
            <a:ext cx="7772400" cy="347472"/>
          </a:xfrm>
          <a:prstGeom prst="rect">
            <a:avLst/>
          </a:prstGeom>
          <a:noFill/>
          <a:ln/>
        </p:spPr>
        <p:txBody>
          <a:bodyPr wrap="square" lIns="0" tIns="0" rIns="0" bIns="0" rtlCol="0" anchor="ctr"/>
          <a:lstStyle/>
          <a:p>
            <a:pPr marL="0" indent="0" algn="l">
              <a:buNone/>
            </a:pPr>
            <a:r>
              <a:rPr lang="en-US" sz="1300" b="1" dirty="0">
                <a:solidFill>
                  <a:srgbClr val="F59E0B"/>
                </a:solidFill>
              </a:rPr>
              <a:t>PROBLEM STATEMENT  ·  And how we will solve it</a:t>
            </a:r>
            <a:endParaRPr lang="en-US" sz="1300" dirty="0"/>
          </a:p>
        </p:txBody>
      </p:sp>
      <p:sp>
        <p:nvSpPr>
          <p:cNvPr id="3" name="label-13"/>
          <p:cNvSpPr txBox="1"/>
          <p:nvPr/>
        </p:nvSpPr>
        <p:spPr>
          <a:xfrm>
            <a:off x="274320" y="658368"/>
            <a:ext cx="4663440" cy="219456"/>
          </a:xfrm>
          <a:prstGeom prst="rect">
            <a:avLst/>
          </a:prstGeom>
          <a:noFill/>
          <a:ln/>
        </p:spPr>
        <p:txBody>
          <a:bodyPr wrap="square" lIns="0" tIns="0" rIns="0" bIns="0" rtlCol="0" anchor="ctr"/>
          <a:lstStyle/>
          <a:p>
            <a:pPr marL="0" indent="0">
              <a:buNone/>
            </a:pPr>
            <a:r>
              <a:rPr lang="en-US" sz="900" b="1" kern="0" spc="150" dirty="0">
                <a:solidFill>
                  <a:srgbClr val="718096"/>
                </a:solidFill>
              </a:rPr>
              <a:t>THE PROBLEM</a:t>
            </a:r>
            <a:endParaRPr lang="en-US" sz="900" dirty="0"/>
          </a:p>
        </p:txBody>
      </p:sp>
      <p:sp>
        <p:nvSpPr>
          <p:cNvPr id="4" name="prob-text"/>
          <p:cNvSpPr txBox="1"/>
          <p:nvPr/>
        </p:nvSpPr>
        <p:spPr>
          <a:xfrm>
            <a:off x="274320" y="896112"/>
            <a:ext cx="4663440" cy="658368"/>
          </a:xfrm>
          <a:prstGeom prst="rect">
            <a:avLst/>
          </a:prstGeom>
          <a:noFill/>
          <a:ln/>
        </p:spPr>
        <p:txBody>
          <a:bodyPr wrap="square" lIns="0" tIns="0" rIns="0" bIns="0" rtlCol="0" anchor="t"/>
          <a:lstStyle/>
          <a:p>
            <a:pPr marL="0" indent="0">
              <a:buNone/>
            </a:pPr>
            <a:r>
              <a:rPr lang="en-US" sz="1050" dirty="0">
                <a:solidFill>
                  <a:srgbClr val="2D3748"/>
                </a:solidFill>
              </a:rPr>
              <a:t>The substation logger has written two months of 15-minute readings — campus load, rooftop solar, air temperature — into a CSV of 5,664 rows that nobody opens. The maintenance engineer keeps asking:</a:t>
            </a:r>
            <a:endParaRPr lang="en-US" sz="1050" dirty="0"/>
          </a:p>
        </p:txBody>
      </p:sp>
      <p:sp>
        <p:nvSpPr>
          <p:cNvPr id="5" name="prob-qs"/>
          <p:cNvSpPr txBox="1"/>
          <p:nvPr/>
        </p:nvSpPr>
        <p:spPr>
          <a:xfrm>
            <a:off x="274320" y="1554480"/>
            <a:ext cx="4663440" cy="658368"/>
          </a:xfrm>
          <a:prstGeom prst="rect">
            <a:avLst/>
          </a:prstGeom>
          <a:noFill/>
          <a:ln/>
        </p:spPr>
        <p:txBody>
          <a:bodyPr wrap="square" lIns="0" tIns="0" rIns="0" bIns="0" rtlCol="0" anchor="t"/>
          <a:lstStyle/>
          <a:p>
            <a:pPr marL="127000" indent="-127000">
              <a:buSzPct val="100000"/>
              <a:buChar char="•"/>
            </a:pPr>
            <a:r>
              <a:rPr lang="en-US" sz="1050" b="1" i="1" dirty="0">
                <a:solidFill>
                  <a:srgbClr val="1A2535"/>
                </a:solidFill>
              </a:rPr>
              <a:t>“What was the peak on 23 March?”</a:t>
            </a:r>
            <a:endParaRPr lang="en-US" sz="1050" dirty="0"/>
          </a:p>
          <a:p>
            <a:pPr marL="127000" indent="-127000">
              <a:buSzPct val="100000"/>
              <a:buChar char="•"/>
            </a:pPr>
            <a:r>
              <a:rPr lang="en-US" sz="1050" b="1" i="1" dirty="0">
                <a:solidFill>
                  <a:srgbClr val="1A2535"/>
                </a:solidFill>
              </a:rPr>
              <a:t>“How hard did the transformer work?”</a:t>
            </a:r>
            <a:endParaRPr lang="en-US" sz="1050" dirty="0"/>
          </a:p>
          <a:p>
            <a:pPr marL="127000" indent="-127000">
              <a:buSzPct val="100000"/>
              <a:buChar char="•"/>
            </a:pPr>
            <a:r>
              <a:rPr lang="en-US" sz="1050" b="1" i="1" dirty="0">
                <a:solidFill>
                  <a:srgbClr val="1A2535"/>
                </a:solidFill>
              </a:rPr>
              <a:t>“What did we calculate last week?”</a:t>
            </a:r>
            <a:endParaRPr lang="en-US" sz="1050" dirty="0"/>
          </a:p>
        </p:txBody>
      </p:sp>
      <p:sp>
        <p:nvSpPr>
          <p:cNvPr id="6" name="prob-pain"/>
          <p:cNvSpPr txBox="1"/>
          <p:nvPr/>
        </p:nvSpPr>
        <p:spPr>
          <a:xfrm>
            <a:off x="274320" y="2240280"/>
            <a:ext cx="4663440" cy="411480"/>
          </a:xfrm>
          <a:prstGeom prst="rect">
            <a:avLst/>
          </a:prstGeom>
          <a:noFill/>
          <a:ln/>
        </p:spPr>
        <p:txBody>
          <a:bodyPr wrap="square" lIns="0" tIns="0" rIns="0" bIns="0" rtlCol="0" anchor="t"/>
          <a:lstStyle/>
          <a:p>
            <a:pPr marL="0" indent="0">
              <a:buNone/>
            </a:pPr>
            <a:r>
              <a:rPr lang="en-US" sz="1050" dirty="0">
                <a:solidFill>
                  <a:srgbClr val="2D3748"/>
                </a:solidFill>
              </a:rPr>
              <a:t>Each answer costs 20 minutes in Excel — and Monday's appliance list disappears whenever the server restarts.</a:t>
            </a:r>
            <a:endParaRPr lang="en-US" sz="1050" dirty="0"/>
          </a:p>
        </p:txBody>
      </p:sp>
      <p:graphicFrame>
        <p:nvGraphicFramePr>
          <p:cNvPr id="7" name="table-14"/>
          <p:cNvGraphicFramePr>
            <a:graphicFrameLocks noGrp="1"/>
          </p:cNvGraphicFramePr>
          <p:nvPr>
            <p:extLst>
              <p:ext uri="{D42A27DB-BD31-4B8C-83A1-F6EECF244321}">
                <p14:modId xmlns:p14="http://schemas.microsoft.com/office/powerpoint/2010/main" val="1579011935"/>
              </p:ext>
            </p:extLst>
          </p:nvPr>
        </p:nvGraphicFramePr>
        <p:xfrm>
          <a:off x="274320" y="2743200"/>
          <a:ext cx="4663440" cy="1143000"/>
        </p:xfrm>
        <a:graphic>
          <a:graphicData uri="http://schemas.openxmlformats.org/drawingml/2006/table">
            <a:tbl>
              <a:tblPr/>
              <a:tblGrid>
                <a:gridCol w="64008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tblGrid>
              <a:tr h="365760">
                <a:tc>
                  <a:txBody>
                    <a:bodyPr/>
                    <a:lstStyle/>
                    <a:p>
                      <a:pPr marL="0" indent="0">
                        <a:buNone/>
                      </a:pPr>
                      <a:r>
                        <a:rPr lang="en-US" sz="1000" b="1" dirty="0">
                          <a:solidFill>
                            <a:srgbClr val="F59E0B"/>
                          </a:solidFill>
                        </a:rPr>
                        <a:t>Given</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535"/>
                    </a:solidFill>
                  </a:tcPr>
                </a:tc>
                <a:tc>
                  <a:txBody>
                    <a:bodyPr/>
                    <a:lstStyle/>
                    <a:p>
                      <a:pPr marL="0" indent="0">
                        <a:buNone/>
                      </a:pPr>
                      <a:r>
                        <a:rPr lang="en-US" sz="950" dirty="0">
                          <a:solidFill>
                            <a:srgbClr val="2D3748"/>
                          </a:solidFill>
                        </a:rPr>
                        <a:t>Monday's API · the readings CSV (1 Feb – 31 Mar 2026) · transformer TR-MAIN: 630 kVA, power factor 0.93</a:t>
                      </a:r>
                      <a:endParaRPr lang="en-US" sz="95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65760">
                <a:tc>
                  <a:txBody>
                    <a:bodyPr/>
                    <a:lstStyle/>
                    <a:p>
                      <a:pPr marL="0" indent="0">
                        <a:buNone/>
                      </a:pPr>
                      <a:r>
                        <a:rPr lang="en-US" sz="1000" b="1" dirty="0">
                          <a:solidFill>
                            <a:srgbClr val="F59E0B"/>
                          </a:solidFill>
                        </a:rPr>
                        <a:t>Find</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535"/>
                    </a:solidFill>
                  </a:tcPr>
                </a:tc>
                <a:tc>
                  <a:txBody>
                    <a:bodyPr/>
                    <a:lstStyle/>
                    <a:p>
                      <a:pPr marL="0" indent="0">
                        <a:buNone/>
                      </a:pPr>
                      <a:r>
                        <a:rPr lang="en-US" sz="950" dirty="0">
                          <a:solidFill>
                            <a:srgbClr val="2D3748"/>
                          </a:solidFill>
                        </a:rPr>
                        <a:t>history of calculations · readings for any time window · a day's summary · the appliance list, kept safe</a:t>
                      </a:r>
                      <a:endParaRPr lang="en-US" sz="95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buNone/>
                      </a:pPr>
                      <a:r>
                        <a:rPr lang="en-US" sz="1000" b="1" dirty="0">
                          <a:solidFill>
                            <a:srgbClr val="F59E0B"/>
                          </a:solidFill>
                        </a:rPr>
                        <a:t>Rules</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535"/>
                    </a:solidFill>
                  </a:tcPr>
                </a:tc>
                <a:tc>
                  <a:txBody>
                    <a:bodyPr/>
                    <a:lstStyle/>
                    <a:p>
                      <a:pPr marL="0" indent="0">
                        <a:buNone/>
                      </a:pPr>
                      <a:r>
                        <a:rPr lang="en-US" sz="950" dirty="0">
                          <a:solidFill>
                            <a:srgbClr val="2D3748"/>
                          </a:solidFill>
                        </a:rPr>
                        <a:t>nothing to install · loading twice must not duplicate data · the same code must work on MySQL later</a:t>
                      </a:r>
                      <a:endParaRPr lang="en-US" sz="95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8" name="label-15"/>
          <p:cNvSpPr txBox="1"/>
          <p:nvPr/>
        </p:nvSpPr>
        <p:spPr>
          <a:xfrm>
            <a:off x="5212080" y="658368"/>
            <a:ext cx="3657600" cy="219456"/>
          </a:xfrm>
          <a:prstGeom prst="rect">
            <a:avLst/>
          </a:prstGeom>
          <a:noFill/>
          <a:ln/>
        </p:spPr>
        <p:txBody>
          <a:bodyPr wrap="square" lIns="0" tIns="0" rIns="0" bIns="0" rtlCol="0" anchor="ctr"/>
          <a:lstStyle/>
          <a:p>
            <a:pPr marL="0" indent="0">
              <a:buNone/>
            </a:pPr>
            <a:r>
              <a:rPr lang="en-US" sz="900" b="1" kern="0" spc="150" dirty="0">
                <a:solidFill>
                  <a:srgbClr val="718096"/>
                </a:solidFill>
              </a:rPr>
              <a:t>SOLUTION APPROACH</a:t>
            </a:r>
            <a:endParaRPr lang="en-US" sz="900" dirty="0"/>
          </a:p>
        </p:txBody>
      </p:sp>
      <p:sp>
        <p:nvSpPr>
          <p:cNvPr id="9" name="num-16"/>
          <p:cNvSpPr/>
          <p:nvPr/>
        </p:nvSpPr>
        <p:spPr>
          <a:xfrm>
            <a:off x="5212080" y="932688"/>
            <a:ext cx="274320" cy="274320"/>
          </a:xfrm>
          <a:prstGeom prst="ellipse">
            <a:avLst/>
          </a:prstGeom>
          <a:solidFill>
            <a:srgbClr val="F59E0B"/>
          </a:solidFill>
          <a:ln w="12700">
            <a:solidFill>
              <a:srgbClr val="F59E0B"/>
            </a:solidFill>
            <a:prstDash val="solid"/>
          </a:ln>
        </p:spPr>
        <p:txBody>
          <a:bodyPr/>
          <a:lstStyle/>
          <a:p>
            <a:endParaRPr lang="en-US"/>
          </a:p>
        </p:txBody>
      </p:sp>
      <p:sp>
        <p:nvSpPr>
          <p:cNvPr id="10" name="num-t-17"/>
          <p:cNvSpPr txBox="1"/>
          <p:nvPr/>
        </p:nvSpPr>
        <p:spPr>
          <a:xfrm>
            <a:off x="5212080" y="932688"/>
            <a:ext cx="274320" cy="274320"/>
          </a:xfrm>
          <a:prstGeom prst="rect">
            <a:avLst/>
          </a:prstGeom>
          <a:noFill/>
          <a:ln/>
        </p:spPr>
        <p:txBody>
          <a:bodyPr wrap="square" lIns="0" tIns="0" rIns="0" bIns="0" rtlCol="0" anchor="ctr"/>
          <a:lstStyle/>
          <a:p>
            <a:pPr marL="0" indent="0" algn="ctr">
              <a:buNone/>
            </a:pPr>
            <a:r>
              <a:rPr lang="en-US" sz="1000" b="1" dirty="0">
                <a:solidFill>
                  <a:srgbClr val="1A2535"/>
                </a:solidFill>
              </a:rPr>
              <a:t>1</a:t>
            </a:r>
            <a:endParaRPr lang="en-US" sz="1000" dirty="0"/>
          </a:p>
        </p:txBody>
      </p:sp>
      <p:sp>
        <p:nvSpPr>
          <p:cNvPr id="11" name="step-18"/>
          <p:cNvSpPr txBox="1"/>
          <p:nvPr/>
        </p:nvSpPr>
        <p:spPr>
          <a:xfrm>
            <a:off x="5577840" y="896112"/>
            <a:ext cx="3291840" cy="502920"/>
          </a:xfrm>
          <a:prstGeom prst="rect">
            <a:avLst/>
          </a:prstGeom>
          <a:noFill/>
          <a:ln/>
        </p:spPr>
        <p:txBody>
          <a:bodyPr wrap="square" lIns="0" tIns="0" rIns="0" bIns="0" rtlCol="0" anchor="t"/>
          <a:lstStyle/>
          <a:p>
            <a:pPr marL="0" indent="0">
              <a:buNone/>
            </a:pPr>
            <a:r>
              <a:rPr lang="en-US" sz="1150" b="1" dirty="0">
                <a:solidFill>
                  <a:srgbClr val="2D3748"/>
                </a:solidFill>
              </a:rPr>
              <a:t>Learn SQL first</a:t>
            </a:r>
            <a:endParaRPr lang="en-US" sz="1150" dirty="0"/>
          </a:p>
          <a:p>
            <a:pPr marL="0" indent="0">
              <a:buNone/>
            </a:pPr>
            <a:r>
              <a:rPr lang="en-US" sz="950" dirty="0">
                <a:solidFill>
                  <a:srgbClr val="718096"/>
                </a:solidFill>
              </a:rPr>
              <a:t>a table, rows, and questions in plain SQL</a:t>
            </a:r>
            <a:endParaRPr lang="en-US" sz="1150" dirty="0"/>
          </a:p>
        </p:txBody>
      </p:sp>
      <p:sp>
        <p:nvSpPr>
          <p:cNvPr id="12" name="num-19"/>
          <p:cNvSpPr/>
          <p:nvPr/>
        </p:nvSpPr>
        <p:spPr>
          <a:xfrm>
            <a:off x="5212080" y="1481328"/>
            <a:ext cx="274320" cy="274320"/>
          </a:xfrm>
          <a:prstGeom prst="ellipse">
            <a:avLst/>
          </a:prstGeom>
          <a:solidFill>
            <a:srgbClr val="F59E0B"/>
          </a:solidFill>
          <a:ln w="12700">
            <a:solidFill>
              <a:srgbClr val="F59E0B"/>
            </a:solidFill>
            <a:prstDash val="solid"/>
          </a:ln>
        </p:spPr>
        <p:txBody>
          <a:bodyPr/>
          <a:lstStyle/>
          <a:p>
            <a:endParaRPr lang="en-US"/>
          </a:p>
        </p:txBody>
      </p:sp>
      <p:sp>
        <p:nvSpPr>
          <p:cNvPr id="13" name="num-t-20"/>
          <p:cNvSpPr txBox="1"/>
          <p:nvPr/>
        </p:nvSpPr>
        <p:spPr>
          <a:xfrm>
            <a:off x="5212080" y="1481328"/>
            <a:ext cx="274320" cy="274320"/>
          </a:xfrm>
          <a:prstGeom prst="rect">
            <a:avLst/>
          </a:prstGeom>
          <a:noFill/>
          <a:ln/>
        </p:spPr>
        <p:txBody>
          <a:bodyPr wrap="square" lIns="0" tIns="0" rIns="0" bIns="0" rtlCol="0" anchor="ctr"/>
          <a:lstStyle/>
          <a:p>
            <a:pPr marL="0" indent="0" algn="ctr">
              <a:buNone/>
            </a:pPr>
            <a:r>
              <a:rPr lang="en-US" sz="1000" b="1" dirty="0">
                <a:solidFill>
                  <a:srgbClr val="1A2535"/>
                </a:solidFill>
              </a:rPr>
              <a:t>2</a:t>
            </a:r>
            <a:endParaRPr lang="en-US" sz="1000" dirty="0"/>
          </a:p>
        </p:txBody>
      </p:sp>
      <p:sp>
        <p:nvSpPr>
          <p:cNvPr id="14" name="step-21"/>
          <p:cNvSpPr txBox="1"/>
          <p:nvPr/>
        </p:nvSpPr>
        <p:spPr>
          <a:xfrm>
            <a:off x="5577840" y="1444752"/>
            <a:ext cx="3291840" cy="502920"/>
          </a:xfrm>
          <a:prstGeom prst="rect">
            <a:avLst/>
          </a:prstGeom>
          <a:noFill/>
          <a:ln/>
        </p:spPr>
        <p:txBody>
          <a:bodyPr wrap="square" lIns="0" tIns="0" rIns="0" bIns="0" rtlCol="0" anchor="t"/>
          <a:lstStyle/>
          <a:p>
            <a:pPr marL="0" indent="0">
              <a:buNone/>
            </a:pPr>
            <a:r>
              <a:rPr lang="en-US" sz="1150" b="1" dirty="0">
                <a:solidFill>
                  <a:srgbClr val="2D3748"/>
                </a:solidFill>
              </a:rPr>
              <a:t>Design the tables</a:t>
            </a:r>
            <a:endParaRPr lang="en-US" sz="1150" dirty="0"/>
          </a:p>
          <a:p>
            <a:pPr marL="0" indent="0">
              <a:buNone/>
            </a:pPr>
            <a:r>
              <a:rPr lang="en-US" sz="950" dirty="0">
                <a:solidFill>
                  <a:srgbClr val="718096"/>
                </a:solidFill>
              </a:rPr>
              <a:t>describe them once in db.py</a:t>
            </a:r>
            <a:endParaRPr lang="en-US" sz="1150" dirty="0"/>
          </a:p>
        </p:txBody>
      </p:sp>
      <p:sp>
        <p:nvSpPr>
          <p:cNvPr id="15" name="num-22"/>
          <p:cNvSpPr/>
          <p:nvPr/>
        </p:nvSpPr>
        <p:spPr>
          <a:xfrm>
            <a:off x="5212080" y="2029968"/>
            <a:ext cx="274320" cy="274320"/>
          </a:xfrm>
          <a:prstGeom prst="ellipse">
            <a:avLst/>
          </a:prstGeom>
          <a:solidFill>
            <a:srgbClr val="F59E0B"/>
          </a:solidFill>
          <a:ln w="12700">
            <a:solidFill>
              <a:srgbClr val="F59E0B"/>
            </a:solidFill>
            <a:prstDash val="solid"/>
          </a:ln>
        </p:spPr>
        <p:txBody>
          <a:bodyPr/>
          <a:lstStyle/>
          <a:p>
            <a:endParaRPr lang="en-US"/>
          </a:p>
        </p:txBody>
      </p:sp>
      <p:sp>
        <p:nvSpPr>
          <p:cNvPr id="16" name="num-t-23"/>
          <p:cNvSpPr txBox="1"/>
          <p:nvPr/>
        </p:nvSpPr>
        <p:spPr>
          <a:xfrm>
            <a:off x="5212080" y="2029968"/>
            <a:ext cx="274320" cy="274320"/>
          </a:xfrm>
          <a:prstGeom prst="rect">
            <a:avLst/>
          </a:prstGeom>
          <a:noFill/>
          <a:ln/>
        </p:spPr>
        <p:txBody>
          <a:bodyPr wrap="square" lIns="0" tIns="0" rIns="0" bIns="0" rtlCol="0" anchor="ctr"/>
          <a:lstStyle/>
          <a:p>
            <a:pPr marL="0" indent="0" algn="ctr">
              <a:buNone/>
            </a:pPr>
            <a:r>
              <a:rPr lang="en-US" sz="1000" b="1" dirty="0">
                <a:solidFill>
                  <a:srgbClr val="1A2535"/>
                </a:solidFill>
              </a:rPr>
              <a:t>3</a:t>
            </a:r>
            <a:endParaRPr lang="en-US" sz="1000" dirty="0"/>
          </a:p>
        </p:txBody>
      </p:sp>
      <p:sp>
        <p:nvSpPr>
          <p:cNvPr id="17" name="step-24"/>
          <p:cNvSpPr txBox="1"/>
          <p:nvPr/>
        </p:nvSpPr>
        <p:spPr>
          <a:xfrm>
            <a:off x="5577840" y="1993392"/>
            <a:ext cx="3291840" cy="502920"/>
          </a:xfrm>
          <a:prstGeom prst="rect">
            <a:avLst/>
          </a:prstGeom>
          <a:noFill/>
          <a:ln/>
        </p:spPr>
        <p:txBody>
          <a:bodyPr wrap="square" lIns="0" tIns="0" rIns="0" bIns="0" rtlCol="0" anchor="t"/>
          <a:lstStyle/>
          <a:p>
            <a:pPr marL="0" indent="0">
              <a:buNone/>
            </a:pPr>
            <a:r>
              <a:rPr lang="en-US" sz="1150" b="1" dirty="0">
                <a:solidFill>
                  <a:srgbClr val="2D3748"/>
                </a:solidFill>
              </a:rPr>
              <a:t>Load the data</a:t>
            </a:r>
            <a:endParaRPr lang="en-US" sz="1150" dirty="0"/>
          </a:p>
          <a:p>
            <a:pPr marL="0" indent="0">
              <a:buNone/>
            </a:pPr>
            <a:r>
              <a:rPr lang="en-US" sz="950" dirty="0">
                <a:solidFill>
                  <a:srgbClr val="718096"/>
                </a:solidFill>
              </a:rPr>
              <a:t>5,664 readings from the CSV into the database</a:t>
            </a:r>
            <a:endParaRPr lang="en-US" sz="1150" dirty="0"/>
          </a:p>
        </p:txBody>
      </p:sp>
      <p:sp>
        <p:nvSpPr>
          <p:cNvPr id="18" name="num-25"/>
          <p:cNvSpPr/>
          <p:nvPr/>
        </p:nvSpPr>
        <p:spPr>
          <a:xfrm>
            <a:off x="5212080" y="2578608"/>
            <a:ext cx="274320" cy="274320"/>
          </a:xfrm>
          <a:prstGeom prst="ellipse">
            <a:avLst/>
          </a:prstGeom>
          <a:solidFill>
            <a:srgbClr val="F59E0B"/>
          </a:solidFill>
          <a:ln w="12700">
            <a:solidFill>
              <a:srgbClr val="F59E0B"/>
            </a:solidFill>
            <a:prstDash val="solid"/>
          </a:ln>
        </p:spPr>
        <p:txBody>
          <a:bodyPr/>
          <a:lstStyle/>
          <a:p>
            <a:endParaRPr lang="en-US"/>
          </a:p>
        </p:txBody>
      </p:sp>
      <p:sp>
        <p:nvSpPr>
          <p:cNvPr id="19" name="num-t-26"/>
          <p:cNvSpPr txBox="1"/>
          <p:nvPr/>
        </p:nvSpPr>
        <p:spPr>
          <a:xfrm>
            <a:off x="5212080" y="2578608"/>
            <a:ext cx="274320" cy="274320"/>
          </a:xfrm>
          <a:prstGeom prst="rect">
            <a:avLst/>
          </a:prstGeom>
          <a:noFill/>
          <a:ln/>
        </p:spPr>
        <p:txBody>
          <a:bodyPr wrap="square" lIns="0" tIns="0" rIns="0" bIns="0" rtlCol="0" anchor="ctr"/>
          <a:lstStyle/>
          <a:p>
            <a:pPr marL="0" indent="0" algn="ctr">
              <a:buNone/>
            </a:pPr>
            <a:r>
              <a:rPr lang="en-US" sz="1000" b="1" dirty="0">
                <a:solidFill>
                  <a:srgbClr val="1A2535"/>
                </a:solidFill>
              </a:rPr>
              <a:t>4</a:t>
            </a:r>
            <a:endParaRPr lang="en-US" sz="1000" dirty="0"/>
          </a:p>
        </p:txBody>
      </p:sp>
      <p:sp>
        <p:nvSpPr>
          <p:cNvPr id="20" name="step-27"/>
          <p:cNvSpPr txBox="1"/>
          <p:nvPr/>
        </p:nvSpPr>
        <p:spPr>
          <a:xfrm>
            <a:off x="5577840" y="2542032"/>
            <a:ext cx="3291840" cy="502920"/>
          </a:xfrm>
          <a:prstGeom prst="rect">
            <a:avLst/>
          </a:prstGeom>
          <a:noFill/>
          <a:ln/>
        </p:spPr>
        <p:txBody>
          <a:bodyPr wrap="square" lIns="0" tIns="0" rIns="0" bIns="0" rtlCol="0" anchor="t"/>
          <a:lstStyle/>
          <a:p>
            <a:pPr marL="0" indent="0">
              <a:buNone/>
            </a:pPr>
            <a:r>
              <a:rPr lang="en-US" sz="1150" b="1" dirty="0">
                <a:solidFill>
                  <a:srgbClr val="2D3748"/>
                </a:solidFill>
              </a:rPr>
              <a:t>Write the questions</a:t>
            </a:r>
            <a:endParaRPr lang="en-US" sz="1150" dirty="0"/>
          </a:p>
          <a:p>
            <a:pPr marL="0" indent="0">
              <a:buNone/>
            </a:pPr>
            <a:r>
              <a:rPr lang="en-US" sz="950" dirty="0">
                <a:solidFill>
                  <a:srgbClr val="718096"/>
                </a:solidFill>
              </a:rPr>
              <a:t>as functions in queries.py</a:t>
            </a:r>
            <a:endParaRPr lang="en-US" sz="1150" dirty="0"/>
          </a:p>
        </p:txBody>
      </p:sp>
      <p:sp>
        <p:nvSpPr>
          <p:cNvPr id="21" name="num-28"/>
          <p:cNvSpPr/>
          <p:nvPr/>
        </p:nvSpPr>
        <p:spPr>
          <a:xfrm>
            <a:off x="5212080" y="3127248"/>
            <a:ext cx="274320" cy="274320"/>
          </a:xfrm>
          <a:prstGeom prst="ellipse">
            <a:avLst/>
          </a:prstGeom>
          <a:solidFill>
            <a:srgbClr val="F59E0B"/>
          </a:solidFill>
          <a:ln w="12700">
            <a:solidFill>
              <a:srgbClr val="F59E0B"/>
            </a:solidFill>
            <a:prstDash val="solid"/>
          </a:ln>
        </p:spPr>
        <p:txBody>
          <a:bodyPr/>
          <a:lstStyle/>
          <a:p>
            <a:endParaRPr lang="en-US"/>
          </a:p>
        </p:txBody>
      </p:sp>
      <p:sp>
        <p:nvSpPr>
          <p:cNvPr id="22" name="num-t-29"/>
          <p:cNvSpPr txBox="1"/>
          <p:nvPr/>
        </p:nvSpPr>
        <p:spPr>
          <a:xfrm>
            <a:off x="5212080" y="3127248"/>
            <a:ext cx="274320" cy="274320"/>
          </a:xfrm>
          <a:prstGeom prst="rect">
            <a:avLst/>
          </a:prstGeom>
          <a:noFill/>
          <a:ln/>
        </p:spPr>
        <p:txBody>
          <a:bodyPr wrap="square" lIns="0" tIns="0" rIns="0" bIns="0" rtlCol="0" anchor="ctr"/>
          <a:lstStyle/>
          <a:p>
            <a:pPr marL="0" indent="0" algn="ctr">
              <a:buNone/>
            </a:pPr>
            <a:r>
              <a:rPr lang="en-US" sz="1000" b="1" dirty="0">
                <a:solidFill>
                  <a:srgbClr val="1A2535"/>
                </a:solidFill>
              </a:rPr>
              <a:t>5</a:t>
            </a:r>
            <a:endParaRPr lang="en-US" sz="1000" dirty="0"/>
          </a:p>
        </p:txBody>
      </p:sp>
      <p:sp>
        <p:nvSpPr>
          <p:cNvPr id="23" name="step-30"/>
          <p:cNvSpPr txBox="1"/>
          <p:nvPr/>
        </p:nvSpPr>
        <p:spPr>
          <a:xfrm>
            <a:off x="5577840" y="3090672"/>
            <a:ext cx="3291840" cy="502920"/>
          </a:xfrm>
          <a:prstGeom prst="rect">
            <a:avLst/>
          </a:prstGeom>
          <a:noFill/>
          <a:ln/>
        </p:spPr>
        <p:txBody>
          <a:bodyPr wrap="square" lIns="0" tIns="0" rIns="0" bIns="0" rtlCol="0" anchor="t"/>
          <a:lstStyle/>
          <a:p>
            <a:pPr marL="0" indent="0">
              <a:buNone/>
            </a:pPr>
            <a:r>
              <a:rPr lang="en-US" sz="1150" b="1" dirty="0">
                <a:solidFill>
                  <a:srgbClr val="2D3748"/>
                </a:solidFill>
              </a:rPr>
              <a:t>Connect the API</a:t>
            </a:r>
            <a:endParaRPr lang="en-US" sz="1150" dirty="0"/>
          </a:p>
          <a:p>
            <a:pPr marL="0" indent="0">
              <a:buNone/>
            </a:pPr>
            <a:r>
              <a:rPr lang="en-US" sz="950" dirty="0">
                <a:solidFill>
                  <a:srgbClr val="718096"/>
                </a:solidFill>
              </a:rPr>
              <a:t>new endpoints; every calculation saved</a:t>
            </a:r>
            <a:endParaRPr lang="en-US" sz="1150" dirty="0"/>
          </a:p>
        </p:txBody>
      </p:sp>
      <p:sp>
        <p:nvSpPr>
          <p:cNvPr id="24" name="num-31"/>
          <p:cNvSpPr/>
          <p:nvPr/>
        </p:nvSpPr>
        <p:spPr>
          <a:xfrm>
            <a:off x="5212080" y="3675888"/>
            <a:ext cx="274320" cy="274320"/>
          </a:xfrm>
          <a:prstGeom prst="ellipse">
            <a:avLst/>
          </a:prstGeom>
          <a:solidFill>
            <a:srgbClr val="F59E0B"/>
          </a:solidFill>
          <a:ln w="12700">
            <a:solidFill>
              <a:srgbClr val="F59E0B"/>
            </a:solidFill>
            <a:prstDash val="solid"/>
          </a:ln>
        </p:spPr>
        <p:txBody>
          <a:bodyPr/>
          <a:lstStyle/>
          <a:p>
            <a:endParaRPr lang="en-US"/>
          </a:p>
        </p:txBody>
      </p:sp>
      <p:sp>
        <p:nvSpPr>
          <p:cNvPr id="25" name="num-t-32"/>
          <p:cNvSpPr txBox="1"/>
          <p:nvPr/>
        </p:nvSpPr>
        <p:spPr>
          <a:xfrm>
            <a:off x="5212080" y="3675888"/>
            <a:ext cx="274320" cy="274320"/>
          </a:xfrm>
          <a:prstGeom prst="rect">
            <a:avLst/>
          </a:prstGeom>
          <a:noFill/>
          <a:ln/>
        </p:spPr>
        <p:txBody>
          <a:bodyPr wrap="square" lIns="0" tIns="0" rIns="0" bIns="0" rtlCol="0" anchor="ctr"/>
          <a:lstStyle/>
          <a:p>
            <a:pPr marL="0" indent="0" algn="ctr">
              <a:buNone/>
            </a:pPr>
            <a:r>
              <a:rPr lang="en-US" sz="1000" b="1" dirty="0">
                <a:solidFill>
                  <a:srgbClr val="1A2535"/>
                </a:solidFill>
              </a:rPr>
              <a:t>6</a:t>
            </a:r>
            <a:endParaRPr lang="en-US" sz="1000" dirty="0"/>
          </a:p>
        </p:txBody>
      </p:sp>
      <p:sp>
        <p:nvSpPr>
          <p:cNvPr id="26" name="step-33"/>
          <p:cNvSpPr txBox="1"/>
          <p:nvPr/>
        </p:nvSpPr>
        <p:spPr>
          <a:xfrm>
            <a:off x="5577840" y="3639312"/>
            <a:ext cx="3291840" cy="502920"/>
          </a:xfrm>
          <a:prstGeom prst="rect">
            <a:avLst/>
          </a:prstGeom>
          <a:noFill/>
          <a:ln/>
        </p:spPr>
        <p:txBody>
          <a:bodyPr wrap="square" lIns="0" tIns="0" rIns="0" bIns="0" rtlCol="0" anchor="t"/>
          <a:lstStyle/>
          <a:p>
            <a:pPr marL="0" indent="0">
              <a:buNone/>
            </a:pPr>
            <a:r>
              <a:rPr lang="en-US" sz="1150" b="1" dirty="0">
                <a:solidFill>
                  <a:srgbClr val="2D3748"/>
                </a:solidFill>
              </a:rPr>
              <a:t>Move Monday's list</a:t>
            </a:r>
            <a:endParaRPr lang="en-US" sz="1150" dirty="0"/>
          </a:p>
          <a:p>
            <a:pPr marL="0" indent="0">
              <a:buNone/>
            </a:pPr>
            <a:r>
              <a:rPr lang="en-US" sz="950" dirty="0">
                <a:solidFill>
                  <a:srgbClr val="718096"/>
                </a:solidFill>
              </a:rPr>
              <a:t>same four methods, now a table</a:t>
            </a:r>
            <a:endParaRPr lang="en-US" sz="1150" dirty="0"/>
          </a:p>
        </p:txBody>
      </p:sp>
      <p:sp>
        <p:nvSpPr>
          <p:cNvPr id="27" name="evolve-34"/>
          <p:cNvSpPr/>
          <p:nvPr/>
        </p:nvSpPr>
        <p:spPr>
          <a:xfrm>
            <a:off x="274320" y="4498848"/>
            <a:ext cx="8595360" cy="384048"/>
          </a:xfrm>
          <a:prstGeom prst="roundRect">
            <a:avLst>
              <a:gd name="adj" fmla="val 11905"/>
            </a:avLst>
          </a:prstGeom>
          <a:solidFill>
            <a:srgbClr val="EEF2FF"/>
          </a:solidFill>
          <a:ln w="12700">
            <a:solidFill>
              <a:srgbClr val="D5DCF5"/>
            </a:solidFill>
            <a:prstDash val="solid"/>
          </a:ln>
        </p:spPr>
        <p:txBody>
          <a:bodyPr/>
          <a:lstStyle/>
          <a:p>
            <a:endParaRPr lang="en-US"/>
          </a:p>
        </p:txBody>
      </p:sp>
      <p:sp>
        <p:nvSpPr>
          <p:cNvPr id="28" name="evolve-t-35"/>
          <p:cNvSpPr txBox="1"/>
          <p:nvPr/>
        </p:nvSpPr>
        <p:spPr>
          <a:xfrm>
            <a:off x="411480" y="4507992"/>
            <a:ext cx="8321040" cy="365760"/>
          </a:xfrm>
          <a:prstGeom prst="rect">
            <a:avLst/>
          </a:prstGeom>
          <a:noFill/>
          <a:ln/>
        </p:spPr>
        <p:txBody>
          <a:bodyPr wrap="square" lIns="0" tIns="0" rIns="0" bIns="0" rtlCol="0" anchor="ctr"/>
          <a:lstStyle/>
          <a:p>
            <a:pPr marL="0" indent="0">
              <a:buNone/>
            </a:pPr>
            <a:r>
              <a:rPr lang="en-US" sz="1050" b="1" dirty="0">
                <a:solidFill>
                  <a:srgbClr val="2D3748"/>
                </a:solidFill>
              </a:rPr>
              <a:t>Goal:  </a:t>
            </a:r>
            <a:r>
              <a:rPr lang="en-US" sz="1050" dirty="0">
                <a:solidFill>
                  <a:srgbClr val="718096"/>
                </a:solidFill>
              </a:rPr>
              <a:t>make the API answer these questions in a second, remember every calculation, and keep the appliance list safe</a:t>
            </a:r>
            <a:endParaRPr lang="en-US" sz="1050" dirty="0"/>
          </a:p>
        </p:txBody>
      </p:sp>
      <p:sp>
        <p:nvSpPr>
          <p:cNvPr id="29" name="Slide Number Placeholder 0"/>
          <p:cNvSpPr>
            <a:spLocks noGrp="1"/>
          </p:cNvSpPr>
          <p:nvPr>
            <p:ph type="sldNum" sz="quarter" idx="4294967295"/>
          </p:nvPr>
        </p:nvSpPr>
        <p:spPr>
          <a:xfrm>
            <a:off x="8549640" y="4919472"/>
            <a:ext cx="36576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71809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1097280" y="91440"/>
            <a:ext cx="7772400" cy="347472"/>
          </a:xfrm>
          <a:prstGeom prst="rect">
            <a:avLst/>
          </a:prstGeom>
          <a:noFill/>
          <a:ln/>
        </p:spPr>
        <p:txBody>
          <a:bodyPr wrap="square" lIns="0" tIns="0" rIns="0" bIns="0" rtlCol="0" anchor="ctr"/>
          <a:lstStyle/>
          <a:p>
            <a:pPr marL="0" indent="0" algn="l">
              <a:buNone/>
            </a:pPr>
            <a:r>
              <a:rPr lang="en-US" sz="1300" b="1" dirty="0">
                <a:solidFill>
                  <a:srgbClr val="F59E0B"/>
                </a:solidFill>
              </a:rPr>
              <a:t>FROM PROBLEM TO DESIGN  ·  Each need becomes one technical decision</a:t>
            </a:r>
            <a:endParaRPr lang="en-US" sz="1300" dirty="0"/>
          </a:p>
        </p:txBody>
      </p:sp>
      <p:graphicFrame>
        <p:nvGraphicFramePr>
          <p:cNvPr id="4" name="table-36"/>
          <p:cNvGraphicFramePr>
            <a:graphicFrameLocks noGrp="1"/>
          </p:cNvGraphicFramePr>
          <p:nvPr>
            <p:extLst>
              <p:ext uri="{D42A27DB-BD31-4B8C-83A1-F6EECF244321}">
                <p14:modId xmlns:p14="http://schemas.microsoft.com/office/powerpoint/2010/main" val="1579011935"/>
              </p:ext>
            </p:extLst>
          </p:nvPr>
        </p:nvGraphicFramePr>
        <p:xfrm>
          <a:off x="274320" y="685800"/>
          <a:ext cx="8595360" cy="3538728"/>
        </p:xfrm>
        <a:graphic>
          <a:graphicData uri="http://schemas.openxmlformats.org/drawingml/2006/table">
            <a:tbl>
              <a:tblPr/>
              <a:tblGrid>
                <a:gridCol w="274320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tblGrid>
              <a:tr h="393192">
                <a:tc>
                  <a:txBody>
                    <a:bodyPr/>
                    <a:lstStyle/>
                    <a:p>
                      <a:pPr marL="0" indent="0">
                        <a:buNone/>
                      </a:pPr>
                      <a:r>
                        <a:rPr lang="en-US" sz="1000" b="1" dirty="0">
                          <a:solidFill>
                            <a:srgbClr val="FFFFFF"/>
                          </a:solidFill>
                        </a:rPr>
                        <a:t>What the engineer needs</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D3748"/>
                    </a:solidFill>
                  </a:tcPr>
                </a:tc>
                <a:tc>
                  <a:txBody>
                    <a:bodyPr/>
                    <a:lstStyle/>
                    <a:p>
                      <a:pPr marL="0" indent="0">
                        <a:buNone/>
                      </a:pPr>
                      <a:r>
                        <a:rPr lang="en-US" sz="1000" b="1" dirty="0">
                          <a:solidFill>
                            <a:srgbClr val="FFFFFF"/>
                          </a:solidFill>
                        </a:rPr>
                        <a:t>Technical decision</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D3748"/>
                    </a:solidFill>
                  </a:tcPr>
                </a:tc>
                <a:tc>
                  <a:txBody>
                    <a:bodyPr/>
                    <a:lstStyle/>
                    <a:p>
                      <a:pPr marL="0" indent="0">
                        <a:buNone/>
                      </a:pPr>
                      <a:r>
                        <a:rPr lang="en-US" sz="1000" b="1" dirty="0">
                          <a:solidFill>
                            <a:srgbClr val="FFFFFF"/>
                          </a:solidFill>
                        </a:rPr>
                        <a:t>Where in the code</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D3748"/>
                    </a:solidFill>
                  </a:tcPr>
                </a:tc>
                <a:extLst>
                  <a:ext uri="{0D108BD9-81ED-4DB2-BD59-A6C34878D82A}">
                    <a16:rowId xmlns:a16="http://schemas.microsoft.com/office/drawing/2014/main" val="10000"/>
                  </a:ext>
                </a:extLst>
              </a:tr>
              <a:tr h="393192">
                <a:tc>
                  <a:txBody>
                    <a:bodyPr/>
                    <a:lstStyle/>
                    <a:p>
                      <a:pPr marL="0" indent="0">
                        <a:buNone/>
                      </a:pPr>
                      <a:r>
                        <a:rPr lang="en-US" sz="1000" b="1" dirty="0">
                          <a:solidFill>
                            <a:srgbClr val="2D3748"/>
                          </a:solidFill>
                        </a:rPr>
                        <a:t>Data must survive a restart</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store it in a database file on disk — SQLite, energy.db</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2D3748"/>
                          </a:solidFill>
                          <a:latin typeface="Consolas" pitchFamily="34" charset="0"/>
                          <a:ea typeface="Consolas" pitchFamily="34" charset="-122"/>
                          <a:cs typeface="Consolas" pitchFamily="34" charset="-120"/>
                        </a:rPr>
                        <a:t>db.py  DATABASE_URL</a:t>
                      </a:r>
                      <a:endParaRPr lang="en-US" sz="900" dirty="0">
                        <a:latin typeface="Consolas" charset="0"/>
                        <a:ea typeface="Consolas" charset="0"/>
                        <a:cs typeface="Consolas" charset="0"/>
                      </a:endParaRPr>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93192">
                <a:tc>
                  <a:txBody>
                    <a:bodyPr/>
                    <a:lstStyle/>
                    <a:p>
                      <a:pPr marL="0" indent="0">
                        <a:buNone/>
                      </a:pPr>
                      <a:r>
                        <a:rPr lang="en-US" sz="1000" b="1" dirty="0">
                          <a:solidFill>
                            <a:srgbClr val="2D3748"/>
                          </a:solidFill>
                        </a:rPr>
                        <a:t>Answer questions about two months of readings</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table 1 — readings: one row per 15 minutes, loaded from the CSV</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2D3748"/>
                          </a:solidFill>
                          <a:latin typeface="Consolas" pitchFamily="34" charset="0"/>
                          <a:ea typeface="Consolas" pitchFamily="34" charset="-122"/>
                          <a:cs typeface="Consolas" pitchFamily="34" charset="-120"/>
                        </a:rPr>
                        <a:t>db.py  class Reading</a:t>
                      </a:r>
                      <a:endParaRPr lang="en-US" sz="900" dirty="0">
                        <a:latin typeface="Consolas" charset="0"/>
                        <a:ea typeface="Consolas" charset="0"/>
                        <a:cs typeface="Consolas" charset="0"/>
                      </a:endParaRPr>
                    </a:p>
                    <a:p>
                      <a:pPr marL="0" indent="0">
                        <a:buNone/>
                      </a:pPr>
                      <a:r>
                        <a:rPr lang="en-US" sz="900" dirty="0">
                          <a:solidFill>
                            <a:srgbClr val="2D3748"/>
                          </a:solidFill>
                          <a:latin typeface="Consolas" pitchFamily="34" charset="0"/>
                          <a:ea typeface="Consolas" pitchFamily="34" charset="-122"/>
                          <a:cs typeface="Consolas" pitchFamily="34" charset="-120"/>
                        </a:rPr>
                        <a:t>02_load_readings.py</a:t>
                      </a:r>
                      <a:endParaRPr lang="en-US" sz="900" dirty="0">
                        <a:latin typeface="Consolas" charset="0"/>
                        <a:ea typeface="Consolas" charset="0"/>
                        <a:cs typeface="Consolas" charset="0"/>
                      </a:endParaRPr>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93192">
                <a:tc>
                  <a:txBody>
                    <a:bodyPr/>
                    <a:lstStyle/>
                    <a:p>
                      <a:pPr marL="0" indent="0">
                        <a:buNone/>
                      </a:pPr>
                      <a:r>
                        <a:rPr lang="en-US" sz="1000" b="1" dirty="0">
                          <a:solidFill>
                            <a:srgbClr val="2D3748"/>
                          </a:solidFill>
                        </a:rPr>
                        <a:t>Remember every calculation</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table 2 — calculations: the API adds a row on every request</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2D3748"/>
                          </a:solidFill>
                          <a:latin typeface="Consolas" pitchFamily="34" charset="0"/>
                          <a:ea typeface="Consolas" pitchFamily="34" charset="-122"/>
                          <a:cs typeface="Consolas" pitchFamily="34" charset="-120"/>
                        </a:rPr>
                        <a:t>db.py  class Calculation</a:t>
                      </a:r>
                      <a:endParaRPr lang="en-US" sz="900" dirty="0">
                        <a:latin typeface="Consolas" charset="0"/>
                        <a:ea typeface="Consolas" charset="0"/>
                        <a:cs typeface="Consolas" charset="0"/>
                      </a:endParaRPr>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93192">
                <a:tc>
                  <a:txBody>
                    <a:bodyPr/>
                    <a:lstStyle/>
                    <a:p>
                      <a:pPr marL="0" indent="0">
                        <a:buNone/>
                      </a:pPr>
                      <a:r>
                        <a:rPr lang="en-US" sz="1000" b="1" dirty="0">
                          <a:solidFill>
                            <a:srgbClr val="2D3748"/>
                          </a:solidFill>
                        </a:rPr>
                        <a:t>Keep Monday's appliance list</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table 3 — appliances: rows added, changed, removed by users</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2D3748"/>
                          </a:solidFill>
                          <a:latin typeface="Consolas" pitchFamily="34" charset="0"/>
                          <a:ea typeface="Consolas" pitchFamily="34" charset="-122"/>
                          <a:cs typeface="Consolas" pitchFamily="34" charset="-120"/>
                        </a:rPr>
                        <a:t>db.py  class ApplianceRow</a:t>
                      </a:r>
                      <a:endParaRPr lang="en-US" sz="900" dirty="0">
                        <a:latin typeface="Consolas" charset="0"/>
                        <a:ea typeface="Consolas" charset="0"/>
                        <a:cs typeface="Consolas" charset="0"/>
                      </a:endParaRPr>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93192">
                <a:tc>
                  <a:txBody>
                    <a:bodyPr/>
                    <a:lstStyle/>
                    <a:p>
                      <a:pPr marL="0" indent="0">
                        <a:buNone/>
                      </a:pPr>
                      <a:r>
                        <a:rPr lang="en-US" sz="1000" b="1" dirty="0">
                          <a:solidFill>
                            <a:srgbClr val="2D3748"/>
                          </a:solidFill>
                        </a:rPr>
                        <a:t>Loading twice must not duplicate</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timestamp is the primary key + empty the table before loading</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2D3748"/>
                          </a:solidFill>
                          <a:latin typeface="Consolas" pitchFamily="34" charset="0"/>
                          <a:ea typeface="Consolas" pitchFamily="34" charset="-122"/>
                          <a:cs typeface="Consolas" pitchFamily="34" charset="-120"/>
                        </a:rPr>
                        <a:t>02_load_readings.py</a:t>
                      </a:r>
                      <a:endParaRPr lang="en-US" sz="900" dirty="0">
                        <a:latin typeface="Consolas" charset="0"/>
                        <a:ea typeface="Consolas" charset="0"/>
                        <a:cs typeface="Consolas" charset="0"/>
                      </a:endParaRPr>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93192">
                <a:tc>
                  <a:txBody>
                    <a:bodyPr/>
                    <a:lstStyle/>
                    <a:p>
                      <a:pPr marL="0" indent="0">
                        <a:buNone/>
                      </a:pPr>
                      <a:r>
                        <a:rPr lang="en-US" sz="1000" b="1" dirty="0">
                          <a:solidFill>
                            <a:srgbClr val="2D3748"/>
                          </a:solidFill>
                        </a:rPr>
                        <a:t>Same code on MySQL later</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SQLAlchemy ORM — classes stay; change the URL, add the driver</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2D3748"/>
                          </a:solidFill>
                          <a:latin typeface="Consolas" pitchFamily="34" charset="0"/>
                          <a:ea typeface="Consolas" pitchFamily="34" charset="-122"/>
                          <a:cs typeface="Consolas" pitchFamily="34" charset="-120"/>
                        </a:rPr>
                        <a:t>db.py  DATABASE_URL</a:t>
                      </a:r>
                      <a:endParaRPr lang="en-US" sz="900" dirty="0">
                        <a:latin typeface="Consolas" charset="0"/>
                        <a:ea typeface="Consolas" charset="0"/>
                        <a:cs typeface="Consolas" charset="0"/>
                      </a:endParaRPr>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93192">
                <a:tc>
                  <a:txBody>
                    <a:bodyPr/>
                    <a:lstStyle/>
                    <a:p>
                      <a:pPr marL="0" indent="0">
                        <a:buNone/>
                      </a:pPr>
                      <a:r>
                        <a:rPr lang="en-US" sz="1000" b="1" dirty="0">
                          <a:solidFill>
                            <a:srgbClr val="2D3748"/>
                          </a:solidFill>
                        </a:rPr>
                        <a:t>One answer, used by every screen</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each question is one function, reused by API, UI, agent</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2D3748"/>
                          </a:solidFill>
                          <a:latin typeface="Consolas" pitchFamily="34" charset="0"/>
                          <a:ea typeface="Consolas" pitchFamily="34" charset="-122"/>
                          <a:cs typeface="Consolas" pitchFamily="34" charset="-120"/>
                        </a:rPr>
                        <a:t>queries.py</a:t>
                      </a:r>
                      <a:endParaRPr lang="en-US" sz="900" dirty="0">
                        <a:latin typeface="Consolas" charset="0"/>
                        <a:ea typeface="Consolas" charset="0"/>
                        <a:cs typeface="Consolas" charset="0"/>
                      </a:endParaRPr>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93192">
                <a:tc>
                  <a:txBody>
                    <a:bodyPr/>
                    <a:lstStyle/>
                    <a:p>
                      <a:pPr marL="0" indent="0">
                        <a:buNone/>
                      </a:pPr>
                      <a:r>
                        <a:rPr lang="en-US" sz="1000" b="1" dirty="0">
                          <a:solidFill>
                            <a:srgbClr val="2D3748"/>
                          </a:solidFill>
                        </a:rPr>
                        <a:t>Engineer asks from a browser</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new endpoints: /readings  /summary  /history  /appliances</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2D3748"/>
                          </a:solidFill>
                          <a:latin typeface="Consolas" pitchFamily="34" charset="0"/>
                          <a:ea typeface="Consolas" pitchFamily="34" charset="-122"/>
                          <a:cs typeface="Consolas" pitchFamily="34" charset="-120"/>
                        </a:rPr>
                        <a:t>app.py  appliance.py</a:t>
                      </a:r>
                      <a:endParaRPr lang="en-US" sz="900" dirty="0">
                        <a:latin typeface="Consolas" charset="0"/>
                        <a:ea typeface="Consolas" charset="0"/>
                        <a:cs typeface="Consolas" charset="0"/>
                      </a:endParaRPr>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3" name="evolve-37"/>
          <p:cNvSpPr/>
          <p:nvPr/>
        </p:nvSpPr>
        <p:spPr>
          <a:xfrm>
            <a:off x="274320" y="4498848"/>
            <a:ext cx="8595360" cy="384048"/>
          </a:xfrm>
          <a:prstGeom prst="roundRect">
            <a:avLst>
              <a:gd name="adj" fmla="val 11905"/>
            </a:avLst>
          </a:prstGeom>
          <a:solidFill>
            <a:srgbClr val="EEF2FF"/>
          </a:solidFill>
          <a:ln w="12700">
            <a:solidFill>
              <a:srgbClr val="D5DCF5"/>
            </a:solidFill>
            <a:prstDash val="solid"/>
          </a:ln>
        </p:spPr>
        <p:txBody>
          <a:bodyPr/>
          <a:lstStyle/>
          <a:p>
            <a:endParaRPr lang="en-US"/>
          </a:p>
        </p:txBody>
      </p:sp>
      <p:sp>
        <p:nvSpPr>
          <p:cNvPr id="5" name="evolve-t-38"/>
          <p:cNvSpPr txBox="1"/>
          <p:nvPr/>
        </p:nvSpPr>
        <p:spPr>
          <a:xfrm>
            <a:off x="411480" y="4507992"/>
            <a:ext cx="8321040" cy="365760"/>
          </a:xfrm>
          <a:prstGeom prst="rect">
            <a:avLst/>
          </a:prstGeom>
          <a:noFill/>
          <a:ln/>
        </p:spPr>
        <p:txBody>
          <a:bodyPr wrap="square" lIns="0" tIns="0" rIns="0" bIns="0" rtlCol="0" anchor="ctr"/>
          <a:lstStyle/>
          <a:p>
            <a:pPr marL="0" indent="0">
              <a:buNone/>
            </a:pPr>
            <a:r>
              <a:rPr lang="en-US" sz="1050" b="1" dirty="0">
                <a:solidFill>
                  <a:srgbClr val="2D3748"/>
                </a:solidFill>
              </a:rPr>
              <a:t>Result:  </a:t>
            </a:r>
            <a:r>
              <a:rPr lang="en-US" sz="1050" dirty="0">
                <a:solidFill>
                  <a:srgbClr val="718096"/>
                </a:solidFill>
              </a:rPr>
              <a:t>one database file · 3 tables · 1 loader script · 1 file of questions · 4 kinds of new endpoint</a:t>
            </a:r>
            <a:endParaRPr lang="en-US" sz="1050" dirty="0"/>
          </a:p>
        </p:txBody>
      </p:sp>
      <p:sp>
        <p:nvSpPr>
          <p:cNvPr id="25" name="Slide Number Placeholder 0"/>
          <p:cNvSpPr>
            <a:spLocks noGrp="1"/>
          </p:cNvSpPr>
          <p:nvPr>
            <p:ph type="sldNum" sz="quarter" idx="4294967295"/>
          </p:nvPr>
        </p:nvSpPr>
        <p:spPr>
          <a:xfrm>
            <a:off x="8549640" y="4919472"/>
            <a:ext cx="36576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71809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1097280" y="91440"/>
            <a:ext cx="7772400" cy="347472"/>
          </a:xfrm>
          <a:prstGeom prst="rect">
            <a:avLst/>
          </a:prstGeom>
          <a:noFill/>
          <a:ln/>
        </p:spPr>
        <p:txBody>
          <a:bodyPr wrap="square" lIns="0" tIns="0" rIns="0" bIns="0" rtlCol="0" anchor="ctr"/>
          <a:lstStyle/>
          <a:p>
            <a:pPr marL="0" indent="0" algn="l">
              <a:buNone/>
            </a:pPr>
            <a:r>
              <a:rPr lang="en-US" sz="1300" b="1" dirty="0">
                <a:solidFill>
                  <a:srgbClr val="F59E0B"/>
                </a:solidFill>
              </a:rPr>
              <a:t>THE DESIGN AT A GLANCE  ·  Where the data comes from and where it lives</a:t>
            </a:r>
            <a:endParaRPr lang="en-US" sz="1300" dirty="0"/>
          </a:p>
        </p:txBody>
      </p:sp>
      <p:sp>
        <p:nvSpPr>
          <p:cNvPr id="3" name="box-39"/>
          <p:cNvSpPr/>
          <p:nvPr/>
        </p:nvSpPr>
        <p:spPr>
          <a:xfrm>
            <a:off x="274320" y="731520"/>
            <a:ext cx="1261872" cy="777240"/>
          </a:xfrm>
          <a:prstGeom prst="roundRect">
            <a:avLst>
              <a:gd name="adj" fmla="val 7059"/>
            </a:avLst>
          </a:prstGeom>
          <a:solidFill>
            <a:srgbClr val="718096"/>
          </a:solidFill>
          <a:ln w="12700">
            <a:solidFill>
              <a:srgbClr val="718096"/>
            </a:solidFill>
            <a:prstDash val="solid"/>
          </a:ln>
        </p:spPr>
        <p:txBody>
          <a:bodyPr/>
          <a:lstStyle/>
          <a:p>
            <a:endParaRPr lang="en-US"/>
          </a:p>
        </p:txBody>
      </p:sp>
      <p:sp>
        <p:nvSpPr>
          <p:cNvPr id="4" name="box-t-40"/>
          <p:cNvSpPr txBox="1"/>
          <p:nvPr/>
        </p:nvSpPr>
        <p:spPr>
          <a:xfrm>
            <a:off x="274320" y="731520"/>
            <a:ext cx="1261872" cy="777240"/>
          </a:xfrm>
          <a:prstGeom prst="rect">
            <a:avLst/>
          </a:prstGeom>
          <a:noFill/>
          <a:ln/>
        </p:spPr>
        <p:txBody>
          <a:bodyPr wrap="square" lIns="762" tIns="762" rIns="762" bIns="762" rtlCol="0" anchor="ctr"/>
          <a:lstStyle/>
          <a:p>
            <a:pPr marL="0" indent="0" algn="ctr">
              <a:buNone/>
            </a:pPr>
            <a:r>
              <a:rPr lang="en-US" sz="1050" b="1" dirty="0">
                <a:solidFill>
                  <a:srgbClr val="FFFFFF"/>
                </a:solidFill>
              </a:rPr>
              <a:t>make_data.py</a:t>
            </a:r>
            <a:endParaRPr lang="en-US" sz="1050" dirty="0"/>
          </a:p>
          <a:p>
            <a:pPr marL="0" indent="0" algn="ctr">
              <a:buNone/>
            </a:pPr>
            <a:r>
              <a:rPr lang="en-US" sz="950" dirty="0">
                <a:solidFill>
                  <a:srgbClr val="E2E8F0"/>
                </a:solidFill>
              </a:rPr>
              <a:t>simulates the readings</a:t>
            </a:r>
            <a:endParaRPr lang="en-US" sz="1050" dirty="0"/>
          </a:p>
        </p:txBody>
      </p:sp>
      <p:sp>
        <p:nvSpPr>
          <p:cNvPr id="5" name="arrow-41"/>
          <p:cNvSpPr txBox="1"/>
          <p:nvPr/>
        </p:nvSpPr>
        <p:spPr>
          <a:xfrm>
            <a:off x="1536192" y="941832"/>
            <a:ext cx="201168" cy="365760"/>
          </a:xfrm>
          <a:prstGeom prst="rect">
            <a:avLst/>
          </a:prstGeom>
          <a:noFill/>
          <a:ln/>
        </p:spPr>
        <p:txBody>
          <a:bodyPr wrap="square" lIns="0" tIns="0" rIns="0" bIns="0" rtlCol="0" anchor="ctr"/>
          <a:lstStyle/>
          <a:p>
            <a:pPr marL="0" indent="0" algn="ctr">
              <a:buNone/>
            </a:pPr>
            <a:r>
              <a:rPr lang="en-US" sz="1400" dirty="0">
                <a:solidFill>
                  <a:srgbClr val="718096"/>
                </a:solidFill>
              </a:rPr>
              <a:t>→</a:t>
            </a:r>
            <a:endParaRPr lang="en-US" sz="1400" dirty="0"/>
          </a:p>
        </p:txBody>
      </p:sp>
      <p:sp>
        <p:nvSpPr>
          <p:cNvPr id="6" name="box-42"/>
          <p:cNvSpPr/>
          <p:nvPr/>
        </p:nvSpPr>
        <p:spPr>
          <a:xfrm>
            <a:off x="1737360" y="731520"/>
            <a:ext cx="1261872" cy="777240"/>
          </a:xfrm>
          <a:prstGeom prst="roundRect">
            <a:avLst>
              <a:gd name="adj" fmla="val 7059"/>
            </a:avLst>
          </a:prstGeom>
          <a:solidFill>
            <a:srgbClr val="2D3748"/>
          </a:solidFill>
          <a:ln w="12700">
            <a:solidFill>
              <a:srgbClr val="2D3748"/>
            </a:solidFill>
            <a:prstDash val="solid"/>
          </a:ln>
        </p:spPr>
        <p:txBody>
          <a:bodyPr/>
          <a:lstStyle/>
          <a:p>
            <a:endParaRPr lang="en-US"/>
          </a:p>
        </p:txBody>
      </p:sp>
      <p:sp>
        <p:nvSpPr>
          <p:cNvPr id="7" name="box-t-43"/>
          <p:cNvSpPr txBox="1"/>
          <p:nvPr/>
        </p:nvSpPr>
        <p:spPr>
          <a:xfrm>
            <a:off x="1737360" y="731520"/>
            <a:ext cx="1261872" cy="777240"/>
          </a:xfrm>
          <a:prstGeom prst="rect">
            <a:avLst/>
          </a:prstGeom>
          <a:noFill/>
          <a:ln/>
        </p:spPr>
        <p:txBody>
          <a:bodyPr wrap="square" lIns="762" tIns="762" rIns="762" bIns="762" rtlCol="0" anchor="ctr"/>
          <a:lstStyle/>
          <a:p>
            <a:pPr marL="0" indent="0" algn="ctr">
              <a:buNone/>
            </a:pPr>
            <a:r>
              <a:rPr lang="en-US" sz="1050" b="1" dirty="0">
                <a:solidFill>
                  <a:srgbClr val="FFFFFF"/>
                </a:solidFill>
              </a:rPr>
              <a:t>CSV file</a:t>
            </a:r>
            <a:endParaRPr lang="en-US" sz="1050" dirty="0"/>
          </a:p>
          <a:p>
            <a:pPr marL="0" indent="0" algn="ctr">
              <a:buNone/>
            </a:pPr>
            <a:r>
              <a:rPr lang="en-US" sz="950" dirty="0">
                <a:solidFill>
                  <a:srgbClr val="E2E8F0"/>
                </a:solidFill>
              </a:rPr>
              <a:t>5,664 rows of text</a:t>
            </a:r>
            <a:endParaRPr lang="en-US" sz="1050" dirty="0"/>
          </a:p>
        </p:txBody>
      </p:sp>
      <p:sp>
        <p:nvSpPr>
          <p:cNvPr id="8" name="arrow-44"/>
          <p:cNvSpPr txBox="1"/>
          <p:nvPr/>
        </p:nvSpPr>
        <p:spPr>
          <a:xfrm>
            <a:off x="2999232" y="941832"/>
            <a:ext cx="201168" cy="365760"/>
          </a:xfrm>
          <a:prstGeom prst="rect">
            <a:avLst/>
          </a:prstGeom>
          <a:noFill/>
          <a:ln/>
        </p:spPr>
        <p:txBody>
          <a:bodyPr wrap="square" lIns="0" tIns="0" rIns="0" bIns="0" rtlCol="0" anchor="ctr"/>
          <a:lstStyle/>
          <a:p>
            <a:pPr marL="0" indent="0" algn="ctr">
              <a:buNone/>
            </a:pPr>
            <a:r>
              <a:rPr lang="en-US" sz="1400" dirty="0">
                <a:solidFill>
                  <a:srgbClr val="718096"/>
                </a:solidFill>
              </a:rPr>
              <a:t>→</a:t>
            </a:r>
            <a:endParaRPr lang="en-US" sz="1400" dirty="0"/>
          </a:p>
        </p:txBody>
      </p:sp>
      <p:sp>
        <p:nvSpPr>
          <p:cNvPr id="9" name="box-45"/>
          <p:cNvSpPr/>
          <p:nvPr/>
        </p:nvSpPr>
        <p:spPr>
          <a:xfrm>
            <a:off x="3200400" y="731520"/>
            <a:ext cx="1261872" cy="777240"/>
          </a:xfrm>
          <a:prstGeom prst="roundRect">
            <a:avLst>
              <a:gd name="adj" fmla="val 7059"/>
            </a:avLst>
          </a:prstGeom>
          <a:solidFill>
            <a:srgbClr val="2D3748"/>
          </a:solidFill>
          <a:ln w="12700">
            <a:solidFill>
              <a:srgbClr val="2D3748"/>
            </a:solidFill>
            <a:prstDash val="solid"/>
          </a:ln>
        </p:spPr>
        <p:txBody>
          <a:bodyPr/>
          <a:lstStyle/>
          <a:p>
            <a:endParaRPr lang="en-US"/>
          </a:p>
        </p:txBody>
      </p:sp>
      <p:sp>
        <p:nvSpPr>
          <p:cNvPr id="10" name="box-t-46"/>
          <p:cNvSpPr txBox="1"/>
          <p:nvPr/>
        </p:nvSpPr>
        <p:spPr>
          <a:xfrm>
            <a:off x="3200400" y="731520"/>
            <a:ext cx="1261872" cy="777240"/>
          </a:xfrm>
          <a:prstGeom prst="rect">
            <a:avLst/>
          </a:prstGeom>
          <a:noFill/>
          <a:ln/>
        </p:spPr>
        <p:txBody>
          <a:bodyPr wrap="square" lIns="762" tIns="762" rIns="762" bIns="762" rtlCol="0" anchor="ctr"/>
          <a:lstStyle/>
          <a:p>
            <a:pPr marL="0" indent="0" algn="ctr">
              <a:buNone/>
            </a:pPr>
            <a:r>
              <a:rPr lang="en-US" sz="1050" b="1" dirty="0">
                <a:solidFill>
                  <a:srgbClr val="FFFFFF"/>
                </a:solidFill>
              </a:rPr>
              <a:t>02_load_readings.py</a:t>
            </a:r>
            <a:endParaRPr lang="en-US" sz="1050" dirty="0"/>
          </a:p>
          <a:p>
            <a:pPr marL="0" indent="0" algn="ctr">
              <a:buNone/>
            </a:pPr>
            <a:r>
              <a:rPr lang="en-US" sz="950" dirty="0">
                <a:solidFill>
                  <a:srgbClr val="E2E8F0"/>
                </a:solidFill>
              </a:rPr>
              <a:t>loads them once</a:t>
            </a:r>
            <a:endParaRPr lang="en-US" sz="1050" dirty="0"/>
          </a:p>
        </p:txBody>
      </p:sp>
      <p:sp>
        <p:nvSpPr>
          <p:cNvPr id="11" name="arrow-47"/>
          <p:cNvSpPr txBox="1"/>
          <p:nvPr/>
        </p:nvSpPr>
        <p:spPr>
          <a:xfrm>
            <a:off x="4462272" y="941832"/>
            <a:ext cx="201168" cy="365760"/>
          </a:xfrm>
          <a:prstGeom prst="rect">
            <a:avLst/>
          </a:prstGeom>
          <a:noFill/>
          <a:ln/>
        </p:spPr>
        <p:txBody>
          <a:bodyPr wrap="square" lIns="0" tIns="0" rIns="0" bIns="0" rtlCol="0" anchor="ctr"/>
          <a:lstStyle/>
          <a:p>
            <a:pPr marL="0" indent="0" algn="ctr">
              <a:buNone/>
            </a:pPr>
            <a:r>
              <a:rPr lang="en-US" sz="1400" dirty="0">
                <a:solidFill>
                  <a:srgbClr val="718096"/>
                </a:solidFill>
              </a:rPr>
              <a:t>→</a:t>
            </a:r>
            <a:endParaRPr lang="en-US" sz="1400" dirty="0"/>
          </a:p>
        </p:txBody>
      </p:sp>
      <p:sp>
        <p:nvSpPr>
          <p:cNvPr id="12" name="box-48"/>
          <p:cNvSpPr/>
          <p:nvPr/>
        </p:nvSpPr>
        <p:spPr>
          <a:xfrm>
            <a:off x="4663440" y="731520"/>
            <a:ext cx="1261872" cy="777240"/>
          </a:xfrm>
          <a:prstGeom prst="roundRect">
            <a:avLst>
              <a:gd name="adj" fmla="val 7059"/>
            </a:avLst>
          </a:prstGeom>
          <a:solidFill>
            <a:srgbClr val="F59E0B"/>
          </a:solidFill>
          <a:ln w="12700">
            <a:solidFill>
              <a:srgbClr val="F59E0B"/>
            </a:solidFill>
            <a:prstDash val="solid"/>
          </a:ln>
        </p:spPr>
        <p:txBody>
          <a:bodyPr/>
          <a:lstStyle/>
          <a:p>
            <a:endParaRPr lang="en-US"/>
          </a:p>
        </p:txBody>
      </p:sp>
      <p:sp>
        <p:nvSpPr>
          <p:cNvPr id="13" name="box-t-49"/>
          <p:cNvSpPr txBox="1"/>
          <p:nvPr/>
        </p:nvSpPr>
        <p:spPr>
          <a:xfrm>
            <a:off x="4663440" y="731520"/>
            <a:ext cx="1261872" cy="777240"/>
          </a:xfrm>
          <a:prstGeom prst="rect">
            <a:avLst/>
          </a:prstGeom>
          <a:noFill/>
          <a:ln/>
        </p:spPr>
        <p:txBody>
          <a:bodyPr wrap="square" lIns="762" tIns="762" rIns="762" bIns="762" rtlCol="0" anchor="ctr"/>
          <a:lstStyle/>
          <a:p>
            <a:pPr marL="0" indent="0" algn="ctr">
              <a:buNone/>
            </a:pPr>
            <a:r>
              <a:rPr lang="en-US" sz="1050" b="1" dirty="0">
                <a:solidFill>
                  <a:srgbClr val="1A2535"/>
                </a:solidFill>
              </a:rPr>
              <a:t>energy.db</a:t>
            </a:r>
            <a:endParaRPr lang="en-US" sz="1050" dirty="0"/>
          </a:p>
          <a:p>
            <a:pPr marL="0" indent="0" algn="ctr">
              <a:buNone/>
            </a:pPr>
            <a:r>
              <a:rPr lang="en-US" sz="950" dirty="0">
                <a:solidFill>
                  <a:srgbClr val="1A2535"/>
                </a:solidFill>
              </a:rPr>
              <a:t>3 tables on disk</a:t>
            </a:r>
            <a:endParaRPr lang="en-US" sz="1050" dirty="0"/>
          </a:p>
        </p:txBody>
      </p:sp>
      <p:sp>
        <p:nvSpPr>
          <p:cNvPr id="14" name="arrow-50"/>
          <p:cNvSpPr txBox="1"/>
          <p:nvPr/>
        </p:nvSpPr>
        <p:spPr>
          <a:xfrm>
            <a:off x="5925312" y="941832"/>
            <a:ext cx="201168" cy="365760"/>
          </a:xfrm>
          <a:prstGeom prst="rect">
            <a:avLst/>
          </a:prstGeom>
          <a:noFill/>
          <a:ln/>
        </p:spPr>
        <p:txBody>
          <a:bodyPr wrap="square" lIns="0" tIns="0" rIns="0" bIns="0" rtlCol="0" anchor="ctr"/>
          <a:lstStyle/>
          <a:p>
            <a:pPr marL="0" indent="0" algn="ctr">
              <a:buNone/>
            </a:pPr>
            <a:r>
              <a:rPr lang="en-US" sz="1400" dirty="0">
                <a:solidFill>
                  <a:srgbClr val="718096"/>
                </a:solidFill>
              </a:rPr>
              <a:t>→</a:t>
            </a:r>
            <a:endParaRPr lang="en-US" sz="1400" dirty="0"/>
          </a:p>
        </p:txBody>
      </p:sp>
      <p:sp>
        <p:nvSpPr>
          <p:cNvPr id="15" name="box-51"/>
          <p:cNvSpPr/>
          <p:nvPr/>
        </p:nvSpPr>
        <p:spPr>
          <a:xfrm>
            <a:off x="6126480" y="731520"/>
            <a:ext cx="1261872" cy="777240"/>
          </a:xfrm>
          <a:prstGeom prst="roundRect">
            <a:avLst>
              <a:gd name="adj" fmla="val 7059"/>
            </a:avLst>
          </a:prstGeom>
          <a:solidFill>
            <a:srgbClr val="2D3748"/>
          </a:solidFill>
          <a:ln w="12700">
            <a:solidFill>
              <a:srgbClr val="2D3748"/>
            </a:solidFill>
            <a:prstDash val="solid"/>
          </a:ln>
        </p:spPr>
        <p:txBody>
          <a:bodyPr/>
          <a:lstStyle/>
          <a:p>
            <a:endParaRPr lang="en-US"/>
          </a:p>
        </p:txBody>
      </p:sp>
      <p:sp>
        <p:nvSpPr>
          <p:cNvPr id="16" name="box-t-52"/>
          <p:cNvSpPr txBox="1"/>
          <p:nvPr/>
        </p:nvSpPr>
        <p:spPr>
          <a:xfrm>
            <a:off x="6126480" y="731520"/>
            <a:ext cx="1261872" cy="777240"/>
          </a:xfrm>
          <a:prstGeom prst="rect">
            <a:avLst/>
          </a:prstGeom>
          <a:noFill/>
          <a:ln/>
        </p:spPr>
        <p:txBody>
          <a:bodyPr wrap="square" lIns="762" tIns="762" rIns="762" bIns="762" rtlCol="0" anchor="ctr"/>
          <a:lstStyle/>
          <a:p>
            <a:pPr marL="0" indent="0" algn="ctr">
              <a:buNone/>
            </a:pPr>
            <a:r>
              <a:rPr lang="en-US" sz="1050" b="1" dirty="0">
                <a:solidFill>
                  <a:srgbClr val="FFFFFF"/>
                </a:solidFill>
              </a:rPr>
              <a:t>queries.py</a:t>
            </a:r>
            <a:endParaRPr lang="en-US" sz="1050" dirty="0"/>
          </a:p>
          <a:p>
            <a:pPr marL="0" indent="0" algn="ctr">
              <a:buNone/>
            </a:pPr>
            <a:r>
              <a:rPr lang="en-US" sz="950" dirty="0">
                <a:solidFill>
                  <a:srgbClr val="E2E8F0"/>
                </a:solidFill>
              </a:rPr>
              <a:t>asks the questions</a:t>
            </a:r>
            <a:endParaRPr lang="en-US" sz="1050" dirty="0"/>
          </a:p>
        </p:txBody>
      </p:sp>
      <p:sp>
        <p:nvSpPr>
          <p:cNvPr id="17" name="arrow-53"/>
          <p:cNvSpPr txBox="1"/>
          <p:nvPr/>
        </p:nvSpPr>
        <p:spPr>
          <a:xfrm>
            <a:off x="7388352" y="941832"/>
            <a:ext cx="201168" cy="365760"/>
          </a:xfrm>
          <a:prstGeom prst="rect">
            <a:avLst/>
          </a:prstGeom>
          <a:noFill/>
          <a:ln/>
        </p:spPr>
        <p:txBody>
          <a:bodyPr wrap="square" lIns="0" tIns="0" rIns="0" bIns="0" rtlCol="0" anchor="ctr"/>
          <a:lstStyle/>
          <a:p>
            <a:pPr marL="0" indent="0" algn="ctr">
              <a:buNone/>
            </a:pPr>
            <a:r>
              <a:rPr lang="en-US" sz="1400" dirty="0">
                <a:solidFill>
                  <a:srgbClr val="718096"/>
                </a:solidFill>
              </a:rPr>
              <a:t>→</a:t>
            </a:r>
            <a:endParaRPr lang="en-US" sz="1400" dirty="0"/>
          </a:p>
        </p:txBody>
      </p:sp>
      <p:sp>
        <p:nvSpPr>
          <p:cNvPr id="18" name="box-54"/>
          <p:cNvSpPr/>
          <p:nvPr/>
        </p:nvSpPr>
        <p:spPr>
          <a:xfrm>
            <a:off x="7589520" y="731520"/>
            <a:ext cx="1261872" cy="777240"/>
          </a:xfrm>
          <a:prstGeom prst="roundRect">
            <a:avLst>
              <a:gd name="adj" fmla="val 7059"/>
            </a:avLst>
          </a:prstGeom>
          <a:solidFill>
            <a:srgbClr val="0F6E56"/>
          </a:solidFill>
          <a:ln w="12700">
            <a:solidFill>
              <a:srgbClr val="0F6E56"/>
            </a:solidFill>
            <a:prstDash val="solid"/>
          </a:ln>
        </p:spPr>
        <p:txBody>
          <a:bodyPr/>
          <a:lstStyle/>
          <a:p>
            <a:endParaRPr lang="en-US"/>
          </a:p>
        </p:txBody>
      </p:sp>
      <p:sp>
        <p:nvSpPr>
          <p:cNvPr id="19" name="box-t-55"/>
          <p:cNvSpPr txBox="1"/>
          <p:nvPr/>
        </p:nvSpPr>
        <p:spPr>
          <a:xfrm>
            <a:off x="7589520" y="731520"/>
            <a:ext cx="1261872" cy="777240"/>
          </a:xfrm>
          <a:prstGeom prst="rect">
            <a:avLst/>
          </a:prstGeom>
          <a:noFill/>
          <a:ln/>
        </p:spPr>
        <p:txBody>
          <a:bodyPr wrap="square" lIns="762" tIns="762" rIns="762" bIns="762" rtlCol="0" anchor="ctr"/>
          <a:lstStyle/>
          <a:p>
            <a:pPr marL="0" indent="0" algn="ctr">
              <a:buNone/>
            </a:pPr>
            <a:r>
              <a:rPr lang="en-US" sz="1050" b="1" dirty="0">
                <a:solidFill>
                  <a:srgbClr val="FFFFFF"/>
                </a:solidFill>
              </a:rPr>
              <a:t>app.py</a:t>
            </a:r>
            <a:endParaRPr lang="en-US" sz="1050" dirty="0"/>
          </a:p>
          <a:p>
            <a:pPr marL="0" indent="0" algn="ctr">
              <a:buNone/>
            </a:pPr>
            <a:r>
              <a:rPr lang="en-US" sz="950" dirty="0">
                <a:solidFill>
                  <a:srgbClr val="E2E8F0"/>
                </a:solidFill>
              </a:rPr>
              <a:t>answers on the web</a:t>
            </a:r>
            <a:endParaRPr lang="en-US" sz="1050" dirty="0"/>
          </a:p>
        </p:txBody>
      </p:sp>
      <p:graphicFrame>
        <p:nvGraphicFramePr>
          <p:cNvPr id="20" name="table-56"/>
          <p:cNvGraphicFramePr>
            <a:graphicFrameLocks noGrp="1"/>
          </p:cNvGraphicFramePr>
          <p:nvPr>
            <p:extLst>
              <p:ext uri="{D42A27DB-BD31-4B8C-83A1-F6EECF244321}">
                <p14:modId xmlns:p14="http://schemas.microsoft.com/office/powerpoint/2010/main" val="1579011935"/>
              </p:ext>
            </p:extLst>
          </p:nvPr>
        </p:nvGraphicFramePr>
        <p:xfrm>
          <a:off x="274320" y="1737360"/>
          <a:ext cx="8595360" cy="2365248"/>
        </p:xfrm>
        <a:graphic>
          <a:graphicData uri="http://schemas.openxmlformats.org/drawingml/2006/table">
            <a:tbl>
              <a:tblPr/>
              <a:tblGrid>
                <a:gridCol w="1828800">
                  <a:extLst>
                    <a:ext uri="{9D8B030D-6E8A-4147-A177-3AD203B41FA5}">
                      <a16:colId xmlns:a16="http://schemas.microsoft.com/office/drawing/2014/main" val="20000"/>
                    </a:ext>
                  </a:extLst>
                </a:gridCol>
                <a:gridCol w="6766560">
                  <a:extLst>
                    <a:ext uri="{9D8B030D-6E8A-4147-A177-3AD203B41FA5}">
                      <a16:colId xmlns:a16="http://schemas.microsoft.com/office/drawing/2014/main" val="20001"/>
                    </a:ext>
                  </a:extLst>
                </a:gridCol>
              </a:tblGrid>
              <a:tr h="393192">
                <a:tc>
                  <a:txBody>
                    <a:bodyPr/>
                    <a:lstStyle/>
                    <a:p>
                      <a:pPr marL="0" indent="0">
                        <a:buNone/>
                      </a:pPr>
                      <a:r>
                        <a:rPr lang="en-US" sz="1000" b="1" dirty="0">
                          <a:solidFill>
                            <a:srgbClr val="FFFFFF"/>
                          </a:solidFill>
                        </a:rPr>
                        <a:t>Question</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D3748"/>
                    </a:solidFill>
                  </a:tcPr>
                </a:tc>
                <a:tc>
                  <a:txBody>
                    <a:bodyPr/>
                    <a:lstStyle/>
                    <a:p>
                      <a:pPr marL="0" indent="0">
                        <a:buNone/>
                      </a:pPr>
                      <a:r>
                        <a:rPr lang="en-US" sz="1000" b="1" dirty="0">
                          <a:solidFill>
                            <a:srgbClr val="FFFFFF"/>
                          </a:solidFill>
                        </a:rPr>
                        <a:t>Answer</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D3748"/>
                    </a:solidFill>
                  </a:tcPr>
                </a:tc>
                <a:extLst>
                  <a:ext uri="{0D108BD9-81ED-4DB2-BD59-A6C34878D82A}">
                    <a16:rowId xmlns:a16="http://schemas.microsoft.com/office/drawing/2014/main" val="10000"/>
                  </a:ext>
                </a:extLst>
              </a:tr>
              <a:tr h="393192">
                <a:tc>
                  <a:txBody>
                    <a:bodyPr/>
                    <a:lstStyle/>
                    <a:p>
                      <a:pPr marL="0" indent="0">
                        <a:buNone/>
                      </a:pPr>
                      <a:r>
                        <a:rPr lang="en-US" sz="1000" b="1" dirty="0">
                          <a:solidFill>
                            <a:srgbClr val="2D3748"/>
                          </a:solidFill>
                        </a:rPr>
                        <a:t>Is the data real?</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No — simulated by data/make_data.py with a fixed seed, so everyone gets the same numbers. It follows real patterns: rising temperatures, holidays, exam week, cloudy days.</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93192">
                <a:tc>
                  <a:txBody>
                    <a:bodyPr/>
                    <a:lstStyle/>
                    <a:p>
                      <a:pPr marL="0" indent="0">
                        <a:buNone/>
                      </a:pPr>
                      <a:r>
                        <a:rPr lang="en-US" sz="1000" b="1" dirty="0">
                          <a:solidFill>
                            <a:srgbClr val="2D3748"/>
                          </a:solidFill>
                        </a:rPr>
                        <a:t>Is it live?</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No — a two-month snapshot (1 Feb – 31 Mar 2026). In a real plant, the same loader would read the meter / SCADA export every 15 minutes instead.</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93192">
                <a:tc>
                  <a:txBody>
                    <a:bodyPr/>
                    <a:lstStyle/>
                    <a:p>
                      <a:pPr marL="0" indent="0">
                        <a:buNone/>
                      </a:pPr>
                      <a:r>
                        <a:rPr lang="en-US" sz="1000" b="1" dirty="0">
                          <a:solidFill>
                            <a:srgbClr val="2D3748"/>
                          </a:solidFill>
                        </a:rPr>
                        <a:t>Where is it stored?</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In energy.db — one SQLite file on disk, always created next to db.py (whatever folder you run from). It survives restarts.</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93192">
                <a:tc>
                  <a:txBody>
                    <a:bodyPr/>
                    <a:lstStyle/>
                    <a:p>
                      <a:pPr marL="0" indent="0">
                        <a:buNone/>
                      </a:pPr>
                      <a:r>
                        <a:rPr lang="en-US" sz="1000" b="1" dirty="0">
                          <a:solidFill>
                            <a:srgbClr val="2D3748"/>
                          </a:solidFill>
                        </a:rPr>
                        <a:t>How many tables?</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Three: readings (5,664 rows, loaded once) · calculations (grows with every request) · appliances (managed by users)</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93192">
                <a:tc>
                  <a:txBody>
                    <a:bodyPr/>
                    <a:lstStyle/>
                    <a:p>
                      <a:pPr marL="0" indent="0">
                        <a:buNone/>
                      </a:pPr>
                      <a:r>
                        <a:rPr lang="en-US" sz="1000" b="1" dirty="0">
                          <a:solidFill>
                            <a:srgbClr val="2D3748"/>
                          </a:solidFill>
                        </a:rPr>
                        <a:t>How does data get in?</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readings: the loader script · calculations: the API writes them itself · appliances: POST / PUT / DELETE requests</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1" name="lab-57"/>
          <p:cNvSpPr/>
          <p:nvPr/>
        </p:nvSpPr>
        <p:spPr>
          <a:xfrm>
            <a:off x="274320" y="4498848"/>
            <a:ext cx="8595360" cy="384048"/>
          </a:xfrm>
          <a:prstGeom prst="roundRect">
            <a:avLst>
              <a:gd name="adj" fmla="val 11905"/>
            </a:avLst>
          </a:prstGeom>
          <a:solidFill>
            <a:srgbClr val="FFF8E7"/>
          </a:solidFill>
          <a:ln w="12700">
            <a:solidFill>
              <a:srgbClr val="F6D9A8"/>
            </a:solidFill>
            <a:prstDash val="solid"/>
          </a:ln>
        </p:spPr>
        <p:txBody>
          <a:bodyPr/>
          <a:lstStyle/>
          <a:p>
            <a:endParaRPr lang="en-US"/>
          </a:p>
        </p:txBody>
      </p:sp>
      <p:sp>
        <p:nvSpPr>
          <p:cNvPr id="22" name="lab-t-58"/>
          <p:cNvSpPr txBox="1"/>
          <p:nvPr/>
        </p:nvSpPr>
        <p:spPr>
          <a:xfrm>
            <a:off x="411480" y="4507992"/>
            <a:ext cx="8321040" cy="365760"/>
          </a:xfrm>
          <a:prstGeom prst="rect">
            <a:avLst/>
          </a:prstGeom>
          <a:noFill/>
          <a:ln/>
        </p:spPr>
        <p:txBody>
          <a:bodyPr wrap="square" lIns="0" tIns="0" rIns="0" bIns="0" rtlCol="0" anchor="ctr"/>
          <a:lstStyle/>
          <a:p>
            <a:pPr marL="0" indent="0">
              <a:buNone/>
            </a:pPr>
            <a:r>
              <a:rPr lang="en-US" sz="1050" b="1" dirty="0">
                <a:solidFill>
                  <a:srgbClr val="2D3748"/>
                </a:solidFill>
              </a:rPr>
              <a:t>Note:  </a:t>
            </a:r>
            <a:r>
              <a:rPr lang="en-US" sz="1050" dirty="0">
                <a:solidFill>
                  <a:srgbClr val="2D3748"/>
                </a:solidFill>
              </a:rPr>
              <a:t>no client or personal data anywhere — safe to share, deploy and experiment with</a:t>
            </a:r>
            <a:endParaRPr lang="en-US" sz="1050" dirty="0"/>
          </a:p>
        </p:txBody>
      </p:sp>
      <p:sp>
        <p:nvSpPr>
          <p:cNvPr id="25" name="Slide Number Placeholder 0"/>
          <p:cNvSpPr>
            <a:spLocks noGrp="1"/>
          </p:cNvSpPr>
          <p:nvPr>
            <p:ph type="sldNum" sz="quarter" idx="4294967295"/>
          </p:nvPr>
        </p:nvSpPr>
        <p:spPr>
          <a:xfrm>
            <a:off x="8549640" y="4919472"/>
            <a:ext cx="36576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71809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1097280" y="91440"/>
            <a:ext cx="7772400" cy="347472"/>
          </a:xfrm>
          <a:prstGeom prst="rect">
            <a:avLst/>
          </a:prstGeom>
          <a:noFill/>
          <a:ln/>
        </p:spPr>
        <p:txBody>
          <a:bodyPr wrap="square" lIns="0" tIns="0" rIns="0" bIns="0" rtlCol="0" anchor="ctr"/>
          <a:lstStyle/>
          <a:p>
            <a:pPr marL="0" indent="0" algn="l">
              <a:buNone/>
            </a:pPr>
            <a:r>
              <a:rPr lang="en-US" sz="1300" b="1" dirty="0">
                <a:solidFill>
                  <a:srgbClr val="F59E0B"/>
                </a:solidFill>
              </a:rPr>
              <a:t>WHAT IS A DATABASE?  ·  A spreadsheet you can ask questions</a:t>
            </a:r>
            <a:endParaRPr lang="en-US" sz="1300" dirty="0"/>
          </a:p>
        </p:txBody>
      </p:sp>
      <p:sp>
        <p:nvSpPr>
          <p:cNvPr id="3" name="label-59"/>
          <p:cNvSpPr txBox="1"/>
          <p:nvPr/>
        </p:nvSpPr>
        <p:spPr>
          <a:xfrm>
            <a:off x="274320" y="685800"/>
            <a:ext cx="5394960" cy="219456"/>
          </a:xfrm>
          <a:prstGeom prst="rect">
            <a:avLst/>
          </a:prstGeom>
          <a:noFill/>
          <a:ln/>
        </p:spPr>
        <p:txBody>
          <a:bodyPr wrap="square" lIns="0" tIns="0" rIns="0" bIns="0" rtlCol="0" anchor="ctr"/>
          <a:lstStyle/>
          <a:p>
            <a:pPr marL="0" indent="0">
              <a:buNone/>
            </a:pPr>
            <a:r>
              <a:rPr lang="en-US" sz="900" b="1" kern="0" spc="150" dirty="0">
                <a:solidFill>
                  <a:srgbClr val="718096"/>
                </a:solidFill>
              </a:rPr>
              <a:t>THE READINGS TABLE — 4 OF ITS 5,664 ROWS</a:t>
            </a:r>
            <a:endParaRPr lang="en-US" sz="900" dirty="0"/>
          </a:p>
        </p:txBody>
      </p:sp>
      <p:graphicFrame>
        <p:nvGraphicFramePr>
          <p:cNvPr id="6" name="table-60"/>
          <p:cNvGraphicFramePr>
            <a:graphicFrameLocks noGrp="1"/>
          </p:cNvGraphicFramePr>
          <p:nvPr>
            <p:extLst>
              <p:ext uri="{D42A27DB-BD31-4B8C-83A1-F6EECF244321}">
                <p14:modId xmlns:p14="http://schemas.microsoft.com/office/powerpoint/2010/main" val="1579011935"/>
              </p:ext>
            </p:extLst>
          </p:nvPr>
        </p:nvGraphicFramePr>
        <p:xfrm>
          <a:off x="274320" y="941832"/>
          <a:ext cx="5394960" cy="1508760"/>
        </p:xfrm>
        <a:graphic>
          <a:graphicData uri="http://schemas.openxmlformats.org/drawingml/2006/table">
            <a:tbl>
              <a:tblPr/>
              <a:tblGrid>
                <a:gridCol w="173736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301752">
                <a:tc>
                  <a:txBody>
                    <a:bodyPr/>
                    <a:lstStyle/>
                    <a:p>
                      <a:pPr marL="0" indent="0">
                        <a:buNone/>
                      </a:pPr>
                      <a:r>
                        <a:rPr lang="en-US" sz="1000" b="1" dirty="0">
                          <a:solidFill>
                            <a:srgbClr val="FFFFFF"/>
                          </a:solidFill>
                        </a:rPr>
                        <a:t>timestamp</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D3748"/>
                    </a:solidFill>
                  </a:tcPr>
                </a:tc>
                <a:tc>
                  <a:txBody>
                    <a:bodyPr/>
                    <a:lstStyle/>
                    <a:p>
                      <a:pPr marL="0" indent="0">
                        <a:buNone/>
                      </a:pPr>
                      <a:r>
                        <a:rPr lang="en-US" sz="1000" b="1" dirty="0">
                          <a:solidFill>
                            <a:srgbClr val="FFFFFF"/>
                          </a:solidFill>
                        </a:rPr>
                        <a:t>load_kw</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D3748"/>
                    </a:solidFill>
                  </a:tcPr>
                </a:tc>
                <a:tc>
                  <a:txBody>
                    <a:bodyPr/>
                    <a:lstStyle/>
                    <a:p>
                      <a:pPr marL="0" indent="0">
                        <a:buNone/>
                      </a:pPr>
                      <a:r>
                        <a:rPr lang="en-US" sz="1000" b="1" dirty="0">
                          <a:solidFill>
                            <a:srgbClr val="FFFFFF"/>
                          </a:solidFill>
                        </a:rPr>
                        <a:t>solar_kw</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D3748"/>
                    </a:solidFill>
                  </a:tcPr>
                </a:tc>
                <a:tc>
                  <a:txBody>
                    <a:bodyPr/>
                    <a:lstStyle/>
                    <a:p>
                      <a:pPr marL="0" indent="0">
                        <a:buNone/>
                      </a:pPr>
                      <a:r>
                        <a:rPr lang="en-US" sz="1000" b="1" dirty="0">
                          <a:solidFill>
                            <a:srgbClr val="FFFFFF"/>
                          </a:solidFill>
                        </a:rPr>
                        <a:t>ambient_c</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D3748"/>
                    </a:solidFill>
                  </a:tcPr>
                </a:tc>
                <a:extLst>
                  <a:ext uri="{0D108BD9-81ED-4DB2-BD59-A6C34878D82A}">
                    <a16:rowId xmlns:a16="http://schemas.microsoft.com/office/drawing/2014/main" val="10000"/>
                  </a:ext>
                </a:extLst>
              </a:tr>
              <a:tr h="301752">
                <a:tc>
                  <a:txBody>
                    <a:bodyPr/>
                    <a:lstStyle/>
                    <a:p>
                      <a:pPr marL="0" indent="0">
                        <a:buNone/>
                      </a:pPr>
                      <a:r>
                        <a:rPr lang="en-US" sz="900" dirty="0">
                          <a:solidFill>
                            <a:srgbClr val="2D3748"/>
                          </a:solidFill>
                          <a:latin typeface="Consolas" pitchFamily="34" charset="0"/>
                          <a:ea typeface="Consolas" pitchFamily="34" charset="-122"/>
                          <a:cs typeface="Consolas" pitchFamily="34" charset="-120"/>
                        </a:rPr>
                        <a:t>2026-03-23 12:00</a:t>
                      </a:r>
                      <a:endParaRPr lang="en-US" sz="900" dirty="0">
                        <a:latin typeface="Consolas" charset="0"/>
                        <a:ea typeface="Consolas" charset="0"/>
                        <a:cs typeface="Consolas" charset="0"/>
                      </a:endParaRPr>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846.8</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234.6</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35.7</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1752">
                <a:tc>
                  <a:txBody>
                    <a:bodyPr/>
                    <a:lstStyle/>
                    <a:p>
                      <a:pPr marL="0" indent="0">
                        <a:buNone/>
                      </a:pPr>
                      <a:r>
                        <a:rPr lang="en-US" sz="900" dirty="0">
                          <a:solidFill>
                            <a:srgbClr val="2D3748"/>
                          </a:solidFill>
                          <a:latin typeface="Consolas" pitchFamily="34" charset="0"/>
                          <a:ea typeface="Consolas" pitchFamily="34" charset="-122"/>
                          <a:cs typeface="Consolas" pitchFamily="34" charset="-120"/>
                        </a:rPr>
                        <a:t>2026-03-23 12:15</a:t>
                      </a:r>
                      <a:endParaRPr lang="en-US" sz="900" dirty="0">
                        <a:latin typeface="Consolas" charset="0"/>
                        <a:ea typeface="Consolas" charset="0"/>
                        <a:cs typeface="Consolas" charset="0"/>
                      </a:endParaRPr>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847.4</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251.8</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36.1</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1752">
                <a:tc>
                  <a:txBody>
                    <a:bodyPr/>
                    <a:lstStyle/>
                    <a:p>
                      <a:pPr marL="0" indent="0">
                        <a:buNone/>
                      </a:pPr>
                      <a:r>
                        <a:rPr lang="en-US" sz="900" dirty="0">
                          <a:solidFill>
                            <a:srgbClr val="2D3748"/>
                          </a:solidFill>
                          <a:latin typeface="Consolas" pitchFamily="34" charset="0"/>
                          <a:ea typeface="Consolas" pitchFamily="34" charset="-122"/>
                          <a:cs typeface="Consolas" pitchFamily="34" charset="-120"/>
                        </a:rPr>
                        <a:t>2026-03-23 12:30</a:t>
                      </a:r>
                      <a:endParaRPr lang="en-US" sz="900" dirty="0">
                        <a:latin typeface="Consolas" charset="0"/>
                        <a:ea typeface="Consolas" charset="0"/>
                        <a:cs typeface="Consolas" charset="0"/>
                      </a:endParaRPr>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857.6</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262.3</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36.9</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1752">
                <a:tc>
                  <a:txBody>
                    <a:bodyPr/>
                    <a:lstStyle/>
                    <a:p>
                      <a:pPr marL="0" indent="0">
                        <a:buNone/>
                      </a:pPr>
                      <a:r>
                        <a:rPr lang="en-US" sz="900" dirty="0">
                          <a:solidFill>
                            <a:srgbClr val="2D3748"/>
                          </a:solidFill>
                          <a:latin typeface="Consolas" pitchFamily="34" charset="0"/>
                          <a:ea typeface="Consolas" pitchFamily="34" charset="-122"/>
                          <a:cs typeface="Consolas" pitchFamily="34" charset="-120"/>
                        </a:rPr>
                        <a:t>2026-03-23 12:45</a:t>
                      </a:r>
                      <a:endParaRPr lang="en-US" sz="900" dirty="0">
                        <a:latin typeface="Consolas" charset="0"/>
                        <a:ea typeface="Consolas" charset="0"/>
                        <a:cs typeface="Consolas" charset="0"/>
                      </a:endParaRPr>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854.2</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230.7</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36.3</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arrows-hint"/>
          <p:cNvSpPr txBox="1"/>
          <p:nvPr/>
        </p:nvSpPr>
        <p:spPr>
          <a:xfrm>
            <a:off x="274320" y="2514600"/>
            <a:ext cx="5394960" cy="274320"/>
          </a:xfrm>
          <a:prstGeom prst="rect">
            <a:avLst/>
          </a:prstGeom>
          <a:noFill/>
          <a:ln/>
        </p:spPr>
        <p:txBody>
          <a:bodyPr wrap="square" lIns="0" tIns="0" rIns="0" bIns="0" rtlCol="0" anchor="ctr"/>
          <a:lstStyle/>
          <a:p>
            <a:pPr marL="0" indent="0">
              <a:buNone/>
            </a:pPr>
            <a:r>
              <a:rPr lang="en-US" sz="900" i="1" dirty="0">
                <a:solidFill>
                  <a:srgbClr val="718096"/>
                </a:solidFill>
              </a:rPr>
              <a:t>↑ each COLUMN is one kind of information          ← each ROW is one record (one 15-minute reading)</a:t>
            </a:r>
            <a:endParaRPr lang="en-US" sz="900" dirty="0"/>
          </a:p>
        </p:txBody>
      </p:sp>
      <p:sp>
        <p:nvSpPr>
          <p:cNvPr id="4" name="label-61"/>
          <p:cNvSpPr txBox="1"/>
          <p:nvPr/>
        </p:nvSpPr>
        <p:spPr>
          <a:xfrm>
            <a:off x="5897880" y="685800"/>
            <a:ext cx="2971800" cy="219456"/>
          </a:xfrm>
          <a:prstGeom prst="rect">
            <a:avLst/>
          </a:prstGeom>
          <a:noFill/>
          <a:ln/>
        </p:spPr>
        <p:txBody>
          <a:bodyPr wrap="square" lIns="0" tIns="0" rIns="0" bIns="0" rtlCol="0" anchor="ctr"/>
          <a:lstStyle/>
          <a:p>
            <a:pPr marL="0" indent="0">
              <a:buNone/>
            </a:pPr>
            <a:r>
              <a:rPr lang="en-US" sz="900" b="1" kern="0" spc="150" dirty="0">
                <a:solidFill>
                  <a:srgbClr val="718096"/>
                </a:solidFill>
              </a:rPr>
              <a:t>FOUR WORDS TO KNOW</a:t>
            </a:r>
            <a:endParaRPr lang="en-US" sz="900" dirty="0"/>
          </a:p>
        </p:txBody>
      </p:sp>
      <p:sp>
        <p:nvSpPr>
          <p:cNvPr id="7" name="dot-62"/>
          <p:cNvSpPr/>
          <p:nvPr/>
        </p:nvSpPr>
        <p:spPr>
          <a:xfrm>
            <a:off x="5897880" y="1014984"/>
            <a:ext cx="82296" cy="82296"/>
          </a:xfrm>
          <a:prstGeom prst="rect">
            <a:avLst/>
          </a:prstGeom>
          <a:solidFill>
            <a:srgbClr val="F59E0B"/>
          </a:solidFill>
          <a:ln w="12700">
            <a:solidFill>
              <a:srgbClr val="F59E0B"/>
            </a:solidFill>
            <a:prstDash val="solid"/>
          </a:ln>
        </p:spPr>
        <p:txBody>
          <a:bodyPr/>
          <a:lstStyle/>
          <a:p>
            <a:endParaRPr lang="en-US"/>
          </a:p>
        </p:txBody>
      </p:sp>
      <p:sp>
        <p:nvSpPr>
          <p:cNvPr id="8" name="item-63"/>
          <p:cNvSpPr txBox="1"/>
          <p:nvPr/>
        </p:nvSpPr>
        <p:spPr>
          <a:xfrm>
            <a:off x="6062472" y="941832"/>
            <a:ext cx="2807208" cy="457200"/>
          </a:xfrm>
          <a:prstGeom prst="rect">
            <a:avLst/>
          </a:prstGeom>
          <a:noFill/>
          <a:ln/>
        </p:spPr>
        <p:txBody>
          <a:bodyPr wrap="square" lIns="0" tIns="0" rIns="0" bIns="0" rtlCol="0" anchor="t"/>
          <a:lstStyle/>
          <a:p>
            <a:pPr marL="0" indent="0">
              <a:spcAft>
                <a:spcPts val="100"/>
              </a:spcAft>
              <a:buNone/>
            </a:pPr>
            <a:r>
              <a:rPr lang="en-US" sz="1200" b="1" dirty="0">
                <a:solidFill>
                  <a:srgbClr val="2D3748"/>
                </a:solidFill>
              </a:rPr>
              <a:t>Table</a:t>
            </a:r>
            <a:endParaRPr lang="en-US" sz="1200" dirty="0"/>
          </a:p>
          <a:p>
            <a:pPr marL="0" indent="0">
              <a:spcAft>
                <a:spcPts val="100"/>
              </a:spcAft>
              <a:buNone/>
            </a:pPr>
            <a:r>
              <a:rPr lang="en-US" sz="1000" dirty="0">
                <a:solidFill>
                  <a:srgbClr val="718096"/>
                </a:solidFill>
              </a:rPr>
              <a:t>one sheet for one kind of thing</a:t>
            </a:r>
            <a:endParaRPr lang="en-US" sz="1200" dirty="0"/>
          </a:p>
        </p:txBody>
      </p:sp>
      <p:sp>
        <p:nvSpPr>
          <p:cNvPr id="9" name="dot-64"/>
          <p:cNvSpPr/>
          <p:nvPr/>
        </p:nvSpPr>
        <p:spPr>
          <a:xfrm>
            <a:off x="5897880" y="1536192"/>
            <a:ext cx="82296" cy="82296"/>
          </a:xfrm>
          <a:prstGeom prst="rect">
            <a:avLst/>
          </a:prstGeom>
          <a:solidFill>
            <a:srgbClr val="F59E0B"/>
          </a:solidFill>
          <a:ln w="12700">
            <a:solidFill>
              <a:srgbClr val="F59E0B"/>
            </a:solidFill>
            <a:prstDash val="solid"/>
          </a:ln>
        </p:spPr>
        <p:txBody>
          <a:bodyPr/>
          <a:lstStyle/>
          <a:p>
            <a:endParaRPr lang="en-US"/>
          </a:p>
        </p:txBody>
      </p:sp>
      <p:sp>
        <p:nvSpPr>
          <p:cNvPr id="10" name="item-65"/>
          <p:cNvSpPr txBox="1"/>
          <p:nvPr/>
        </p:nvSpPr>
        <p:spPr>
          <a:xfrm>
            <a:off x="6062472" y="1463040"/>
            <a:ext cx="2807208" cy="457200"/>
          </a:xfrm>
          <a:prstGeom prst="rect">
            <a:avLst/>
          </a:prstGeom>
          <a:noFill/>
          <a:ln/>
        </p:spPr>
        <p:txBody>
          <a:bodyPr wrap="square" lIns="0" tIns="0" rIns="0" bIns="0" rtlCol="0" anchor="t"/>
          <a:lstStyle/>
          <a:p>
            <a:pPr marL="0" indent="0">
              <a:spcAft>
                <a:spcPts val="100"/>
              </a:spcAft>
              <a:buNone/>
            </a:pPr>
            <a:r>
              <a:rPr lang="en-US" sz="1200" b="1" dirty="0">
                <a:solidFill>
                  <a:srgbClr val="2D3748"/>
                </a:solidFill>
              </a:rPr>
              <a:t>Row (record)</a:t>
            </a:r>
            <a:endParaRPr lang="en-US" sz="1200" dirty="0"/>
          </a:p>
          <a:p>
            <a:pPr marL="0" indent="0">
              <a:spcAft>
                <a:spcPts val="100"/>
              </a:spcAft>
              <a:buNone/>
            </a:pPr>
            <a:r>
              <a:rPr lang="en-US" sz="1000" dirty="0">
                <a:solidFill>
                  <a:srgbClr val="718096"/>
                </a:solidFill>
              </a:rPr>
              <a:t>one entry — one reading</a:t>
            </a:r>
            <a:endParaRPr lang="en-US" sz="1200" dirty="0"/>
          </a:p>
        </p:txBody>
      </p:sp>
      <p:sp>
        <p:nvSpPr>
          <p:cNvPr id="11" name="dot-66"/>
          <p:cNvSpPr/>
          <p:nvPr/>
        </p:nvSpPr>
        <p:spPr>
          <a:xfrm>
            <a:off x="5897880" y="2057400"/>
            <a:ext cx="82296" cy="82296"/>
          </a:xfrm>
          <a:prstGeom prst="rect">
            <a:avLst/>
          </a:prstGeom>
          <a:solidFill>
            <a:srgbClr val="F59E0B"/>
          </a:solidFill>
          <a:ln w="12700">
            <a:solidFill>
              <a:srgbClr val="F59E0B"/>
            </a:solidFill>
            <a:prstDash val="solid"/>
          </a:ln>
        </p:spPr>
        <p:txBody>
          <a:bodyPr/>
          <a:lstStyle/>
          <a:p>
            <a:endParaRPr lang="en-US"/>
          </a:p>
        </p:txBody>
      </p:sp>
      <p:sp>
        <p:nvSpPr>
          <p:cNvPr id="12" name="item-67"/>
          <p:cNvSpPr txBox="1"/>
          <p:nvPr/>
        </p:nvSpPr>
        <p:spPr>
          <a:xfrm>
            <a:off x="6062472" y="1984248"/>
            <a:ext cx="2807208" cy="457200"/>
          </a:xfrm>
          <a:prstGeom prst="rect">
            <a:avLst/>
          </a:prstGeom>
          <a:noFill/>
          <a:ln/>
        </p:spPr>
        <p:txBody>
          <a:bodyPr wrap="square" lIns="0" tIns="0" rIns="0" bIns="0" rtlCol="0" anchor="t"/>
          <a:lstStyle/>
          <a:p>
            <a:pPr marL="0" indent="0">
              <a:spcAft>
                <a:spcPts val="100"/>
              </a:spcAft>
              <a:buNone/>
            </a:pPr>
            <a:r>
              <a:rPr lang="en-US" sz="1200" b="1" dirty="0">
                <a:solidFill>
                  <a:srgbClr val="2D3748"/>
                </a:solidFill>
              </a:rPr>
              <a:t>Column (field)</a:t>
            </a:r>
            <a:endParaRPr lang="en-US" sz="1200" dirty="0"/>
          </a:p>
          <a:p>
            <a:pPr marL="0" indent="0">
              <a:spcAft>
                <a:spcPts val="100"/>
              </a:spcAft>
              <a:buNone/>
            </a:pPr>
            <a:r>
              <a:rPr lang="en-US" sz="1000" dirty="0">
                <a:solidFill>
                  <a:srgbClr val="718096"/>
                </a:solidFill>
              </a:rPr>
              <a:t>one detail — e.g. load_kw</a:t>
            </a:r>
            <a:endParaRPr lang="en-US" sz="1200" dirty="0"/>
          </a:p>
        </p:txBody>
      </p:sp>
      <p:sp>
        <p:nvSpPr>
          <p:cNvPr id="13" name="dot-68"/>
          <p:cNvSpPr/>
          <p:nvPr/>
        </p:nvSpPr>
        <p:spPr>
          <a:xfrm>
            <a:off x="5897880" y="2578608"/>
            <a:ext cx="82296" cy="82296"/>
          </a:xfrm>
          <a:prstGeom prst="rect">
            <a:avLst/>
          </a:prstGeom>
          <a:solidFill>
            <a:srgbClr val="F59E0B"/>
          </a:solidFill>
          <a:ln w="12700">
            <a:solidFill>
              <a:srgbClr val="F59E0B"/>
            </a:solidFill>
            <a:prstDash val="solid"/>
          </a:ln>
        </p:spPr>
        <p:txBody>
          <a:bodyPr/>
          <a:lstStyle/>
          <a:p>
            <a:endParaRPr lang="en-US"/>
          </a:p>
        </p:txBody>
      </p:sp>
      <p:sp>
        <p:nvSpPr>
          <p:cNvPr id="14" name="item-69"/>
          <p:cNvSpPr txBox="1"/>
          <p:nvPr/>
        </p:nvSpPr>
        <p:spPr>
          <a:xfrm>
            <a:off x="6062472" y="2505456"/>
            <a:ext cx="2807208" cy="457200"/>
          </a:xfrm>
          <a:prstGeom prst="rect">
            <a:avLst/>
          </a:prstGeom>
          <a:noFill/>
          <a:ln/>
        </p:spPr>
        <p:txBody>
          <a:bodyPr wrap="square" lIns="0" tIns="0" rIns="0" bIns="0" rtlCol="0" anchor="t"/>
          <a:lstStyle/>
          <a:p>
            <a:pPr marL="0" indent="0">
              <a:spcAft>
                <a:spcPts val="100"/>
              </a:spcAft>
              <a:buNone/>
            </a:pPr>
            <a:r>
              <a:rPr lang="en-US" sz="1200" b="1" dirty="0">
                <a:solidFill>
                  <a:srgbClr val="2D3748"/>
                </a:solidFill>
              </a:rPr>
              <a:t>Primary key</a:t>
            </a:r>
            <a:endParaRPr lang="en-US" sz="1200" dirty="0"/>
          </a:p>
          <a:p>
            <a:pPr marL="0" indent="0">
              <a:spcAft>
                <a:spcPts val="100"/>
              </a:spcAft>
              <a:buNone/>
            </a:pPr>
            <a:r>
              <a:rPr lang="en-US" sz="1000" dirty="0">
                <a:solidFill>
                  <a:srgbClr val="718096"/>
                </a:solidFill>
              </a:rPr>
              <a:t>the column that is never repeated</a:t>
            </a:r>
            <a:endParaRPr lang="en-US" sz="1200" dirty="0"/>
          </a:p>
        </p:txBody>
      </p:sp>
      <p:sp>
        <p:nvSpPr>
          <p:cNvPr id="15" name="note-70"/>
          <p:cNvSpPr/>
          <p:nvPr/>
        </p:nvSpPr>
        <p:spPr>
          <a:xfrm>
            <a:off x="274320" y="3108960"/>
            <a:ext cx="8595360" cy="914400"/>
          </a:xfrm>
          <a:prstGeom prst="roundRect">
            <a:avLst>
              <a:gd name="adj" fmla="val 5000"/>
            </a:avLst>
          </a:prstGeom>
          <a:solidFill>
            <a:srgbClr val="FFF8E7"/>
          </a:solidFill>
          <a:ln w="12700">
            <a:solidFill>
              <a:srgbClr val="F6D9A8"/>
            </a:solidFill>
            <a:prstDash val="solid"/>
          </a:ln>
        </p:spPr>
        <p:txBody>
          <a:bodyPr/>
          <a:lstStyle/>
          <a:p>
            <a:endParaRPr lang="en-US"/>
          </a:p>
        </p:txBody>
      </p:sp>
      <p:sp>
        <p:nvSpPr>
          <p:cNvPr id="16" name="note-t-71"/>
          <p:cNvSpPr txBox="1"/>
          <p:nvPr/>
        </p:nvSpPr>
        <p:spPr>
          <a:xfrm>
            <a:off x="411480" y="3154680"/>
            <a:ext cx="8321040" cy="822960"/>
          </a:xfrm>
          <a:prstGeom prst="rect">
            <a:avLst/>
          </a:prstGeom>
          <a:noFill/>
          <a:ln/>
        </p:spPr>
        <p:txBody>
          <a:bodyPr wrap="square" lIns="0" tIns="0" rIns="0" bIns="0" rtlCol="0" anchor="ctr"/>
          <a:lstStyle/>
          <a:p>
            <a:pPr marL="0" indent="0">
              <a:buNone/>
            </a:pPr>
            <a:r>
              <a:rPr lang="en-US" sz="1050" dirty="0">
                <a:solidFill>
                  <a:srgbClr val="2D3748"/>
                </a:solidFill>
              </a:rPr>
              <a:t>Why not keep data in the program? Memory (RAM) is wiped the moment the program stops — that is why Monday's list vanished. A database is an organised file on disk that stays. Think of a school register: one page per class (table), one line per student (row), one column per detail, and a roll number (primary key) that is never repeated.</a:t>
            </a:r>
            <a:endParaRPr lang="en-US" sz="1050" dirty="0"/>
          </a:p>
        </p:txBody>
      </p:sp>
      <p:sp>
        <p:nvSpPr>
          <p:cNvPr id="17" name="evolve-72"/>
          <p:cNvSpPr/>
          <p:nvPr/>
        </p:nvSpPr>
        <p:spPr>
          <a:xfrm>
            <a:off x="274320" y="4498848"/>
            <a:ext cx="8595360" cy="384048"/>
          </a:xfrm>
          <a:prstGeom prst="roundRect">
            <a:avLst>
              <a:gd name="adj" fmla="val 11905"/>
            </a:avLst>
          </a:prstGeom>
          <a:solidFill>
            <a:srgbClr val="EEF2FF"/>
          </a:solidFill>
          <a:ln w="12700">
            <a:solidFill>
              <a:srgbClr val="D5DCF5"/>
            </a:solidFill>
            <a:prstDash val="solid"/>
          </a:ln>
        </p:spPr>
        <p:txBody>
          <a:bodyPr/>
          <a:lstStyle/>
          <a:p>
            <a:endParaRPr lang="en-US"/>
          </a:p>
        </p:txBody>
      </p:sp>
      <p:sp>
        <p:nvSpPr>
          <p:cNvPr id="18" name="evolve-t-73"/>
          <p:cNvSpPr txBox="1"/>
          <p:nvPr/>
        </p:nvSpPr>
        <p:spPr>
          <a:xfrm>
            <a:off x="411480" y="4507992"/>
            <a:ext cx="8321040" cy="365760"/>
          </a:xfrm>
          <a:prstGeom prst="rect">
            <a:avLst/>
          </a:prstGeom>
          <a:noFill/>
          <a:ln/>
        </p:spPr>
        <p:txBody>
          <a:bodyPr wrap="square" lIns="0" tIns="0" rIns="0" bIns="0" rtlCol="0" anchor="ctr"/>
          <a:lstStyle/>
          <a:p>
            <a:pPr marL="0" indent="0">
              <a:buNone/>
            </a:pPr>
            <a:r>
              <a:rPr lang="en-US" sz="1050" b="1" dirty="0">
                <a:solidFill>
                  <a:srgbClr val="2D3748"/>
                </a:solidFill>
              </a:rPr>
              <a:t>The big difference from a spreadsheet:  </a:t>
            </a:r>
            <a:r>
              <a:rPr lang="en-US" sz="1050" dirty="0">
                <a:solidFill>
                  <a:srgbClr val="718096"/>
                </a:solidFill>
              </a:rPr>
              <a:t>you don't scroll — you ASK:  “show me 23 March”  and get the answer instantly</a:t>
            </a:r>
            <a:endParaRPr lang="en-US" sz="1050" dirty="0"/>
          </a:p>
        </p:txBody>
      </p:sp>
      <p:sp>
        <p:nvSpPr>
          <p:cNvPr id="25" name="Slide Number Placeholder 0"/>
          <p:cNvSpPr>
            <a:spLocks noGrp="1"/>
          </p:cNvSpPr>
          <p:nvPr>
            <p:ph type="sldNum" sz="quarter" idx="4294967295"/>
          </p:nvPr>
        </p:nvSpPr>
        <p:spPr>
          <a:xfrm>
            <a:off x="8549640" y="4919472"/>
            <a:ext cx="36576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71809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1097280" y="91440"/>
            <a:ext cx="7772400" cy="347472"/>
          </a:xfrm>
          <a:prstGeom prst="rect">
            <a:avLst/>
          </a:prstGeom>
          <a:noFill/>
          <a:ln/>
        </p:spPr>
        <p:txBody>
          <a:bodyPr wrap="square" lIns="0" tIns="0" rIns="0" bIns="0" rtlCol="0" anchor="ctr"/>
          <a:lstStyle/>
          <a:p>
            <a:pPr marL="0" indent="0" algn="l">
              <a:buNone/>
            </a:pPr>
            <a:r>
              <a:rPr lang="en-US" sz="1300" b="1" dirty="0">
                <a:solidFill>
                  <a:srgbClr val="F59E0B"/>
                </a:solidFill>
              </a:rPr>
              <a:t>WHY NOT JUST EXCEL?  ·  What a database adds</a:t>
            </a:r>
            <a:endParaRPr lang="en-US" sz="1300" dirty="0"/>
          </a:p>
        </p:txBody>
      </p:sp>
      <p:graphicFrame>
        <p:nvGraphicFramePr>
          <p:cNvPr id="7" name="table-74"/>
          <p:cNvGraphicFramePr>
            <a:graphicFrameLocks noGrp="1"/>
          </p:cNvGraphicFramePr>
          <p:nvPr>
            <p:extLst>
              <p:ext uri="{D42A27DB-BD31-4B8C-83A1-F6EECF244321}">
                <p14:modId xmlns:p14="http://schemas.microsoft.com/office/powerpoint/2010/main" val="1579011935"/>
              </p:ext>
            </p:extLst>
          </p:nvPr>
        </p:nvGraphicFramePr>
        <p:xfrm>
          <a:off x="274320" y="713232"/>
          <a:ext cx="8595360" cy="914400"/>
        </p:xfrm>
        <a:graphic>
          <a:graphicData uri="http://schemas.openxmlformats.org/drawingml/2006/table">
            <a:tbl>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tblGrid>
              <a:tr h="365760">
                <a:tc>
                  <a:txBody>
                    <a:bodyPr/>
                    <a:lstStyle/>
                    <a:p>
                      <a:pPr marL="0" indent="0">
                        <a:buNone/>
                      </a:pPr>
                      <a:r>
                        <a:rPr lang="en-US" sz="1000" b="1" dirty="0">
                          <a:solidFill>
                            <a:srgbClr val="FFFFFF"/>
                          </a:solidFill>
                        </a:rPr>
                        <a:t>What we need</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D3748"/>
                    </a:solidFill>
                  </a:tcPr>
                </a:tc>
                <a:tc>
                  <a:txBody>
                    <a:bodyPr/>
                    <a:lstStyle/>
                    <a:p>
                      <a:pPr marL="0" indent="0">
                        <a:buNone/>
                      </a:pPr>
                      <a:r>
                        <a:rPr lang="en-US" sz="1000" b="1" dirty="0">
                          <a:solidFill>
                            <a:srgbClr val="FFFFFF"/>
                          </a:solidFill>
                        </a:rPr>
                        <a:t>An Excel / CSV file</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D3748"/>
                    </a:solidFill>
                  </a:tcPr>
                </a:tc>
                <a:tc>
                  <a:txBody>
                    <a:bodyPr/>
                    <a:lstStyle/>
                    <a:p>
                      <a:pPr marL="0" indent="0">
                        <a:buNone/>
                      </a:pPr>
                      <a:r>
                        <a:rPr lang="en-US" sz="1000" b="1" dirty="0">
                          <a:solidFill>
                            <a:srgbClr val="FFFFFF"/>
                          </a:solidFill>
                        </a:rPr>
                        <a:t>A database</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D3748"/>
                    </a:solidFill>
                  </a:tcPr>
                </a:tc>
                <a:extLst>
                  <a:ext uri="{0D108BD9-81ED-4DB2-BD59-A6C34878D82A}">
                    <a16:rowId xmlns:a16="http://schemas.microsoft.com/office/drawing/2014/main" val="10000"/>
                  </a:ext>
                </a:extLst>
              </a:tr>
              <a:tr h="365760">
                <a:tc>
                  <a:txBody>
                    <a:bodyPr/>
                    <a:lstStyle/>
                    <a:p>
                      <a:pPr marL="0" indent="0">
                        <a:buNone/>
                      </a:pPr>
                      <a:r>
                        <a:rPr lang="en-US" sz="1000" b="1" dirty="0">
                          <a:solidFill>
                            <a:srgbClr val="2D3748"/>
                          </a:solidFill>
                        </a:rPr>
                        <a:t>Find 23 March, 13:00 in 5,664 rows</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scroll, filter by hand</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F6E56"/>
                          </a:solidFill>
                        </a:rPr>
                        <a:t>one question — the answer in milliseconds</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buNone/>
                      </a:pPr>
                      <a:r>
                        <a:rPr lang="en-US" sz="1000" b="1" dirty="0">
                          <a:solidFill>
                            <a:srgbClr val="2D3748"/>
                          </a:solidFill>
                        </a:rPr>
                        <a:t>Many people (and programs) at once</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file gets locked, or copies go out of date</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F6E56"/>
                          </a:solidFill>
                        </a:rPr>
                        <a:t>everyone reads and writes the same data safely</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buNone/>
                      </a:pPr>
                      <a:r>
                        <a:rPr lang="en-US" sz="1000" b="1" dirty="0">
                          <a:solidFill>
                            <a:srgbClr val="2D3748"/>
                          </a:solidFill>
                        </a:rPr>
                        <a:t>Our API uses the data</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awkward — files are made for people</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F6E56"/>
                          </a:solidFill>
                        </a:rPr>
                        <a:t>built for programs to ask and save</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buNone/>
                      </a:pPr>
                      <a:r>
                        <a:rPr lang="en-US" sz="1000" b="1" dirty="0">
                          <a:solidFill>
                            <a:srgbClr val="2D3748"/>
                          </a:solidFill>
                        </a:rPr>
                        <a:t>Protect against mistakes</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anyone can type text into a number cell</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F6E56"/>
                          </a:solidFill>
                        </a:rPr>
                        <a:t>rules: numbers stay numbers, keys stay unique</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5760">
                <a:tc>
                  <a:txBody>
                    <a:bodyPr/>
                    <a:lstStyle/>
                    <a:p>
                      <a:pPr marL="0" indent="0">
                        <a:buNone/>
                      </a:pPr>
                      <a:r>
                        <a:rPr lang="en-US" sz="1000" b="1" dirty="0">
                          <a:solidFill>
                            <a:srgbClr val="2D3748"/>
                          </a:solidFill>
                        </a:rPr>
                        <a:t>Survive a crash</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unsaved work is lost</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F6E56"/>
                          </a:solidFill>
                        </a:rPr>
                        <a:t>a save (commit) is all-or-nothing — never half-written</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5760">
                <a:tc>
                  <a:txBody>
                    <a:bodyPr/>
                    <a:lstStyle/>
                    <a:p>
                      <a:pPr marL="0" indent="0">
                        <a:buNone/>
                      </a:pPr>
                      <a:r>
                        <a:rPr lang="en-US" sz="1000" b="1" dirty="0">
                          <a:solidFill>
                            <a:srgbClr val="2D3748"/>
                          </a:solidFill>
                        </a:rPr>
                        <a:t>Grow</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slows down past ~1 million rows</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F6E56"/>
                          </a:solidFill>
                        </a:rPr>
                        <a:t>millions of rows are normal</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4" name="note-75"/>
          <p:cNvSpPr/>
          <p:nvPr/>
        </p:nvSpPr>
        <p:spPr>
          <a:xfrm>
            <a:off x="274320" y="3429000"/>
            <a:ext cx="8595360" cy="777240"/>
          </a:xfrm>
          <a:prstGeom prst="roundRect">
            <a:avLst>
              <a:gd name="adj" fmla="val 5882"/>
            </a:avLst>
          </a:prstGeom>
          <a:solidFill>
            <a:srgbClr val="FEF3C7"/>
          </a:solidFill>
          <a:ln w="12700">
            <a:solidFill>
              <a:srgbClr val="F6D9A8"/>
            </a:solidFill>
            <a:prstDash val="solid"/>
          </a:ln>
        </p:spPr>
        <p:txBody>
          <a:bodyPr/>
          <a:lstStyle/>
          <a:p>
            <a:endParaRPr lang="en-US"/>
          </a:p>
        </p:txBody>
      </p:sp>
      <p:sp>
        <p:nvSpPr>
          <p:cNvPr id="5" name="note-t-76"/>
          <p:cNvSpPr txBox="1"/>
          <p:nvPr/>
        </p:nvSpPr>
        <p:spPr>
          <a:xfrm>
            <a:off x="411480" y="3474720"/>
            <a:ext cx="8321040" cy="685800"/>
          </a:xfrm>
          <a:prstGeom prst="rect">
            <a:avLst/>
          </a:prstGeom>
          <a:noFill/>
          <a:ln/>
        </p:spPr>
        <p:txBody>
          <a:bodyPr wrap="square" lIns="0" tIns="0" rIns="0" bIns="0" rtlCol="0" anchor="ctr"/>
          <a:lstStyle/>
          <a:p>
            <a:pPr marL="0" indent="0">
              <a:buNone/>
            </a:pPr>
            <a:r>
              <a:rPr lang="en-US" sz="1050" dirty="0">
                <a:solidFill>
                  <a:srgbClr val="2D3748"/>
                </a:solidFill>
              </a:rPr>
              <a:t>We use SQLite — a complete database in ONE file (energy.db). Nothing to install: it comes with Python. The same code later works with MySQL or PostgreSQL, once their driver and server are set up.</a:t>
            </a:r>
            <a:endParaRPr lang="en-US" sz="1050" dirty="0"/>
          </a:p>
        </p:txBody>
      </p:sp>
      <p:sp>
        <p:nvSpPr>
          <p:cNvPr id="6" name="evolve-77"/>
          <p:cNvSpPr/>
          <p:nvPr/>
        </p:nvSpPr>
        <p:spPr>
          <a:xfrm>
            <a:off x="274320" y="4498848"/>
            <a:ext cx="8595360" cy="384048"/>
          </a:xfrm>
          <a:prstGeom prst="roundRect">
            <a:avLst>
              <a:gd name="adj" fmla="val 11905"/>
            </a:avLst>
          </a:prstGeom>
          <a:solidFill>
            <a:srgbClr val="EEF2FF"/>
          </a:solidFill>
          <a:ln w="12700">
            <a:solidFill>
              <a:srgbClr val="D5DCF5"/>
            </a:solidFill>
            <a:prstDash val="solid"/>
          </a:ln>
        </p:spPr>
        <p:txBody>
          <a:bodyPr/>
          <a:lstStyle/>
          <a:p>
            <a:endParaRPr lang="en-US"/>
          </a:p>
        </p:txBody>
      </p:sp>
      <p:sp>
        <p:nvSpPr>
          <p:cNvPr id="3" name="evolve-t-78"/>
          <p:cNvSpPr txBox="1"/>
          <p:nvPr/>
        </p:nvSpPr>
        <p:spPr>
          <a:xfrm>
            <a:off x="411480" y="4507992"/>
            <a:ext cx="8321040" cy="365760"/>
          </a:xfrm>
          <a:prstGeom prst="rect">
            <a:avLst/>
          </a:prstGeom>
          <a:noFill/>
          <a:ln/>
        </p:spPr>
        <p:txBody>
          <a:bodyPr wrap="square" lIns="0" tIns="0" rIns="0" bIns="0" rtlCol="0" anchor="ctr"/>
          <a:lstStyle/>
          <a:p>
            <a:pPr marL="0" indent="0">
              <a:buNone/>
            </a:pPr>
            <a:r>
              <a:rPr lang="en-US" sz="1050" b="1" dirty="0">
                <a:solidFill>
                  <a:srgbClr val="2D3748"/>
                </a:solidFill>
              </a:rPr>
              <a:t>In one line:  </a:t>
            </a:r>
            <a:r>
              <a:rPr lang="en-US" sz="1050" dirty="0">
                <a:solidFill>
                  <a:srgbClr val="718096"/>
                </a:solidFill>
              </a:rPr>
              <a:t>a CSV is for storing data; a database is for storing data AND asking questions about it</a:t>
            </a:r>
            <a:endParaRPr lang="en-US" sz="1050" dirty="0"/>
          </a:p>
        </p:txBody>
      </p:sp>
      <p:sp>
        <p:nvSpPr>
          <p:cNvPr id="25" name="Slide Number Placeholder 0"/>
          <p:cNvSpPr>
            <a:spLocks noGrp="1"/>
          </p:cNvSpPr>
          <p:nvPr>
            <p:ph type="sldNum" sz="quarter" idx="4294967295"/>
          </p:nvPr>
        </p:nvSpPr>
        <p:spPr>
          <a:xfrm>
            <a:off x="8549640" y="4919472"/>
            <a:ext cx="36576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71809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1097280" y="91440"/>
            <a:ext cx="7772400" cy="347472"/>
          </a:xfrm>
          <a:prstGeom prst="rect">
            <a:avLst/>
          </a:prstGeom>
          <a:noFill/>
          <a:ln/>
        </p:spPr>
        <p:txBody>
          <a:bodyPr wrap="square" lIns="0" tIns="0" rIns="0" bIns="0" rtlCol="0" anchor="ctr"/>
          <a:lstStyle/>
          <a:p>
            <a:pPr marL="0" indent="0" algn="l">
              <a:buNone/>
            </a:pPr>
            <a:r>
              <a:rPr lang="en-US" sz="1300" b="1" dirty="0">
                <a:solidFill>
                  <a:srgbClr val="F59E0B"/>
                </a:solidFill>
              </a:rPr>
              <a:t>OUR DATA  ·  Two months of the college's main substation</a:t>
            </a:r>
            <a:endParaRPr lang="en-US" sz="1300" dirty="0"/>
          </a:p>
        </p:txBody>
      </p:sp>
      <p:graphicFrame>
        <p:nvGraphicFramePr>
          <p:cNvPr id="8" name="table-79"/>
          <p:cNvGraphicFramePr>
            <a:graphicFrameLocks noGrp="1"/>
          </p:cNvGraphicFramePr>
          <p:nvPr>
            <p:extLst>
              <p:ext uri="{D42A27DB-BD31-4B8C-83A1-F6EECF244321}">
                <p14:modId xmlns:p14="http://schemas.microsoft.com/office/powerpoint/2010/main" val="1579011935"/>
              </p:ext>
            </p:extLst>
          </p:nvPr>
        </p:nvGraphicFramePr>
        <p:xfrm>
          <a:off x="274320" y="713232"/>
          <a:ext cx="8595360" cy="914400"/>
        </p:xfrm>
        <a:graphic>
          <a:graphicData uri="http://schemas.openxmlformats.org/drawingml/2006/table">
            <a:tbl>
              <a:tblPr/>
              <a:tblGrid>
                <a:gridCol w="146304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tblGrid>
              <a:tr h="329184">
                <a:tc>
                  <a:txBody>
                    <a:bodyPr/>
                    <a:lstStyle/>
                    <a:p>
                      <a:pPr marL="0" indent="0">
                        <a:buNone/>
                      </a:pPr>
                      <a:r>
                        <a:rPr lang="en-US" sz="1000" b="1" dirty="0">
                          <a:solidFill>
                            <a:srgbClr val="FFFFFF"/>
                          </a:solidFill>
                        </a:rPr>
                        <a:t>Column in the CSV</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D3748"/>
                    </a:solidFill>
                  </a:tcPr>
                </a:tc>
                <a:tc>
                  <a:txBody>
                    <a:bodyPr/>
                    <a:lstStyle/>
                    <a:p>
                      <a:pPr marL="0" indent="0">
                        <a:buNone/>
                      </a:pPr>
                      <a:r>
                        <a:rPr lang="en-US" sz="1000" b="1" dirty="0">
                          <a:solidFill>
                            <a:srgbClr val="FFFFFF"/>
                          </a:solidFill>
                        </a:rPr>
                        <a:t>What it means, in plain words</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D3748"/>
                    </a:solidFill>
                  </a:tcPr>
                </a:tc>
                <a:tc>
                  <a:txBody>
                    <a:bodyPr/>
                    <a:lstStyle/>
                    <a:p>
                      <a:pPr marL="0" indent="0">
                        <a:buNone/>
                      </a:pPr>
                      <a:r>
                        <a:rPr lang="en-US" sz="1000" b="1" dirty="0">
                          <a:solidFill>
                            <a:srgbClr val="FFFFFF"/>
                          </a:solidFill>
                        </a:rPr>
                        <a:t>Unit</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D3748"/>
                    </a:solidFill>
                  </a:tcPr>
                </a:tc>
                <a:tc>
                  <a:txBody>
                    <a:bodyPr/>
                    <a:lstStyle/>
                    <a:p>
                      <a:pPr marL="0" indent="0">
                        <a:buNone/>
                      </a:pPr>
                      <a:r>
                        <a:rPr lang="en-US" sz="1000" b="1" dirty="0">
                          <a:solidFill>
                            <a:srgbClr val="FFFFFF"/>
                          </a:solidFill>
                        </a:rPr>
                        <a:t>23 Mar, 13:00</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D3748"/>
                    </a:solidFill>
                  </a:tcPr>
                </a:tc>
                <a:extLst>
                  <a:ext uri="{0D108BD9-81ED-4DB2-BD59-A6C34878D82A}">
                    <a16:rowId xmlns:a16="http://schemas.microsoft.com/office/drawing/2014/main" val="10000"/>
                  </a:ext>
                </a:extLst>
              </a:tr>
              <a:tr h="329184">
                <a:tc>
                  <a:txBody>
                    <a:bodyPr/>
                    <a:lstStyle/>
                    <a:p>
                      <a:pPr marL="0" indent="0">
                        <a:buNone/>
                      </a:pPr>
                      <a:r>
                        <a:rPr lang="en-US" sz="900" dirty="0">
                          <a:solidFill>
                            <a:srgbClr val="2D3748"/>
                          </a:solidFill>
                          <a:latin typeface="Consolas" pitchFamily="34" charset="0"/>
                          <a:ea typeface="Consolas" pitchFamily="34" charset="-122"/>
                          <a:cs typeface="Consolas" pitchFamily="34" charset="-120"/>
                        </a:rPr>
                        <a:t>timestamp</a:t>
                      </a:r>
                      <a:endParaRPr lang="en-US" sz="900" dirty="0">
                        <a:latin typeface="Consolas" charset="0"/>
                        <a:ea typeface="Consolas" charset="0"/>
                        <a:cs typeface="Consolas" charset="0"/>
                      </a:endParaRPr>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when the reading was taken — one every 15 minutes</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date + time</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2026-03-23 13:00</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buNone/>
                      </a:pPr>
                      <a:r>
                        <a:rPr lang="en-US" sz="900" dirty="0">
                          <a:solidFill>
                            <a:srgbClr val="2D3748"/>
                          </a:solidFill>
                          <a:latin typeface="Consolas" pitchFamily="34" charset="0"/>
                          <a:ea typeface="Consolas" pitchFamily="34" charset="-122"/>
                          <a:cs typeface="Consolas" pitchFamily="34" charset="-120"/>
                        </a:rPr>
                        <a:t>load_kw</a:t>
                      </a:r>
                      <a:endParaRPr lang="en-US" sz="900" dirty="0">
                        <a:latin typeface="Consolas" charset="0"/>
                        <a:ea typeface="Consolas" charset="0"/>
                        <a:cs typeface="Consolas" charset="0"/>
                      </a:endParaRPr>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how much power the whole campus is using right now</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kW</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859.0</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9184">
                <a:tc>
                  <a:txBody>
                    <a:bodyPr/>
                    <a:lstStyle/>
                    <a:p>
                      <a:pPr marL="0" indent="0">
                        <a:buNone/>
                      </a:pPr>
                      <a:r>
                        <a:rPr lang="en-US" sz="900" dirty="0">
                          <a:solidFill>
                            <a:srgbClr val="2D3748"/>
                          </a:solidFill>
                          <a:latin typeface="Consolas" pitchFamily="34" charset="0"/>
                          <a:ea typeface="Consolas" pitchFamily="34" charset="-122"/>
                          <a:cs typeface="Consolas" pitchFamily="34" charset="-120"/>
                        </a:rPr>
                        <a:t>solar_kw</a:t>
                      </a:r>
                      <a:endParaRPr lang="en-US" sz="900" dirty="0">
                        <a:latin typeface="Consolas" charset="0"/>
                        <a:ea typeface="Consolas" charset="0"/>
                        <a:cs typeface="Consolas" charset="0"/>
                      </a:endParaRPr>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how much the rooftop solar panels are producing</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kW</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236.9</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buNone/>
                      </a:pPr>
                      <a:r>
                        <a:rPr lang="en-US" sz="900" dirty="0">
                          <a:solidFill>
                            <a:srgbClr val="2D3748"/>
                          </a:solidFill>
                          <a:latin typeface="Consolas" pitchFamily="34" charset="0"/>
                          <a:ea typeface="Consolas" pitchFamily="34" charset="-122"/>
                          <a:cs typeface="Consolas" pitchFamily="34" charset="-120"/>
                        </a:rPr>
                        <a:t>irradiance_wm2</a:t>
                      </a:r>
                      <a:endParaRPr lang="en-US" sz="900" dirty="0">
                        <a:latin typeface="Consolas" charset="0"/>
                        <a:ea typeface="Consolas" charset="0"/>
                        <a:cs typeface="Consolas" charset="0"/>
                      </a:endParaRPr>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how strong the sunshine is on the panels</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W/m²</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632.5</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29184">
                <a:tc>
                  <a:txBody>
                    <a:bodyPr/>
                    <a:lstStyle/>
                    <a:p>
                      <a:pPr marL="0" indent="0">
                        <a:buNone/>
                      </a:pPr>
                      <a:r>
                        <a:rPr lang="en-US" sz="900" dirty="0">
                          <a:solidFill>
                            <a:srgbClr val="2D3748"/>
                          </a:solidFill>
                          <a:latin typeface="Consolas" pitchFamily="34" charset="0"/>
                          <a:ea typeface="Consolas" pitchFamily="34" charset="-122"/>
                          <a:cs typeface="Consolas" pitchFamily="34" charset="-120"/>
                        </a:rPr>
                        <a:t>ambient_c</a:t>
                      </a:r>
                      <a:endParaRPr lang="en-US" sz="900" dirty="0">
                        <a:latin typeface="Consolas" charset="0"/>
                        <a:ea typeface="Consolas" charset="0"/>
                        <a:cs typeface="Consolas" charset="0"/>
                      </a:endParaRPr>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the outside air temperature</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°C</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37.5</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4" name="stat-80"/>
          <p:cNvSpPr/>
          <p:nvPr/>
        </p:nvSpPr>
        <p:spPr>
          <a:xfrm>
            <a:off x="274320" y="2880360"/>
            <a:ext cx="2057400" cy="822960"/>
          </a:xfrm>
          <a:prstGeom prst="roundRect">
            <a:avLst>
              <a:gd name="adj" fmla="val 6667"/>
            </a:avLst>
          </a:prstGeom>
          <a:solidFill>
            <a:srgbClr val="1A2535"/>
          </a:solidFill>
          <a:ln w="12700">
            <a:solidFill>
              <a:srgbClr val="1A2535"/>
            </a:solidFill>
            <a:prstDash val="solid"/>
          </a:ln>
        </p:spPr>
        <p:txBody>
          <a:bodyPr/>
          <a:lstStyle/>
          <a:p>
            <a:endParaRPr lang="en-US"/>
          </a:p>
        </p:txBody>
      </p:sp>
      <p:sp>
        <p:nvSpPr>
          <p:cNvPr id="5" name="stat-t-81"/>
          <p:cNvSpPr txBox="1"/>
          <p:nvPr/>
        </p:nvSpPr>
        <p:spPr>
          <a:xfrm>
            <a:off x="274320" y="2880360"/>
            <a:ext cx="2057400" cy="822960"/>
          </a:xfrm>
          <a:prstGeom prst="rect">
            <a:avLst/>
          </a:prstGeom>
          <a:noFill/>
          <a:ln/>
        </p:spPr>
        <p:txBody>
          <a:bodyPr wrap="square" lIns="0" tIns="0" rIns="0" bIns="0" rtlCol="0" anchor="ctr"/>
          <a:lstStyle/>
          <a:p>
            <a:pPr marL="0" indent="0" algn="ctr">
              <a:buNone/>
            </a:pPr>
            <a:r>
              <a:rPr lang="en-US" sz="2000" b="1" dirty="0">
                <a:solidFill>
                  <a:srgbClr val="F59E0B"/>
                </a:solidFill>
              </a:rPr>
              <a:t>5,664</a:t>
            </a:r>
            <a:endParaRPr lang="en-US" sz="2000" dirty="0"/>
          </a:p>
          <a:p>
            <a:pPr marL="0" indent="0" algn="ctr">
              <a:buNone/>
            </a:pPr>
            <a:r>
              <a:rPr lang="en-US" sz="950" dirty="0">
                <a:solidFill>
                  <a:srgbClr val="E2E8F0"/>
                </a:solidFill>
              </a:rPr>
              <a:t>rows</a:t>
            </a:r>
            <a:endParaRPr lang="en-US" sz="2000" dirty="0"/>
          </a:p>
        </p:txBody>
      </p:sp>
      <p:sp>
        <p:nvSpPr>
          <p:cNvPr id="6" name="stat-82"/>
          <p:cNvSpPr/>
          <p:nvPr/>
        </p:nvSpPr>
        <p:spPr>
          <a:xfrm>
            <a:off x="2450592" y="2880360"/>
            <a:ext cx="2057400" cy="822960"/>
          </a:xfrm>
          <a:prstGeom prst="roundRect">
            <a:avLst>
              <a:gd name="adj" fmla="val 6667"/>
            </a:avLst>
          </a:prstGeom>
          <a:solidFill>
            <a:srgbClr val="1A2535"/>
          </a:solidFill>
          <a:ln w="12700">
            <a:solidFill>
              <a:srgbClr val="1A2535"/>
            </a:solidFill>
            <a:prstDash val="solid"/>
          </a:ln>
        </p:spPr>
        <p:txBody>
          <a:bodyPr/>
          <a:lstStyle/>
          <a:p>
            <a:endParaRPr lang="en-US"/>
          </a:p>
        </p:txBody>
      </p:sp>
      <p:sp>
        <p:nvSpPr>
          <p:cNvPr id="7" name="stat-t-83"/>
          <p:cNvSpPr txBox="1"/>
          <p:nvPr/>
        </p:nvSpPr>
        <p:spPr>
          <a:xfrm>
            <a:off x="2450592" y="2880360"/>
            <a:ext cx="2057400" cy="822960"/>
          </a:xfrm>
          <a:prstGeom prst="rect">
            <a:avLst/>
          </a:prstGeom>
          <a:noFill/>
          <a:ln/>
        </p:spPr>
        <p:txBody>
          <a:bodyPr wrap="square" lIns="0" tIns="0" rIns="0" bIns="0" rtlCol="0" anchor="ctr"/>
          <a:lstStyle/>
          <a:p>
            <a:pPr marL="0" indent="0" algn="ctr">
              <a:buNone/>
            </a:pPr>
            <a:r>
              <a:rPr lang="en-US" sz="2000" b="1" dirty="0">
                <a:solidFill>
                  <a:srgbClr val="F59E0B"/>
                </a:solidFill>
              </a:rPr>
              <a:t>15 min</a:t>
            </a:r>
            <a:endParaRPr lang="en-US" sz="2000" dirty="0"/>
          </a:p>
          <a:p>
            <a:pPr marL="0" indent="0" algn="ctr">
              <a:buNone/>
            </a:pPr>
            <a:r>
              <a:rPr lang="en-US" sz="950" dirty="0">
                <a:solidFill>
                  <a:srgbClr val="E2E8F0"/>
                </a:solidFill>
              </a:rPr>
              <a:t>between readings</a:t>
            </a:r>
            <a:endParaRPr lang="en-US" sz="2000" dirty="0"/>
          </a:p>
        </p:txBody>
      </p:sp>
      <p:sp>
        <p:nvSpPr>
          <p:cNvPr id="3" name="stat-84"/>
          <p:cNvSpPr/>
          <p:nvPr/>
        </p:nvSpPr>
        <p:spPr>
          <a:xfrm>
            <a:off x="4626864" y="2880360"/>
            <a:ext cx="2057400" cy="822960"/>
          </a:xfrm>
          <a:prstGeom prst="roundRect">
            <a:avLst>
              <a:gd name="adj" fmla="val 6667"/>
            </a:avLst>
          </a:prstGeom>
          <a:solidFill>
            <a:srgbClr val="1A2535"/>
          </a:solidFill>
          <a:ln w="12700">
            <a:solidFill>
              <a:srgbClr val="1A2535"/>
            </a:solidFill>
            <a:prstDash val="solid"/>
          </a:ln>
        </p:spPr>
        <p:txBody>
          <a:bodyPr/>
          <a:lstStyle/>
          <a:p>
            <a:endParaRPr lang="en-US"/>
          </a:p>
        </p:txBody>
      </p:sp>
      <p:sp>
        <p:nvSpPr>
          <p:cNvPr id="9" name="stat-t-85"/>
          <p:cNvSpPr txBox="1"/>
          <p:nvPr/>
        </p:nvSpPr>
        <p:spPr>
          <a:xfrm>
            <a:off x="4626864" y="2880360"/>
            <a:ext cx="2057400" cy="822960"/>
          </a:xfrm>
          <a:prstGeom prst="rect">
            <a:avLst/>
          </a:prstGeom>
          <a:noFill/>
          <a:ln/>
        </p:spPr>
        <p:txBody>
          <a:bodyPr wrap="square" lIns="0" tIns="0" rIns="0" bIns="0" rtlCol="0" anchor="ctr"/>
          <a:lstStyle/>
          <a:p>
            <a:pPr marL="0" indent="0" algn="ctr">
              <a:buNone/>
            </a:pPr>
            <a:r>
              <a:rPr lang="en-US" sz="2000" b="1" dirty="0">
                <a:solidFill>
                  <a:srgbClr val="F59E0B"/>
                </a:solidFill>
              </a:rPr>
              <a:t>59 days</a:t>
            </a:r>
            <a:endParaRPr lang="en-US" sz="2000" dirty="0"/>
          </a:p>
          <a:p>
            <a:pPr marL="0" indent="0" algn="ctr">
              <a:buNone/>
            </a:pPr>
            <a:r>
              <a:rPr lang="en-US" sz="950" dirty="0">
                <a:solidFill>
                  <a:srgbClr val="E2E8F0"/>
                </a:solidFill>
              </a:rPr>
              <a:t>1 Feb – 31 Mar 2026</a:t>
            </a:r>
            <a:endParaRPr lang="en-US" sz="2000" dirty="0"/>
          </a:p>
        </p:txBody>
      </p:sp>
      <p:sp>
        <p:nvSpPr>
          <p:cNvPr id="10" name="stat-86"/>
          <p:cNvSpPr/>
          <p:nvPr/>
        </p:nvSpPr>
        <p:spPr>
          <a:xfrm>
            <a:off x="6803136" y="2880360"/>
            <a:ext cx="2057400" cy="822960"/>
          </a:xfrm>
          <a:prstGeom prst="roundRect">
            <a:avLst>
              <a:gd name="adj" fmla="val 6667"/>
            </a:avLst>
          </a:prstGeom>
          <a:solidFill>
            <a:srgbClr val="1A2535"/>
          </a:solidFill>
          <a:ln w="12700">
            <a:solidFill>
              <a:srgbClr val="1A2535"/>
            </a:solidFill>
            <a:prstDash val="solid"/>
          </a:ln>
        </p:spPr>
        <p:txBody>
          <a:bodyPr/>
          <a:lstStyle/>
          <a:p>
            <a:endParaRPr lang="en-US"/>
          </a:p>
        </p:txBody>
      </p:sp>
      <p:sp>
        <p:nvSpPr>
          <p:cNvPr id="11" name="stat-t-87"/>
          <p:cNvSpPr txBox="1"/>
          <p:nvPr/>
        </p:nvSpPr>
        <p:spPr>
          <a:xfrm>
            <a:off x="6803136" y="2880360"/>
            <a:ext cx="2057400" cy="822960"/>
          </a:xfrm>
          <a:prstGeom prst="rect">
            <a:avLst/>
          </a:prstGeom>
          <a:noFill/>
          <a:ln/>
        </p:spPr>
        <p:txBody>
          <a:bodyPr wrap="square" lIns="0" tIns="0" rIns="0" bIns="0" rtlCol="0" anchor="ctr"/>
          <a:lstStyle/>
          <a:p>
            <a:pPr marL="0" indent="0" algn="ctr">
              <a:buNone/>
            </a:pPr>
            <a:r>
              <a:rPr lang="en-US" sz="2000" b="1" dirty="0">
                <a:solidFill>
                  <a:srgbClr val="F59E0B"/>
                </a:solidFill>
              </a:rPr>
              <a:t>96</a:t>
            </a:r>
            <a:endParaRPr lang="en-US" sz="2000" dirty="0"/>
          </a:p>
          <a:p>
            <a:pPr marL="0" indent="0" algn="ctr">
              <a:buNone/>
            </a:pPr>
            <a:r>
              <a:rPr lang="en-US" sz="950" dirty="0">
                <a:solidFill>
                  <a:srgbClr val="E2E8F0"/>
                </a:solidFill>
              </a:rPr>
              <a:t>readings a day</a:t>
            </a:r>
            <a:endParaRPr lang="en-US" sz="2000" dirty="0"/>
          </a:p>
        </p:txBody>
      </p:sp>
      <p:sp>
        <p:nvSpPr>
          <p:cNvPr id="12" name="connect"/>
          <p:cNvSpPr txBox="1"/>
          <p:nvPr/>
        </p:nvSpPr>
        <p:spPr>
          <a:xfrm>
            <a:off x="274320" y="3822192"/>
            <a:ext cx="8595360" cy="502920"/>
          </a:xfrm>
          <a:prstGeom prst="rect">
            <a:avLst/>
          </a:prstGeom>
          <a:noFill/>
          <a:ln/>
        </p:spPr>
        <p:txBody>
          <a:bodyPr wrap="square" lIns="0" tIns="0" rIns="0" bIns="0" rtlCol="0" anchor="ctr"/>
          <a:lstStyle/>
          <a:p>
            <a:pPr marL="0" indent="0">
              <a:buNone/>
            </a:pPr>
            <a:r>
              <a:rPr lang="en-US" sz="1000" dirty="0">
                <a:solidFill>
                  <a:srgbClr val="2D3748"/>
                </a:solidFill>
              </a:rPr>
              <a:t>How the columns connect:  more sunshine → more solar  ·  hotter air → more air-conditioning → more load  ·  Sundays, Holi (4 Mar), Ugadi (19 Mar) and exam week → less load</a:t>
            </a:r>
            <a:endParaRPr lang="en-US" sz="1000" dirty="0"/>
          </a:p>
        </p:txBody>
      </p:sp>
      <p:sp>
        <p:nvSpPr>
          <p:cNvPr id="13" name="lab-88"/>
          <p:cNvSpPr/>
          <p:nvPr/>
        </p:nvSpPr>
        <p:spPr>
          <a:xfrm>
            <a:off x="274320" y="4498848"/>
            <a:ext cx="8595360" cy="384048"/>
          </a:xfrm>
          <a:prstGeom prst="roundRect">
            <a:avLst>
              <a:gd name="adj" fmla="val 11905"/>
            </a:avLst>
          </a:prstGeom>
          <a:solidFill>
            <a:srgbClr val="FFF8E7"/>
          </a:solidFill>
          <a:ln w="12700">
            <a:solidFill>
              <a:srgbClr val="F6D9A8"/>
            </a:solidFill>
            <a:prstDash val="solid"/>
          </a:ln>
        </p:spPr>
        <p:txBody>
          <a:bodyPr/>
          <a:lstStyle/>
          <a:p>
            <a:endParaRPr lang="en-US"/>
          </a:p>
        </p:txBody>
      </p:sp>
      <p:sp>
        <p:nvSpPr>
          <p:cNvPr id="14" name="lab-t-89"/>
          <p:cNvSpPr txBox="1"/>
          <p:nvPr/>
        </p:nvSpPr>
        <p:spPr>
          <a:xfrm>
            <a:off x="411480" y="4507992"/>
            <a:ext cx="8321040" cy="365760"/>
          </a:xfrm>
          <a:prstGeom prst="rect">
            <a:avLst/>
          </a:prstGeom>
          <a:noFill/>
          <a:ln/>
        </p:spPr>
        <p:txBody>
          <a:bodyPr wrap="square" lIns="0" tIns="0" rIns="0" bIns="0" rtlCol="0" anchor="ctr"/>
          <a:lstStyle/>
          <a:p>
            <a:pPr marL="0" indent="0">
              <a:buNone/>
            </a:pPr>
            <a:r>
              <a:rPr lang="en-US" sz="1050" b="1" dirty="0">
                <a:solidFill>
                  <a:srgbClr val="2D3748"/>
                </a:solidFill>
              </a:rPr>
              <a:t>Note:  </a:t>
            </a:r>
            <a:r>
              <a:rPr lang="en-US" sz="1050" dirty="0">
                <a:solidFill>
                  <a:srgbClr val="2D3748"/>
                </a:solidFill>
              </a:rPr>
              <a:t>the data is generated by data/make_data.py with a fixed seed — realistic, identical for every student, and not anyone's real data</a:t>
            </a:r>
            <a:endParaRPr lang="en-US" sz="1050" dirty="0"/>
          </a:p>
        </p:txBody>
      </p:sp>
      <p:sp>
        <p:nvSpPr>
          <p:cNvPr id="25" name="Slide Number Placeholder 0"/>
          <p:cNvSpPr>
            <a:spLocks noGrp="1"/>
          </p:cNvSpPr>
          <p:nvPr>
            <p:ph type="sldNum" sz="quarter" idx="4294967295"/>
          </p:nvPr>
        </p:nvSpPr>
        <p:spPr>
          <a:xfrm>
            <a:off x="8549640" y="4919472"/>
            <a:ext cx="36576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71809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1097280" y="91440"/>
            <a:ext cx="7772400" cy="347472"/>
          </a:xfrm>
          <a:prstGeom prst="rect">
            <a:avLst/>
          </a:prstGeom>
          <a:noFill/>
          <a:ln/>
        </p:spPr>
        <p:txBody>
          <a:bodyPr wrap="square" lIns="0" tIns="0" rIns="0" bIns="0" rtlCol="0" anchor="ctr"/>
          <a:lstStyle/>
          <a:p>
            <a:pPr marL="0" indent="0" algn="l">
              <a:buNone/>
            </a:pPr>
            <a:r>
              <a:rPr lang="en-US" sz="1300" b="1" dirty="0">
                <a:solidFill>
                  <a:srgbClr val="F59E0B"/>
                </a:solidFill>
              </a:rPr>
              <a:t>SQL  ·  Asking the database in sentences</a:t>
            </a:r>
            <a:endParaRPr lang="en-US" sz="1300" dirty="0"/>
          </a:p>
        </p:txBody>
      </p:sp>
      <p:graphicFrame>
        <p:nvGraphicFramePr>
          <p:cNvPr id="9" name="table-90"/>
          <p:cNvGraphicFramePr>
            <a:graphicFrameLocks noGrp="1"/>
          </p:cNvGraphicFramePr>
          <p:nvPr>
            <p:extLst>
              <p:ext uri="{D42A27DB-BD31-4B8C-83A1-F6EECF244321}">
                <p14:modId xmlns:p14="http://schemas.microsoft.com/office/powerpoint/2010/main" val="1579011935"/>
              </p:ext>
            </p:extLst>
          </p:nvPr>
        </p:nvGraphicFramePr>
        <p:xfrm>
          <a:off x="274320" y="713232"/>
          <a:ext cx="8595360" cy="914400"/>
        </p:xfrm>
        <a:graphic>
          <a:graphicData uri="http://schemas.openxmlformats.org/drawingml/2006/table">
            <a:tbl>
              <a:tblPr/>
              <a:tblGrid>
                <a:gridCol w="365760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502920">
                <a:tc>
                  <a:txBody>
                    <a:bodyPr/>
                    <a:lstStyle/>
                    <a:p>
                      <a:pPr marL="0" indent="0">
                        <a:buNone/>
                      </a:pPr>
                      <a:r>
                        <a:rPr lang="en-US" sz="1000" b="1" dirty="0">
                          <a:solidFill>
                            <a:srgbClr val="FFFFFF"/>
                          </a:solidFill>
                        </a:rPr>
                        <a:t>SQL — what you type</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D3748"/>
                    </a:solidFill>
                  </a:tcPr>
                </a:tc>
                <a:tc>
                  <a:txBody>
                    <a:bodyPr/>
                    <a:lstStyle/>
                    <a:p>
                      <a:pPr marL="0" indent="0">
                        <a:buNone/>
                      </a:pPr>
                      <a:r>
                        <a:rPr lang="en-US" sz="1000" b="1" dirty="0">
                          <a:solidFill>
                            <a:srgbClr val="FFFFFF"/>
                          </a:solidFill>
                        </a:rPr>
                        <a:t>In plain English</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D3748"/>
                    </a:solidFill>
                  </a:tcPr>
                </a:tc>
                <a:tc>
                  <a:txBody>
                    <a:bodyPr/>
                    <a:lstStyle/>
                    <a:p>
                      <a:pPr marL="0" indent="0">
                        <a:buNone/>
                      </a:pPr>
                      <a:r>
                        <a:rPr lang="en-US" sz="1000" b="1" dirty="0">
                          <a:solidFill>
                            <a:srgbClr val="FFFFFF"/>
                          </a:solidFill>
                        </a:rPr>
                        <a:t>Answer</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D3748"/>
                    </a:solidFill>
                  </a:tcPr>
                </a:tc>
                <a:extLst>
                  <a:ext uri="{0D108BD9-81ED-4DB2-BD59-A6C34878D82A}">
                    <a16:rowId xmlns:a16="http://schemas.microsoft.com/office/drawing/2014/main" val="10000"/>
                  </a:ext>
                </a:extLst>
              </a:tr>
              <a:tr h="502920">
                <a:tc>
                  <a:txBody>
                    <a:bodyPr/>
                    <a:lstStyle/>
                    <a:p>
                      <a:pPr marL="0" indent="0">
                        <a:buNone/>
                      </a:pPr>
                      <a:r>
                        <a:rPr lang="en-US" sz="900" dirty="0">
                          <a:solidFill>
                            <a:srgbClr val="2D3748"/>
                          </a:solidFill>
                          <a:latin typeface="Consolas" pitchFamily="34" charset="0"/>
                          <a:ea typeface="Consolas" pitchFamily="34" charset="-122"/>
                          <a:cs typeface="Consolas" pitchFamily="34" charset="-120"/>
                        </a:rPr>
                        <a:t>CREATE TABLE feeders (name TEXT PRIMARY KEY,</a:t>
                      </a:r>
                      <a:endParaRPr lang="en-US" sz="900" dirty="0">
                        <a:latin typeface="Consolas" charset="0"/>
                        <a:ea typeface="Consolas" charset="0"/>
                        <a:cs typeface="Consolas" charset="0"/>
                      </a:endParaRPr>
                    </a:p>
                    <a:p>
                      <a:pPr marL="0" indent="0">
                        <a:buNone/>
                      </a:pPr>
                      <a:r>
                        <a:rPr lang="en-US" sz="900" dirty="0">
                          <a:solidFill>
                            <a:srgbClr val="2D3748"/>
                          </a:solidFill>
                          <a:latin typeface="Consolas" pitchFamily="34" charset="0"/>
                          <a:ea typeface="Consolas" pitchFamily="34" charset="-122"/>
                          <a:cs typeface="Consolas" pitchFamily="34" charset="-120"/>
                        </a:rPr>
                        <a:t>  v_ll REAL, i_line REAL, pf REAL)</a:t>
                      </a:r>
                      <a:endParaRPr lang="en-US" sz="900" dirty="0">
                        <a:latin typeface="Consolas" charset="0"/>
                        <a:ea typeface="Consolas" charset="0"/>
                        <a:cs typeface="Consolas" charset="0"/>
                      </a:endParaRPr>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Make a new sheet called feeders with four columns; no two feeders share a name</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an empty table</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900" dirty="0">
                          <a:solidFill>
                            <a:srgbClr val="2D3748"/>
                          </a:solidFill>
                          <a:latin typeface="Consolas" pitchFamily="34" charset="0"/>
                          <a:ea typeface="Consolas" pitchFamily="34" charset="-122"/>
                          <a:cs typeface="Consolas" pitchFamily="34" charset="-120"/>
                        </a:rPr>
                        <a:t>INSERT INTO feeders VALUES</a:t>
                      </a:r>
                      <a:endParaRPr lang="en-US" sz="900" dirty="0">
                        <a:latin typeface="Consolas" charset="0"/>
                        <a:ea typeface="Consolas" charset="0"/>
                        <a:cs typeface="Consolas" charset="0"/>
                      </a:endParaRPr>
                    </a:p>
                    <a:p>
                      <a:pPr marL="0" indent="0">
                        <a:buNone/>
                      </a:pPr>
                      <a:r>
                        <a:rPr lang="en-US" sz="900" dirty="0">
                          <a:solidFill>
                            <a:srgbClr val="2D3748"/>
                          </a:solidFill>
                          <a:latin typeface="Consolas" pitchFamily="34" charset="0"/>
                          <a:ea typeface="Consolas" pitchFamily="34" charset="-122"/>
                          <a:cs typeface="Consolas" pitchFamily="34" charset="-120"/>
                        </a:rPr>
                        <a:t>  ('WORKSHOP', 415, 60, 0.72)</a:t>
                      </a:r>
                      <a:endParaRPr lang="en-US" sz="900" dirty="0">
                        <a:latin typeface="Consolas" charset="0"/>
                        <a:ea typeface="Consolas" charset="0"/>
                        <a:cs typeface="Consolas" charset="0"/>
                      </a:endParaRPr>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Add one row</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4 rows after four inserts</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buNone/>
                      </a:pPr>
                      <a:r>
                        <a:rPr lang="en-US" sz="900" dirty="0">
                          <a:solidFill>
                            <a:srgbClr val="2D3748"/>
                          </a:solidFill>
                          <a:latin typeface="Consolas" pitchFamily="34" charset="0"/>
                          <a:ea typeface="Consolas" pitchFamily="34" charset="-122"/>
                          <a:cs typeface="Consolas" pitchFamily="34" charset="-120"/>
                        </a:rPr>
                        <a:t>SELECT name, pf FROM feeders</a:t>
                      </a:r>
                      <a:endParaRPr lang="en-US" sz="900" dirty="0">
                        <a:latin typeface="Consolas" charset="0"/>
                        <a:ea typeface="Consolas" charset="0"/>
                        <a:cs typeface="Consolas" charset="0"/>
                      </a:endParaRPr>
                    </a:p>
                    <a:p>
                      <a:pPr marL="0" indent="0">
                        <a:buNone/>
                      </a:pPr>
                      <a:r>
                        <a:rPr lang="en-US" sz="900" dirty="0">
                          <a:solidFill>
                            <a:srgbClr val="2D3748"/>
                          </a:solidFill>
                          <a:latin typeface="Consolas" pitchFamily="34" charset="0"/>
                          <a:ea typeface="Consolas" pitchFamily="34" charset="-122"/>
                          <a:cs typeface="Consolas" pitchFamily="34" charset="-120"/>
                        </a:rPr>
                        <a:t>  WHERE pf &lt; 0.85 ORDER BY pf</a:t>
                      </a:r>
                      <a:endParaRPr lang="en-US" sz="900" dirty="0">
                        <a:latin typeface="Consolas" charset="0"/>
                        <a:ea typeface="Consolas" charset="0"/>
                        <a:cs typeface="Consolas" charset="0"/>
                      </a:endParaRPr>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Which feeders have a poor power factor? Worst first.</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2D3748"/>
                          </a:solidFill>
                          <a:latin typeface="Consolas" pitchFamily="34" charset="0"/>
                          <a:ea typeface="Consolas" pitchFamily="34" charset="-122"/>
                          <a:cs typeface="Consolas" pitchFamily="34" charset="-120"/>
                        </a:rPr>
                        <a:t>WORKSHOP 0.72</a:t>
                      </a:r>
                      <a:endParaRPr lang="en-US" sz="900" dirty="0">
                        <a:latin typeface="Consolas" charset="0"/>
                        <a:ea typeface="Consolas" charset="0"/>
                        <a:cs typeface="Consolas" charset="0"/>
                      </a:endParaRPr>
                    </a:p>
                    <a:p>
                      <a:pPr marL="0" indent="0">
                        <a:buNone/>
                      </a:pPr>
                      <a:r>
                        <a:rPr lang="en-US" sz="900" dirty="0">
                          <a:solidFill>
                            <a:srgbClr val="2D3748"/>
                          </a:solidFill>
                          <a:latin typeface="Consolas" pitchFamily="34" charset="0"/>
                          <a:ea typeface="Consolas" pitchFamily="34" charset="-122"/>
                          <a:cs typeface="Consolas" pitchFamily="34" charset="-120"/>
                        </a:rPr>
                        <a:t>LABS     0.82</a:t>
                      </a:r>
                      <a:endParaRPr lang="en-US" sz="900" dirty="0">
                        <a:latin typeface="Consolas" charset="0"/>
                        <a:ea typeface="Consolas" charset="0"/>
                        <a:cs typeface="Consolas" charset="0"/>
                      </a:endParaRPr>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buNone/>
                      </a:pPr>
                      <a:r>
                        <a:rPr lang="en-US" sz="900" dirty="0">
                          <a:solidFill>
                            <a:srgbClr val="2D3748"/>
                          </a:solidFill>
                          <a:latin typeface="Consolas" pitchFamily="34" charset="0"/>
                          <a:ea typeface="Consolas" pitchFamily="34" charset="-122"/>
                          <a:cs typeface="Consolas" pitchFamily="34" charset="-120"/>
                        </a:rPr>
                        <a:t>SELECT SUM(i_line) FROM feeders</a:t>
                      </a:r>
                      <a:endParaRPr lang="en-US" sz="900" dirty="0">
                        <a:latin typeface="Consolas" charset="0"/>
                        <a:ea typeface="Consolas" charset="0"/>
                        <a:cs typeface="Consolas" charset="0"/>
                      </a:endParaRPr>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Add up the current on all feeders</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2D3748"/>
                          </a:solidFill>
                          <a:latin typeface="Consolas" pitchFamily="34" charset="0"/>
                          <a:ea typeface="Consolas" pitchFamily="34" charset="-122"/>
                          <a:cs typeface="Consolas" pitchFamily="34" charset="-120"/>
                        </a:rPr>
                        <a:t>375.0 A</a:t>
                      </a:r>
                      <a:endParaRPr lang="en-US" sz="900" dirty="0">
                        <a:latin typeface="Consolas" charset="0"/>
                        <a:ea typeface="Consolas" charset="0"/>
                        <a:cs typeface="Consolas" charset="0"/>
                      </a:endParaRPr>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4" name="note-91"/>
          <p:cNvSpPr/>
          <p:nvPr/>
        </p:nvSpPr>
        <p:spPr>
          <a:xfrm>
            <a:off x="274320" y="3474720"/>
            <a:ext cx="8595360" cy="731520"/>
          </a:xfrm>
          <a:prstGeom prst="roundRect">
            <a:avLst>
              <a:gd name="adj" fmla="val 6250"/>
            </a:avLst>
          </a:prstGeom>
          <a:solidFill>
            <a:srgbClr val="FFF8E7"/>
          </a:solidFill>
          <a:ln w="12700">
            <a:solidFill>
              <a:srgbClr val="F6D9A8"/>
            </a:solidFill>
            <a:prstDash val="solid"/>
          </a:ln>
        </p:spPr>
        <p:txBody>
          <a:bodyPr/>
          <a:lstStyle/>
          <a:p>
            <a:endParaRPr lang="en-US"/>
          </a:p>
        </p:txBody>
      </p:sp>
      <p:sp>
        <p:nvSpPr>
          <p:cNvPr id="5" name="note-t-92"/>
          <p:cNvSpPr txBox="1"/>
          <p:nvPr/>
        </p:nvSpPr>
        <p:spPr>
          <a:xfrm>
            <a:off x="411480" y="3520440"/>
            <a:ext cx="8321040" cy="640080"/>
          </a:xfrm>
          <a:prstGeom prst="rect">
            <a:avLst/>
          </a:prstGeom>
          <a:noFill/>
          <a:ln/>
        </p:spPr>
        <p:txBody>
          <a:bodyPr wrap="square" lIns="0" tIns="0" rIns="0" bIns="0" rtlCol="0" anchor="ctr"/>
          <a:lstStyle/>
          <a:p>
            <a:pPr marL="0" indent="0">
              <a:buNone/>
            </a:pPr>
            <a:r>
              <a:rPr lang="en-US" sz="1050" dirty="0">
                <a:solidFill>
                  <a:srgbClr val="2D3748"/>
                </a:solidFill>
              </a:rPr>
              <a:t>SQL = Structured Query Language — every database understands it. Note: this practice script uses connect(":memory:"), a throw-away database that vanishes when the program ends. From the next step on we use energy.db, a file on disk that stays.</a:t>
            </a:r>
            <a:endParaRPr lang="en-US" sz="1050" dirty="0"/>
          </a:p>
        </p:txBody>
      </p:sp>
      <p:sp>
        <p:nvSpPr>
          <p:cNvPr id="6" name="lab-93"/>
          <p:cNvSpPr/>
          <p:nvPr/>
        </p:nvSpPr>
        <p:spPr>
          <a:xfrm>
            <a:off x="274320" y="4498848"/>
            <a:ext cx="8595360" cy="384048"/>
          </a:xfrm>
          <a:prstGeom prst="roundRect">
            <a:avLst>
              <a:gd name="adj" fmla="val 11905"/>
            </a:avLst>
          </a:prstGeom>
          <a:solidFill>
            <a:srgbClr val="FFF8E7"/>
          </a:solidFill>
          <a:ln w="12700">
            <a:solidFill>
              <a:srgbClr val="F6D9A8"/>
            </a:solidFill>
            <a:prstDash val="solid"/>
          </a:ln>
        </p:spPr>
        <p:txBody>
          <a:bodyPr/>
          <a:lstStyle/>
          <a:p>
            <a:endParaRPr lang="en-US"/>
          </a:p>
        </p:txBody>
      </p:sp>
      <p:sp>
        <p:nvSpPr>
          <p:cNvPr id="7" name="lab-t-94"/>
          <p:cNvSpPr txBox="1"/>
          <p:nvPr/>
        </p:nvSpPr>
        <p:spPr>
          <a:xfrm>
            <a:off x="411480" y="4507992"/>
            <a:ext cx="8321040" cy="365760"/>
          </a:xfrm>
          <a:prstGeom prst="rect">
            <a:avLst/>
          </a:prstGeom>
          <a:noFill/>
          <a:ln/>
        </p:spPr>
        <p:txBody>
          <a:bodyPr wrap="square" lIns="0" tIns="0" rIns="0" bIns="0" rtlCol="0" anchor="ctr"/>
          <a:lstStyle/>
          <a:p>
            <a:pPr marL="0" indent="0">
              <a:buNone/>
            </a:pPr>
            <a:r>
              <a:rPr lang="en-US" sz="1050" b="1" dirty="0">
                <a:solidFill>
                  <a:srgbClr val="2D3748"/>
                </a:solidFill>
              </a:rPr>
              <a:t>Try it:  </a:t>
            </a:r>
            <a:r>
              <a:rPr lang="en-US" sz="1050" dirty="0">
                <a:solidFill>
                  <a:srgbClr val="2D3748"/>
                </a:solidFill>
              </a:rPr>
              <a:t>python 01_sql_basics.py — these exact four statements, with the answers shown here</a:t>
            </a:r>
            <a:endParaRPr lang="en-US" sz="1050" dirty="0"/>
          </a:p>
        </p:txBody>
      </p:sp>
      <p:sp>
        <p:nvSpPr>
          <p:cNvPr id="25" name="Slide Number Placeholder 0"/>
          <p:cNvSpPr>
            <a:spLocks noGrp="1"/>
          </p:cNvSpPr>
          <p:nvPr>
            <p:ph type="sldNum" sz="quarter" idx="4294967295"/>
          </p:nvPr>
        </p:nvSpPr>
        <p:spPr>
          <a:xfrm>
            <a:off x="8549640" y="4919472"/>
            <a:ext cx="36576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71809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1097280" y="91440"/>
            <a:ext cx="7772400" cy="347472"/>
          </a:xfrm>
          <a:prstGeom prst="rect">
            <a:avLst/>
          </a:prstGeom>
          <a:noFill/>
          <a:ln/>
        </p:spPr>
        <p:txBody>
          <a:bodyPr wrap="square" lIns="0" tIns="0" rIns="0" bIns="0" rtlCol="0" anchor="ctr"/>
          <a:lstStyle/>
          <a:p>
            <a:pPr marL="0" indent="0" algn="l">
              <a:buNone/>
            </a:pPr>
            <a:r>
              <a:rPr lang="en-US" sz="1300" b="1" dirty="0">
                <a:solidFill>
                  <a:srgbClr val="F59E0B"/>
                </a:solidFill>
              </a:rPr>
              <a:t>OUR THREE TABLES  ·  Three different kinds of data in one file, energy.db</a:t>
            </a:r>
            <a:endParaRPr lang="en-US" sz="1300" dirty="0"/>
          </a:p>
        </p:txBody>
      </p:sp>
      <p:sp>
        <p:nvSpPr>
          <p:cNvPr id="3" name="card-95"/>
          <p:cNvSpPr/>
          <p:nvPr/>
        </p:nvSpPr>
        <p:spPr>
          <a:xfrm>
            <a:off x="274320" y="713232"/>
            <a:ext cx="2788920" cy="2880360"/>
          </a:xfrm>
          <a:prstGeom prst="roundRect">
            <a:avLst>
              <a:gd name="adj" fmla="val 1967"/>
            </a:avLst>
          </a:prstGeom>
          <a:solidFill>
            <a:srgbClr val="F7F8FA"/>
          </a:solidFill>
          <a:ln w="12700">
            <a:solidFill>
              <a:srgbClr val="E2E8F0"/>
            </a:solidFill>
            <a:prstDash val="solid"/>
          </a:ln>
        </p:spPr>
        <p:txBody>
          <a:bodyPr/>
          <a:lstStyle/>
          <a:p>
            <a:endParaRPr lang="en-US"/>
          </a:p>
        </p:txBody>
      </p:sp>
      <p:sp>
        <p:nvSpPr>
          <p:cNvPr id="4" name="card-band-96"/>
          <p:cNvSpPr/>
          <p:nvPr/>
        </p:nvSpPr>
        <p:spPr>
          <a:xfrm>
            <a:off x="274320" y="713232"/>
            <a:ext cx="2788920" cy="566928"/>
          </a:xfrm>
          <a:prstGeom prst="rect">
            <a:avLst/>
          </a:prstGeom>
          <a:solidFill>
            <a:srgbClr val="2D3748"/>
          </a:solidFill>
          <a:ln w="12700">
            <a:solidFill>
              <a:srgbClr val="2D3748"/>
            </a:solidFill>
            <a:prstDash val="solid"/>
          </a:ln>
        </p:spPr>
        <p:txBody>
          <a:bodyPr/>
          <a:lstStyle/>
          <a:p>
            <a:endParaRPr lang="en-US"/>
          </a:p>
        </p:txBody>
      </p:sp>
      <p:sp>
        <p:nvSpPr>
          <p:cNvPr id="5" name="card-title-97"/>
          <p:cNvSpPr txBox="1"/>
          <p:nvPr/>
        </p:nvSpPr>
        <p:spPr>
          <a:xfrm>
            <a:off x="384048" y="713232"/>
            <a:ext cx="2569464" cy="566928"/>
          </a:xfrm>
          <a:prstGeom prst="rect">
            <a:avLst/>
          </a:prstGeom>
          <a:noFill/>
          <a:ln/>
        </p:spPr>
        <p:txBody>
          <a:bodyPr wrap="square" lIns="0" tIns="0" rIns="0" bIns="0" rtlCol="0" anchor="ctr"/>
          <a:lstStyle/>
          <a:p>
            <a:pPr marL="0" indent="0">
              <a:buNone/>
            </a:pPr>
            <a:r>
              <a:rPr lang="en-US" sz="1300" b="1" dirty="0">
                <a:solidFill>
                  <a:srgbClr val="FFFFFF"/>
                </a:solidFill>
              </a:rPr>
              <a:t>readings</a:t>
            </a:r>
            <a:endParaRPr lang="en-US" sz="1300" dirty="0"/>
          </a:p>
          <a:p>
            <a:pPr marL="0" indent="0">
              <a:buNone/>
            </a:pPr>
            <a:r>
              <a:rPr lang="en-US" sz="950" dirty="0">
                <a:solidFill>
                  <a:srgbClr val="E2E8F0"/>
                </a:solidFill>
              </a:rPr>
              <a:t>📖  the reference book</a:t>
            </a:r>
            <a:endParaRPr lang="en-US" sz="1300" dirty="0"/>
          </a:p>
        </p:txBody>
      </p:sp>
      <p:sp>
        <p:nvSpPr>
          <p:cNvPr id="6" name="card-body-98"/>
          <p:cNvSpPr txBox="1"/>
          <p:nvPr/>
        </p:nvSpPr>
        <p:spPr>
          <a:xfrm>
            <a:off x="365760" y="1371600"/>
            <a:ext cx="2606040" cy="2148840"/>
          </a:xfrm>
          <a:prstGeom prst="rect">
            <a:avLst/>
          </a:prstGeom>
          <a:noFill/>
          <a:ln/>
        </p:spPr>
        <p:txBody>
          <a:bodyPr wrap="square" lIns="0" tIns="0" rIns="0" bIns="0" rtlCol="0" anchor="t"/>
          <a:lstStyle/>
          <a:p>
            <a:pPr marL="127000" indent="-127000">
              <a:spcAft>
                <a:spcPts val="300"/>
              </a:spcAft>
              <a:buSzPct val="100000"/>
              <a:buChar char="•"/>
            </a:pPr>
            <a:r>
              <a:rPr lang="en-US" sz="1100" dirty="0">
                <a:solidFill>
                  <a:srgbClr val="2D3748"/>
                </a:solidFill>
              </a:rPr>
              <a:t>Data the API RECEIVES</a:t>
            </a:r>
            <a:endParaRPr lang="en-US" sz="1100" dirty="0"/>
          </a:p>
          <a:p>
            <a:pPr marL="127000" indent="-127000">
              <a:spcAft>
                <a:spcPts val="300"/>
              </a:spcAft>
              <a:buSzPct val="100000"/>
              <a:buChar char="•"/>
            </a:pPr>
            <a:r>
              <a:rPr lang="en-US" sz="1100" dirty="0">
                <a:solidFill>
                  <a:srgbClr val="2D3748"/>
                </a:solidFill>
              </a:rPr>
              <a:t>Comes from outside — the substation CSV</a:t>
            </a:r>
            <a:endParaRPr lang="en-US" sz="1100" dirty="0"/>
          </a:p>
          <a:p>
            <a:pPr marL="127000" indent="-127000">
              <a:spcAft>
                <a:spcPts val="300"/>
              </a:spcAft>
              <a:buSzPct val="100000"/>
              <a:buChar char="•"/>
            </a:pPr>
            <a:r>
              <a:rPr lang="en-US" sz="1100" dirty="0">
                <a:solidFill>
                  <a:srgbClr val="2D3748"/>
                </a:solidFill>
              </a:rPr>
              <a:t>Loaded once: 5,664 rows</a:t>
            </a:r>
            <a:endParaRPr lang="en-US" sz="1100" dirty="0"/>
          </a:p>
          <a:p>
            <a:pPr marL="127000" indent="-127000">
              <a:spcAft>
                <a:spcPts val="300"/>
              </a:spcAft>
              <a:buSzPct val="100000"/>
              <a:buChar char="•"/>
            </a:pPr>
            <a:r>
              <a:rPr lang="en-US" sz="1100" dirty="0">
                <a:solidFill>
                  <a:srgbClr val="2D3748"/>
                </a:solidFill>
              </a:rPr>
              <a:t>After that, only read</a:t>
            </a:r>
            <a:endParaRPr lang="en-US" sz="1100" dirty="0"/>
          </a:p>
          <a:p>
            <a:pPr marL="127000" indent="-127000">
              <a:spcAft>
                <a:spcPts val="300"/>
              </a:spcAft>
              <a:buSzPct val="100000"/>
              <a:buChar char="•"/>
            </a:pPr>
            <a:r>
              <a:rPr lang="en-US" sz="1100" dirty="0">
                <a:solidFill>
                  <a:srgbClr val="2D3748"/>
                </a:solidFill>
              </a:rPr>
              <a:t>Columns: timestamp (key), load_kw, solar_kw, ambient_c, irradiance_wm2</a:t>
            </a:r>
            <a:endParaRPr lang="en-US" sz="1100" dirty="0"/>
          </a:p>
        </p:txBody>
      </p:sp>
      <p:sp>
        <p:nvSpPr>
          <p:cNvPr id="7" name="card-99"/>
          <p:cNvSpPr/>
          <p:nvPr/>
        </p:nvSpPr>
        <p:spPr>
          <a:xfrm>
            <a:off x="3177540" y="713232"/>
            <a:ext cx="2788920" cy="2880360"/>
          </a:xfrm>
          <a:prstGeom prst="roundRect">
            <a:avLst>
              <a:gd name="adj" fmla="val 1967"/>
            </a:avLst>
          </a:prstGeom>
          <a:solidFill>
            <a:srgbClr val="F7F8FA"/>
          </a:solidFill>
          <a:ln w="12700">
            <a:solidFill>
              <a:srgbClr val="E2E8F0"/>
            </a:solidFill>
            <a:prstDash val="solid"/>
          </a:ln>
        </p:spPr>
        <p:txBody>
          <a:bodyPr/>
          <a:lstStyle/>
          <a:p>
            <a:endParaRPr lang="en-US"/>
          </a:p>
        </p:txBody>
      </p:sp>
      <p:sp>
        <p:nvSpPr>
          <p:cNvPr id="8" name="card-band-100"/>
          <p:cNvSpPr/>
          <p:nvPr/>
        </p:nvSpPr>
        <p:spPr>
          <a:xfrm>
            <a:off x="3177540" y="713232"/>
            <a:ext cx="2788920" cy="566928"/>
          </a:xfrm>
          <a:prstGeom prst="rect">
            <a:avLst/>
          </a:prstGeom>
          <a:solidFill>
            <a:srgbClr val="F59E0B"/>
          </a:solidFill>
          <a:ln w="12700">
            <a:solidFill>
              <a:srgbClr val="F59E0B"/>
            </a:solidFill>
            <a:prstDash val="solid"/>
          </a:ln>
        </p:spPr>
        <p:txBody>
          <a:bodyPr/>
          <a:lstStyle/>
          <a:p>
            <a:endParaRPr lang="en-US"/>
          </a:p>
        </p:txBody>
      </p:sp>
      <p:sp>
        <p:nvSpPr>
          <p:cNvPr id="9" name="card-title-101"/>
          <p:cNvSpPr txBox="1"/>
          <p:nvPr/>
        </p:nvSpPr>
        <p:spPr>
          <a:xfrm>
            <a:off x="3287268" y="713232"/>
            <a:ext cx="2569464" cy="566928"/>
          </a:xfrm>
          <a:prstGeom prst="rect">
            <a:avLst/>
          </a:prstGeom>
          <a:noFill/>
          <a:ln/>
        </p:spPr>
        <p:txBody>
          <a:bodyPr wrap="square" lIns="0" tIns="0" rIns="0" bIns="0" rtlCol="0" anchor="ctr"/>
          <a:lstStyle/>
          <a:p>
            <a:pPr marL="0" indent="0">
              <a:buNone/>
            </a:pPr>
            <a:r>
              <a:rPr lang="en-US" sz="1300" b="1" dirty="0">
                <a:solidFill>
                  <a:srgbClr val="1A2535"/>
                </a:solidFill>
              </a:rPr>
              <a:t>calculations</a:t>
            </a:r>
            <a:endParaRPr lang="en-US" sz="1300" dirty="0"/>
          </a:p>
          <a:p>
            <a:pPr marL="0" indent="0">
              <a:buNone/>
            </a:pPr>
            <a:r>
              <a:rPr lang="en-US" sz="950" dirty="0">
                <a:solidFill>
                  <a:srgbClr val="1A2535"/>
                </a:solidFill>
              </a:rPr>
              <a:t>🧾  the logbook</a:t>
            </a:r>
            <a:endParaRPr lang="en-US" sz="1300" dirty="0"/>
          </a:p>
        </p:txBody>
      </p:sp>
      <p:sp>
        <p:nvSpPr>
          <p:cNvPr id="10" name="card-body-102"/>
          <p:cNvSpPr txBox="1"/>
          <p:nvPr/>
        </p:nvSpPr>
        <p:spPr>
          <a:xfrm>
            <a:off x="3268980" y="1371600"/>
            <a:ext cx="2606040" cy="2148840"/>
          </a:xfrm>
          <a:prstGeom prst="rect">
            <a:avLst/>
          </a:prstGeom>
          <a:noFill/>
          <a:ln/>
        </p:spPr>
        <p:txBody>
          <a:bodyPr wrap="square" lIns="0" tIns="0" rIns="0" bIns="0" rtlCol="0" anchor="t"/>
          <a:lstStyle/>
          <a:p>
            <a:pPr marL="127000" indent="-127000">
              <a:spcAft>
                <a:spcPts val="300"/>
              </a:spcAft>
              <a:buSzPct val="100000"/>
              <a:buChar char="•"/>
            </a:pPr>
            <a:r>
              <a:rPr lang="en-US" sz="1100" dirty="0">
                <a:solidFill>
                  <a:srgbClr val="2D3748"/>
                </a:solidFill>
              </a:rPr>
              <a:t>Data the API CREATES</a:t>
            </a:r>
            <a:endParaRPr lang="en-US" sz="1100" dirty="0"/>
          </a:p>
          <a:p>
            <a:pPr marL="127000" indent="-127000">
              <a:spcAft>
                <a:spcPts val="300"/>
              </a:spcAft>
              <a:buSzPct val="100000"/>
              <a:buChar char="•"/>
            </a:pPr>
            <a:r>
              <a:rPr lang="en-US" sz="1100" dirty="0">
                <a:solidFill>
                  <a:srgbClr val="2D3748"/>
                </a:solidFill>
              </a:rPr>
              <a:t>One new line every time someone uses /calculate, /energy-cost or /bill</a:t>
            </a:r>
            <a:endParaRPr lang="en-US" sz="1100" dirty="0"/>
          </a:p>
          <a:p>
            <a:pPr marL="127000" indent="-127000">
              <a:spcAft>
                <a:spcPts val="300"/>
              </a:spcAft>
              <a:buSzPct val="100000"/>
              <a:buChar char="•"/>
            </a:pPr>
            <a:r>
              <a:rPr lang="en-US" sz="1100" dirty="0">
                <a:solidFill>
                  <a:srgbClr val="2D3748"/>
                </a:solidFill>
              </a:rPr>
              <a:t>Grows all the time</a:t>
            </a:r>
            <a:endParaRPr lang="en-US" sz="1100" dirty="0"/>
          </a:p>
          <a:p>
            <a:pPr marL="127000" indent="-127000">
              <a:spcAft>
                <a:spcPts val="300"/>
              </a:spcAft>
              <a:buSzPct val="100000"/>
              <a:buChar char="•"/>
            </a:pPr>
            <a:r>
              <a:rPr lang="en-US" sz="1100" dirty="0">
                <a:solidFill>
                  <a:srgbClr val="2D3748"/>
                </a:solidFill>
              </a:rPr>
              <a:t>Columns: id (auto 1, 2, 3…), kind, inputs, result, created_at</a:t>
            </a:r>
            <a:endParaRPr lang="en-US" sz="1100" dirty="0"/>
          </a:p>
        </p:txBody>
      </p:sp>
      <p:sp>
        <p:nvSpPr>
          <p:cNvPr id="11" name="card-103"/>
          <p:cNvSpPr/>
          <p:nvPr/>
        </p:nvSpPr>
        <p:spPr>
          <a:xfrm>
            <a:off x="6080760" y="713232"/>
            <a:ext cx="2788920" cy="2880360"/>
          </a:xfrm>
          <a:prstGeom prst="roundRect">
            <a:avLst>
              <a:gd name="adj" fmla="val 1967"/>
            </a:avLst>
          </a:prstGeom>
          <a:solidFill>
            <a:srgbClr val="F7F8FA"/>
          </a:solidFill>
          <a:ln w="12700">
            <a:solidFill>
              <a:srgbClr val="E2E8F0"/>
            </a:solidFill>
            <a:prstDash val="solid"/>
          </a:ln>
        </p:spPr>
        <p:txBody>
          <a:bodyPr/>
          <a:lstStyle/>
          <a:p>
            <a:endParaRPr lang="en-US"/>
          </a:p>
        </p:txBody>
      </p:sp>
      <p:sp>
        <p:nvSpPr>
          <p:cNvPr id="12" name="card-band-104"/>
          <p:cNvSpPr/>
          <p:nvPr/>
        </p:nvSpPr>
        <p:spPr>
          <a:xfrm>
            <a:off x="6080760" y="713232"/>
            <a:ext cx="2788920" cy="566928"/>
          </a:xfrm>
          <a:prstGeom prst="rect">
            <a:avLst/>
          </a:prstGeom>
          <a:solidFill>
            <a:srgbClr val="185FA5"/>
          </a:solidFill>
          <a:ln w="12700">
            <a:solidFill>
              <a:srgbClr val="185FA5"/>
            </a:solidFill>
            <a:prstDash val="solid"/>
          </a:ln>
        </p:spPr>
        <p:txBody>
          <a:bodyPr/>
          <a:lstStyle/>
          <a:p>
            <a:endParaRPr lang="en-US"/>
          </a:p>
        </p:txBody>
      </p:sp>
      <p:sp>
        <p:nvSpPr>
          <p:cNvPr id="13" name="card-title-105"/>
          <p:cNvSpPr txBox="1"/>
          <p:nvPr/>
        </p:nvSpPr>
        <p:spPr>
          <a:xfrm>
            <a:off x="6190488" y="713232"/>
            <a:ext cx="2569464" cy="566928"/>
          </a:xfrm>
          <a:prstGeom prst="rect">
            <a:avLst/>
          </a:prstGeom>
          <a:noFill/>
          <a:ln/>
        </p:spPr>
        <p:txBody>
          <a:bodyPr wrap="square" lIns="0" tIns="0" rIns="0" bIns="0" rtlCol="0" anchor="ctr"/>
          <a:lstStyle/>
          <a:p>
            <a:pPr marL="0" indent="0">
              <a:buNone/>
            </a:pPr>
            <a:r>
              <a:rPr lang="en-US" sz="1300" b="1" dirty="0">
                <a:solidFill>
                  <a:srgbClr val="FFFFFF"/>
                </a:solidFill>
              </a:rPr>
              <a:t>appliances</a:t>
            </a:r>
            <a:endParaRPr lang="en-US" sz="1300" dirty="0"/>
          </a:p>
          <a:p>
            <a:pPr marL="0" indent="0">
              <a:buNone/>
            </a:pPr>
            <a:r>
              <a:rPr lang="en-US" sz="950" dirty="0">
                <a:solidFill>
                  <a:srgbClr val="E2E8F0"/>
                </a:solidFill>
              </a:rPr>
              <a:t>📋  the shared list</a:t>
            </a:r>
            <a:endParaRPr lang="en-US" sz="1300" dirty="0"/>
          </a:p>
        </p:txBody>
      </p:sp>
      <p:sp>
        <p:nvSpPr>
          <p:cNvPr id="14" name="card-body-106"/>
          <p:cNvSpPr txBox="1"/>
          <p:nvPr/>
        </p:nvSpPr>
        <p:spPr>
          <a:xfrm>
            <a:off x="6172200" y="1371600"/>
            <a:ext cx="2606040" cy="2148840"/>
          </a:xfrm>
          <a:prstGeom prst="rect">
            <a:avLst/>
          </a:prstGeom>
          <a:noFill/>
          <a:ln/>
        </p:spPr>
        <p:txBody>
          <a:bodyPr wrap="square" lIns="0" tIns="0" rIns="0" bIns="0" rtlCol="0" anchor="t"/>
          <a:lstStyle/>
          <a:p>
            <a:pPr marL="127000" indent="-127000">
              <a:spcAft>
                <a:spcPts val="300"/>
              </a:spcAft>
              <a:buSzPct val="100000"/>
              <a:buChar char="•"/>
            </a:pPr>
            <a:r>
              <a:rPr lang="en-US" sz="1100" dirty="0">
                <a:solidFill>
                  <a:srgbClr val="2D3748"/>
                </a:solidFill>
              </a:rPr>
              <a:t>Data USERS MANAGE</a:t>
            </a:r>
            <a:endParaRPr lang="en-US" sz="1100" dirty="0"/>
          </a:p>
          <a:p>
            <a:pPr marL="127000" indent="-127000">
              <a:spcAft>
                <a:spcPts val="300"/>
              </a:spcAft>
              <a:buSzPct val="100000"/>
              <a:buChar char="•"/>
            </a:pPr>
            <a:r>
              <a:rPr lang="en-US" sz="1100" dirty="0">
                <a:solidFill>
                  <a:srgbClr val="2D3748"/>
                </a:solidFill>
              </a:rPr>
              <a:t>Monday's appliance list</a:t>
            </a:r>
            <a:endParaRPr lang="en-US" sz="1100" dirty="0"/>
          </a:p>
          <a:p>
            <a:pPr marL="127000" indent="-127000">
              <a:spcAft>
                <a:spcPts val="300"/>
              </a:spcAft>
              <a:buSzPct val="100000"/>
              <a:buChar char="•"/>
            </a:pPr>
            <a:r>
              <a:rPr lang="en-US" sz="1100" dirty="0">
                <a:solidFill>
                  <a:srgbClr val="2D3748"/>
                </a:solidFill>
              </a:rPr>
              <a:t>Added, changed and removed through the API: POST · PUT · DELETE</a:t>
            </a:r>
            <a:endParaRPr lang="en-US" sz="1100" dirty="0"/>
          </a:p>
          <a:p>
            <a:pPr marL="127000" indent="-127000">
              <a:spcAft>
                <a:spcPts val="300"/>
              </a:spcAft>
              <a:buSzPct val="100000"/>
              <a:buChar char="•"/>
            </a:pPr>
            <a:r>
              <a:rPr lang="en-US" sz="1100" dirty="0">
                <a:solidFill>
                  <a:srgbClr val="2D3748"/>
                </a:solidFill>
              </a:rPr>
              <a:t>Columns: id (auto), name, watts, hours</a:t>
            </a:r>
            <a:endParaRPr lang="en-US" sz="1100" dirty="0"/>
          </a:p>
        </p:txBody>
      </p:sp>
      <p:sp>
        <p:nvSpPr>
          <p:cNvPr id="15" name="note-107"/>
          <p:cNvSpPr/>
          <p:nvPr/>
        </p:nvSpPr>
        <p:spPr>
          <a:xfrm>
            <a:off x="274320" y="3749040"/>
            <a:ext cx="8595360" cy="548640"/>
          </a:xfrm>
          <a:prstGeom prst="roundRect">
            <a:avLst>
              <a:gd name="adj" fmla="val 8333"/>
            </a:avLst>
          </a:prstGeom>
          <a:solidFill>
            <a:srgbClr val="FEF3C7"/>
          </a:solidFill>
          <a:ln w="12700">
            <a:solidFill>
              <a:srgbClr val="F6D9A8"/>
            </a:solidFill>
            <a:prstDash val="solid"/>
          </a:ln>
        </p:spPr>
        <p:txBody>
          <a:bodyPr/>
          <a:lstStyle/>
          <a:p>
            <a:endParaRPr lang="en-US"/>
          </a:p>
        </p:txBody>
      </p:sp>
      <p:sp>
        <p:nvSpPr>
          <p:cNvPr id="16" name="note-t-108"/>
          <p:cNvSpPr txBox="1"/>
          <p:nvPr/>
        </p:nvSpPr>
        <p:spPr>
          <a:xfrm>
            <a:off x="411480" y="3794760"/>
            <a:ext cx="8321040" cy="457200"/>
          </a:xfrm>
          <a:prstGeom prst="rect">
            <a:avLst/>
          </a:prstGeom>
          <a:noFill/>
          <a:ln/>
        </p:spPr>
        <p:txBody>
          <a:bodyPr wrap="square" lIns="0" tIns="0" rIns="0" bIns="0" rtlCol="0" anchor="ctr"/>
          <a:lstStyle/>
          <a:p>
            <a:pPr marL="0" indent="0">
              <a:buNone/>
            </a:pPr>
            <a:r>
              <a:rPr lang="en-US" sz="1050" dirty="0">
                <a:solidFill>
                  <a:srgbClr val="2D3748"/>
                </a:solidFill>
              </a:rPr>
              <a:t>Ask of any table:  where does the data come from?  ·  who writes it?  ·  how often?  The answers decide how you design it.</a:t>
            </a:r>
            <a:endParaRPr lang="en-US" sz="1050" dirty="0"/>
          </a:p>
        </p:txBody>
      </p:sp>
      <p:sp>
        <p:nvSpPr>
          <p:cNvPr id="17" name="evolve-109"/>
          <p:cNvSpPr/>
          <p:nvPr/>
        </p:nvSpPr>
        <p:spPr>
          <a:xfrm>
            <a:off x="274320" y="4498848"/>
            <a:ext cx="8595360" cy="384048"/>
          </a:xfrm>
          <a:prstGeom prst="roundRect">
            <a:avLst>
              <a:gd name="adj" fmla="val 11905"/>
            </a:avLst>
          </a:prstGeom>
          <a:solidFill>
            <a:srgbClr val="EEF2FF"/>
          </a:solidFill>
          <a:ln w="12700">
            <a:solidFill>
              <a:srgbClr val="D5DCF5"/>
            </a:solidFill>
            <a:prstDash val="solid"/>
          </a:ln>
        </p:spPr>
        <p:txBody>
          <a:bodyPr/>
          <a:lstStyle/>
          <a:p>
            <a:endParaRPr lang="en-US"/>
          </a:p>
        </p:txBody>
      </p:sp>
      <p:sp>
        <p:nvSpPr>
          <p:cNvPr id="18" name="evolve-t-110"/>
          <p:cNvSpPr txBox="1"/>
          <p:nvPr/>
        </p:nvSpPr>
        <p:spPr>
          <a:xfrm>
            <a:off x="411480" y="4507992"/>
            <a:ext cx="8321040" cy="365760"/>
          </a:xfrm>
          <a:prstGeom prst="rect">
            <a:avLst/>
          </a:prstGeom>
          <a:noFill/>
          <a:ln/>
        </p:spPr>
        <p:txBody>
          <a:bodyPr wrap="square" lIns="0" tIns="0" rIns="0" bIns="0" rtlCol="0" anchor="ctr"/>
          <a:lstStyle/>
          <a:p>
            <a:pPr marL="0" indent="0">
              <a:buNone/>
            </a:pPr>
            <a:r>
              <a:rPr lang="en-US" sz="1050" b="1" dirty="0">
                <a:solidFill>
                  <a:srgbClr val="2D3748"/>
                </a:solidFill>
              </a:rPr>
              <a:t>Remember:  </a:t>
            </a:r>
            <a:r>
              <a:rPr lang="en-US" sz="1050" dirty="0">
                <a:solidFill>
                  <a:srgbClr val="718096"/>
                </a:solidFill>
              </a:rPr>
              <a:t>readings = received  ·  calculations = created by the API  ·  appliances = managed by users</a:t>
            </a:r>
            <a:endParaRPr lang="en-US" sz="1050" dirty="0"/>
          </a:p>
        </p:txBody>
      </p:sp>
      <p:sp>
        <p:nvSpPr>
          <p:cNvPr id="25" name="Slide Number Placeholder 0"/>
          <p:cNvSpPr>
            <a:spLocks noGrp="1"/>
          </p:cNvSpPr>
          <p:nvPr>
            <p:ph type="sldNum" sz="quarter" idx="4294967295"/>
          </p:nvPr>
        </p:nvSpPr>
        <p:spPr>
          <a:xfrm>
            <a:off x="8549640" y="4919472"/>
            <a:ext cx="36576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718096"/>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1097280" y="91440"/>
            <a:ext cx="7772400" cy="347472"/>
          </a:xfrm>
          <a:prstGeom prst="rect">
            <a:avLst/>
          </a:prstGeom>
          <a:noFill/>
          <a:ln/>
        </p:spPr>
        <p:txBody>
          <a:bodyPr wrap="square" lIns="0" tIns="0" rIns="0" bIns="0" rtlCol="0" anchor="ctr"/>
          <a:lstStyle/>
          <a:p>
            <a:pPr marL="0" indent="0" algn="l">
              <a:buNone/>
            </a:pPr>
            <a:r>
              <a:rPr lang="en-US" sz="1300" b="1" dirty="0">
                <a:solidFill>
                  <a:srgbClr val="F59E0B"/>
                </a:solidFill>
              </a:rPr>
              <a:t>THE THREE CALCULATIONS  ·  Three separate requests, worked out step by step</a:t>
            </a:r>
            <a:endParaRPr lang="en-US" sz="1300" dirty="0"/>
          </a:p>
        </p:txBody>
      </p:sp>
      <p:sp>
        <p:nvSpPr>
          <p:cNvPr id="3" name="calc-111"/>
          <p:cNvSpPr/>
          <p:nvPr/>
        </p:nvSpPr>
        <p:spPr>
          <a:xfrm>
            <a:off x="274320" y="685800"/>
            <a:ext cx="2788920" cy="3246120"/>
          </a:xfrm>
          <a:prstGeom prst="roundRect">
            <a:avLst>
              <a:gd name="adj" fmla="val 1967"/>
            </a:avLst>
          </a:prstGeom>
          <a:solidFill>
            <a:srgbClr val="F7F8FA"/>
          </a:solidFill>
          <a:ln w="12700">
            <a:solidFill>
              <a:srgbClr val="E2E8F0"/>
            </a:solidFill>
            <a:prstDash val="solid"/>
          </a:ln>
        </p:spPr>
        <p:txBody>
          <a:bodyPr/>
          <a:lstStyle/>
          <a:p>
            <a:endParaRPr lang="en-US"/>
          </a:p>
        </p:txBody>
      </p:sp>
      <p:sp>
        <p:nvSpPr>
          <p:cNvPr id="4" name="calc-band-112"/>
          <p:cNvSpPr/>
          <p:nvPr/>
        </p:nvSpPr>
        <p:spPr>
          <a:xfrm>
            <a:off x="274320" y="685800"/>
            <a:ext cx="2788920" cy="658368"/>
          </a:xfrm>
          <a:prstGeom prst="rect">
            <a:avLst/>
          </a:prstGeom>
          <a:solidFill>
            <a:srgbClr val="2D3748"/>
          </a:solidFill>
          <a:ln w="12700">
            <a:solidFill>
              <a:srgbClr val="2D3748"/>
            </a:solidFill>
            <a:prstDash val="solid"/>
          </a:ln>
        </p:spPr>
        <p:txBody>
          <a:bodyPr/>
          <a:lstStyle/>
          <a:p>
            <a:endParaRPr lang="en-US"/>
          </a:p>
        </p:txBody>
      </p:sp>
      <p:sp>
        <p:nvSpPr>
          <p:cNvPr id="5" name="num-113"/>
          <p:cNvSpPr/>
          <p:nvPr/>
        </p:nvSpPr>
        <p:spPr>
          <a:xfrm>
            <a:off x="384048" y="850392"/>
            <a:ext cx="310896" cy="310896"/>
          </a:xfrm>
          <a:prstGeom prst="ellipse">
            <a:avLst/>
          </a:prstGeom>
          <a:solidFill>
            <a:srgbClr val="F59E0B"/>
          </a:solidFill>
          <a:ln w="12700">
            <a:solidFill>
              <a:srgbClr val="F59E0B"/>
            </a:solidFill>
            <a:prstDash val="solid"/>
          </a:ln>
        </p:spPr>
        <p:txBody>
          <a:bodyPr/>
          <a:lstStyle/>
          <a:p>
            <a:endParaRPr lang="en-US"/>
          </a:p>
        </p:txBody>
      </p:sp>
      <p:sp>
        <p:nvSpPr>
          <p:cNvPr id="6" name="num-t-114"/>
          <p:cNvSpPr txBox="1"/>
          <p:nvPr/>
        </p:nvSpPr>
        <p:spPr>
          <a:xfrm>
            <a:off x="384048" y="850392"/>
            <a:ext cx="310896" cy="310896"/>
          </a:xfrm>
          <a:prstGeom prst="rect">
            <a:avLst/>
          </a:prstGeom>
          <a:noFill/>
          <a:ln/>
        </p:spPr>
        <p:txBody>
          <a:bodyPr wrap="square" lIns="0" tIns="0" rIns="0" bIns="0" rtlCol="0" anchor="ctr"/>
          <a:lstStyle/>
          <a:p>
            <a:pPr marL="0" indent="0" algn="ctr">
              <a:buNone/>
            </a:pPr>
            <a:r>
              <a:rPr lang="en-US" sz="1300" b="1" dirty="0">
                <a:solidFill>
                  <a:srgbClr val="1A2535"/>
                </a:solidFill>
              </a:rPr>
              <a:t>1</a:t>
            </a:r>
            <a:endParaRPr lang="en-US" sz="1300" dirty="0"/>
          </a:p>
        </p:txBody>
      </p:sp>
      <p:sp>
        <p:nvSpPr>
          <p:cNvPr id="7" name="calc-title-115"/>
          <p:cNvSpPr txBox="1"/>
          <p:nvPr/>
        </p:nvSpPr>
        <p:spPr>
          <a:xfrm>
            <a:off x="777240" y="685800"/>
            <a:ext cx="2221992" cy="658368"/>
          </a:xfrm>
          <a:prstGeom prst="rect">
            <a:avLst/>
          </a:prstGeom>
          <a:noFill/>
          <a:ln/>
        </p:spPr>
        <p:txBody>
          <a:bodyPr wrap="square" lIns="0" tIns="0" rIns="0" bIns="0" rtlCol="0" anchor="ctr"/>
          <a:lstStyle/>
          <a:p>
            <a:pPr marL="0" indent="0">
              <a:buNone/>
            </a:pPr>
            <a:r>
              <a:rPr lang="en-US" sz="1300" b="1" dirty="0">
                <a:solidFill>
                  <a:srgbClr val="FFFFFF"/>
                </a:solidFill>
              </a:rPr>
              <a:t>Energy cost</a:t>
            </a:r>
            <a:endParaRPr lang="en-US" sz="1300" dirty="0"/>
          </a:p>
          <a:p>
            <a:pPr marL="0" indent="0">
              <a:buNone/>
            </a:pPr>
            <a:r>
              <a:rPr lang="en-US" sz="850" dirty="0">
                <a:solidFill>
                  <a:srgbClr val="F59E0B"/>
                </a:solidFill>
                <a:latin typeface="Consolas" pitchFamily="34" charset="0"/>
                <a:ea typeface="Consolas" pitchFamily="34" charset="-122"/>
                <a:cs typeface="Consolas" pitchFamily="34" charset="-120"/>
              </a:rPr>
              <a:t>/energy-cost?watts=1500&amp;hours=8</a:t>
            </a:r>
            <a:endParaRPr lang="en-US" sz="1300" dirty="0"/>
          </a:p>
        </p:txBody>
      </p:sp>
      <p:sp>
        <p:nvSpPr>
          <p:cNvPr id="8" name="calc-q-116"/>
          <p:cNvSpPr txBox="1"/>
          <p:nvPr/>
        </p:nvSpPr>
        <p:spPr>
          <a:xfrm>
            <a:off x="411480" y="1417320"/>
            <a:ext cx="2514600" cy="457200"/>
          </a:xfrm>
          <a:prstGeom prst="rect">
            <a:avLst/>
          </a:prstGeom>
          <a:noFill/>
          <a:ln/>
        </p:spPr>
        <p:txBody>
          <a:bodyPr wrap="square" lIns="0" tIns="0" rIns="0" bIns="0" rtlCol="0" anchor="t"/>
          <a:lstStyle/>
          <a:p>
            <a:pPr marL="0" indent="0">
              <a:buNone/>
            </a:pPr>
            <a:r>
              <a:rPr lang="en-US" sz="1050" i="1" dirty="0">
                <a:solidFill>
                  <a:srgbClr val="2D3748"/>
                </a:solidFill>
              </a:rPr>
              <a:t>One 1500 W AC runs 8 hours. How many units, and what does it cost for the day?</a:t>
            </a:r>
            <a:endParaRPr lang="en-US" sz="1050" dirty="0"/>
          </a:p>
        </p:txBody>
      </p:sp>
      <p:sp>
        <p:nvSpPr>
          <p:cNvPr id="9" name="calc-steps-117"/>
          <p:cNvSpPr txBox="1"/>
          <p:nvPr/>
        </p:nvSpPr>
        <p:spPr>
          <a:xfrm>
            <a:off x="411480" y="1920240"/>
            <a:ext cx="2514600" cy="1325880"/>
          </a:xfrm>
          <a:prstGeom prst="rect">
            <a:avLst/>
          </a:prstGeom>
          <a:noFill/>
          <a:ln/>
        </p:spPr>
        <p:txBody>
          <a:bodyPr wrap="square" lIns="0" tIns="0" rIns="0" bIns="0" rtlCol="0" anchor="t"/>
          <a:lstStyle/>
          <a:p>
            <a:pPr marL="0" indent="0">
              <a:spcAft>
                <a:spcPts val="300"/>
              </a:spcAft>
              <a:buNone/>
            </a:pPr>
            <a:r>
              <a:rPr lang="en-US" sz="950" dirty="0">
                <a:solidFill>
                  <a:srgbClr val="2D3748"/>
                </a:solidFill>
                <a:latin typeface="Consolas" pitchFamily="34" charset="0"/>
                <a:ea typeface="Consolas" pitchFamily="34" charset="-122"/>
                <a:cs typeface="Consolas" pitchFamily="34" charset="-120"/>
              </a:rPr>
              <a:t>units = watts × hours ÷ 1000</a:t>
            </a:r>
            <a:endParaRPr lang="en-US" sz="950" dirty="0"/>
          </a:p>
          <a:p>
            <a:pPr marL="0" indent="0">
              <a:spcAft>
                <a:spcPts val="300"/>
              </a:spcAft>
              <a:buNone/>
            </a:pPr>
            <a:r>
              <a:rPr lang="en-US" sz="950" dirty="0">
                <a:solidFill>
                  <a:srgbClr val="2D3748"/>
                </a:solidFill>
                <a:latin typeface="Consolas" pitchFamily="34" charset="0"/>
                <a:ea typeface="Consolas" pitchFamily="34" charset="-122"/>
                <a:cs typeface="Consolas" pitchFamily="34" charset="-120"/>
              </a:rPr>
              <a:t>      = 1500 × 8 ÷ 1000</a:t>
            </a:r>
            <a:endParaRPr lang="en-US" sz="950" dirty="0"/>
          </a:p>
          <a:p>
            <a:pPr marL="0" indent="0">
              <a:spcAft>
                <a:spcPts val="300"/>
              </a:spcAft>
              <a:buNone/>
            </a:pPr>
            <a:r>
              <a:rPr lang="en-US" sz="950" b="1" dirty="0">
                <a:solidFill>
                  <a:srgbClr val="1A2535"/>
                </a:solidFill>
                <a:latin typeface="Consolas" pitchFamily="34" charset="0"/>
                <a:ea typeface="Consolas" pitchFamily="34" charset="-122"/>
                <a:cs typeface="Consolas" pitchFamily="34" charset="-120"/>
              </a:rPr>
              <a:t>      = 12 units (kWh)</a:t>
            </a:r>
            <a:endParaRPr lang="en-US" sz="950" dirty="0"/>
          </a:p>
          <a:p>
            <a:pPr marL="0" indent="0">
              <a:spcAft>
                <a:spcPts val="300"/>
              </a:spcAft>
              <a:buNone/>
            </a:pPr>
            <a:endParaRPr lang="en-US" sz="950" dirty="0"/>
          </a:p>
          <a:p>
            <a:pPr marL="0" indent="0">
              <a:spcAft>
                <a:spcPts val="300"/>
              </a:spcAft>
              <a:buNone/>
            </a:pPr>
            <a:r>
              <a:rPr lang="en-US" sz="950" dirty="0">
                <a:solidFill>
                  <a:srgbClr val="2D3748"/>
                </a:solidFill>
                <a:latin typeface="Consolas" pitchFamily="34" charset="0"/>
                <a:ea typeface="Consolas" pitchFamily="34" charset="-122"/>
                <a:cs typeface="Consolas" pitchFamily="34" charset="-120"/>
              </a:rPr>
              <a:t>cost  = units × rate (₹8 default)</a:t>
            </a:r>
            <a:endParaRPr lang="en-US" sz="950" dirty="0"/>
          </a:p>
          <a:p>
            <a:pPr marL="0" indent="0">
              <a:spcAft>
                <a:spcPts val="300"/>
              </a:spcAft>
              <a:buNone/>
            </a:pPr>
            <a:r>
              <a:rPr lang="en-US" sz="950" b="1" dirty="0">
                <a:solidFill>
                  <a:srgbClr val="1A2535"/>
                </a:solidFill>
                <a:latin typeface="Consolas" pitchFamily="34" charset="0"/>
                <a:ea typeface="Consolas" pitchFamily="34" charset="-122"/>
                <a:cs typeface="Consolas" pitchFamily="34" charset="-120"/>
              </a:rPr>
              <a:t>      = 12 × ₹8 = ₹96</a:t>
            </a:r>
            <a:endParaRPr lang="en-US" sz="950" dirty="0"/>
          </a:p>
        </p:txBody>
      </p:sp>
      <p:sp>
        <p:nvSpPr>
          <p:cNvPr id="10" name="calc-ans-bg-118"/>
          <p:cNvSpPr/>
          <p:nvPr/>
        </p:nvSpPr>
        <p:spPr>
          <a:xfrm>
            <a:off x="384048" y="3364992"/>
            <a:ext cx="2569464" cy="457200"/>
          </a:xfrm>
          <a:prstGeom prst="roundRect">
            <a:avLst>
              <a:gd name="adj" fmla="val 10000"/>
            </a:avLst>
          </a:prstGeom>
          <a:solidFill>
            <a:srgbClr val="FEF3C7"/>
          </a:solidFill>
          <a:ln w="12700">
            <a:solidFill>
              <a:srgbClr val="F6D9A8"/>
            </a:solidFill>
            <a:prstDash val="solid"/>
          </a:ln>
        </p:spPr>
        <p:txBody>
          <a:bodyPr/>
          <a:lstStyle/>
          <a:p>
            <a:endParaRPr lang="en-US"/>
          </a:p>
        </p:txBody>
      </p:sp>
      <p:sp>
        <p:nvSpPr>
          <p:cNvPr id="11" name="calc-ans-119"/>
          <p:cNvSpPr txBox="1"/>
          <p:nvPr/>
        </p:nvSpPr>
        <p:spPr>
          <a:xfrm>
            <a:off x="457200" y="3364992"/>
            <a:ext cx="2423160" cy="457200"/>
          </a:xfrm>
          <a:prstGeom prst="rect">
            <a:avLst/>
          </a:prstGeom>
          <a:noFill/>
          <a:ln/>
        </p:spPr>
        <p:txBody>
          <a:bodyPr wrap="square" lIns="0" tIns="0" rIns="0" bIns="0" rtlCol="0" anchor="ctr"/>
          <a:lstStyle/>
          <a:p>
            <a:pPr marL="0" indent="0">
              <a:buNone/>
            </a:pPr>
            <a:r>
              <a:rPr lang="en-US" sz="1200" dirty="0">
                <a:solidFill>
                  <a:srgbClr val="2D3748"/>
                </a:solidFill>
              </a:rPr>
              <a:t>Answer:  </a:t>
            </a:r>
            <a:r>
              <a:rPr lang="en-US" sz="1200" b="1" dirty="0">
                <a:solidFill>
                  <a:srgbClr val="1A2535"/>
                </a:solidFill>
              </a:rPr>
              <a:t>12 units · ₹96</a:t>
            </a:r>
            <a:endParaRPr lang="en-US" sz="1200" dirty="0"/>
          </a:p>
        </p:txBody>
      </p:sp>
      <p:sp>
        <p:nvSpPr>
          <p:cNvPr id="12" name="calc-120"/>
          <p:cNvSpPr/>
          <p:nvPr/>
        </p:nvSpPr>
        <p:spPr>
          <a:xfrm>
            <a:off x="3177540" y="685800"/>
            <a:ext cx="2788920" cy="3246120"/>
          </a:xfrm>
          <a:prstGeom prst="roundRect">
            <a:avLst>
              <a:gd name="adj" fmla="val 1967"/>
            </a:avLst>
          </a:prstGeom>
          <a:solidFill>
            <a:srgbClr val="F7F8FA"/>
          </a:solidFill>
          <a:ln w="12700">
            <a:solidFill>
              <a:srgbClr val="E2E8F0"/>
            </a:solidFill>
            <a:prstDash val="solid"/>
          </a:ln>
        </p:spPr>
        <p:txBody>
          <a:bodyPr/>
          <a:lstStyle/>
          <a:p>
            <a:endParaRPr lang="en-US"/>
          </a:p>
        </p:txBody>
      </p:sp>
      <p:sp>
        <p:nvSpPr>
          <p:cNvPr id="13" name="calc-band-121"/>
          <p:cNvSpPr/>
          <p:nvPr/>
        </p:nvSpPr>
        <p:spPr>
          <a:xfrm>
            <a:off x="3177540" y="685800"/>
            <a:ext cx="2788920" cy="658368"/>
          </a:xfrm>
          <a:prstGeom prst="rect">
            <a:avLst/>
          </a:prstGeom>
          <a:solidFill>
            <a:srgbClr val="2D3748"/>
          </a:solidFill>
          <a:ln w="12700">
            <a:solidFill>
              <a:srgbClr val="2D3748"/>
            </a:solidFill>
            <a:prstDash val="solid"/>
          </a:ln>
        </p:spPr>
        <p:txBody>
          <a:bodyPr/>
          <a:lstStyle/>
          <a:p>
            <a:endParaRPr lang="en-US"/>
          </a:p>
        </p:txBody>
      </p:sp>
      <p:sp>
        <p:nvSpPr>
          <p:cNvPr id="14" name="num-122"/>
          <p:cNvSpPr/>
          <p:nvPr/>
        </p:nvSpPr>
        <p:spPr>
          <a:xfrm>
            <a:off x="3287268" y="850392"/>
            <a:ext cx="310896" cy="310896"/>
          </a:xfrm>
          <a:prstGeom prst="ellipse">
            <a:avLst/>
          </a:prstGeom>
          <a:solidFill>
            <a:srgbClr val="F59E0B"/>
          </a:solidFill>
          <a:ln w="12700">
            <a:solidFill>
              <a:srgbClr val="F59E0B"/>
            </a:solidFill>
            <a:prstDash val="solid"/>
          </a:ln>
        </p:spPr>
        <p:txBody>
          <a:bodyPr/>
          <a:lstStyle/>
          <a:p>
            <a:endParaRPr lang="en-US"/>
          </a:p>
        </p:txBody>
      </p:sp>
      <p:sp>
        <p:nvSpPr>
          <p:cNvPr id="15" name="num-t-123"/>
          <p:cNvSpPr txBox="1"/>
          <p:nvPr/>
        </p:nvSpPr>
        <p:spPr>
          <a:xfrm>
            <a:off x="3287268" y="850392"/>
            <a:ext cx="310896" cy="310896"/>
          </a:xfrm>
          <a:prstGeom prst="rect">
            <a:avLst/>
          </a:prstGeom>
          <a:noFill/>
          <a:ln/>
        </p:spPr>
        <p:txBody>
          <a:bodyPr wrap="square" lIns="0" tIns="0" rIns="0" bIns="0" rtlCol="0" anchor="ctr"/>
          <a:lstStyle/>
          <a:p>
            <a:pPr marL="0" indent="0" algn="ctr">
              <a:buNone/>
            </a:pPr>
            <a:r>
              <a:rPr lang="en-US" sz="1300" b="1" dirty="0">
                <a:solidFill>
                  <a:srgbClr val="1A2535"/>
                </a:solidFill>
              </a:rPr>
              <a:t>2</a:t>
            </a:r>
            <a:endParaRPr lang="en-US" sz="1300" dirty="0"/>
          </a:p>
        </p:txBody>
      </p:sp>
      <p:sp>
        <p:nvSpPr>
          <p:cNvPr id="16" name="calc-title-124"/>
          <p:cNvSpPr txBox="1"/>
          <p:nvPr/>
        </p:nvSpPr>
        <p:spPr>
          <a:xfrm>
            <a:off x="3680460" y="685800"/>
            <a:ext cx="2221992" cy="658368"/>
          </a:xfrm>
          <a:prstGeom prst="rect">
            <a:avLst/>
          </a:prstGeom>
          <a:noFill/>
          <a:ln/>
        </p:spPr>
        <p:txBody>
          <a:bodyPr wrap="square" lIns="0" tIns="0" rIns="0" bIns="0" rtlCol="0" anchor="ctr"/>
          <a:lstStyle/>
          <a:p>
            <a:pPr marL="0" indent="0">
              <a:buNone/>
            </a:pPr>
            <a:r>
              <a:rPr lang="en-US" sz="1300" b="1" dirty="0">
                <a:solidFill>
                  <a:srgbClr val="FFFFFF"/>
                </a:solidFill>
              </a:rPr>
              <a:t>Monthly bill</a:t>
            </a:r>
            <a:endParaRPr lang="en-US" sz="1300" dirty="0"/>
          </a:p>
          <a:p>
            <a:pPr marL="0" indent="0">
              <a:buNone/>
            </a:pPr>
            <a:r>
              <a:rPr lang="en-US" sz="850" dirty="0">
                <a:solidFill>
                  <a:srgbClr val="F59E0B"/>
                </a:solidFill>
                <a:latin typeface="Consolas" pitchFamily="34" charset="0"/>
                <a:ea typeface="Consolas" pitchFamily="34" charset="-122"/>
                <a:cs typeface="Consolas" pitchFamily="34" charset="-120"/>
              </a:rPr>
              <a:t>/bill?units=250</a:t>
            </a:r>
            <a:endParaRPr lang="en-US" sz="1300" dirty="0"/>
          </a:p>
        </p:txBody>
      </p:sp>
      <p:sp>
        <p:nvSpPr>
          <p:cNvPr id="17" name="calc-q-125"/>
          <p:cNvSpPr txBox="1"/>
          <p:nvPr/>
        </p:nvSpPr>
        <p:spPr>
          <a:xfrm>
            <a:off x="3314700" y="1417320"/>
            <a:ext cx="2514600" cy="457200"/>
          </a:xfrm>
          <a:prstGeom prst="rect">
            <a:avLst/>
          </a:prstGeom>
          <a:noFill/>
          <a:ln/>
        </p:spPr>
        <p:txBody>
          <a:bodyPr wrap="square" lIns="0" tIns="0" rIns="0" bIns="0" rtlCol="0" anchor="t"/>
          <a:lstStyle/>
          <a:p>
            <a:pPr marL="0" indent="0">
              <a:buNone/>
            </a:pPr>
            <a:r>
              <a:rPr lang="en-US" sz="1050" i="1" dirty="0">
                <a:solidFill>
                  <a:srgbClr val="2D3748"/>
                </a:solidFill>
              </a:rPr>
              <a:t>The meter shows 250 units for the month. What is the bill? (slab tariff)</a:t>
            </a:r>
            <a:endParaRPr lang="en-US" sz="1050" dirty="0"/>
          </a:p>
        </p:txBody>
      </p:sp>
      <p:sp>
        <p:nvSpPr>
          <p:cNvPr id="18" name="calc-steps-126"/>
          <p:cNvSpPr txBox="1"/>
          <p:nvPr/>
        </p:nvSpPr>
        <p:spPr>
          <a:xfrm>
            <a:off x="3314700" y="1920240"/>
            <a:ext cx="2514600" cy="1325880"/>
          </a:xfrm>
          <a:prstGeom prst="rect">
            <a:avLst/>
          </a:prstGeom>
          <a:noFill/>
          <a:ln/>
        </p:spPr>
        <p:txBody>
          <a:bodyPr wrap="square" lIns="0" tIns="0" rIns="0" bIns="0" rtlCol="0" anchor="t"/>
          <a:lstStyle/>
          <a:p>
            <a:pPr marL="0" indent="0">
              <a:spcAft>
                <a:spcPts val="300"/>
              </a:spcAft>
              <a:buNone/>
            </a:pPr>
            <a:r>
              <a:rPr lang="en-US" sz="950" dirty="0">
                <a:solidFill>
                  <a:srgbClr val="2D3748"/>
                </a:solidFill>
                <a:latin typeface="Consolas" pitchFamily="34" charset="0"/>
                <a:ea typeface="Consolas" pitchFamily="34" charset="-122"/>
                <a:cs typeface="Consolas" pitchFamily="34" charset="-120"/>
              </a:rPr>
              <a:t>first 100 units × ₹3.00 = ₹300</a:t>
            </a:r>
            <a:endParaRPr lang="en-US" sz="950" dirty="0"/>
          </a:p>
          <a:p>
            <a:pPr marL="0" indent="0">
              <a:spcAft>
                <a:spcPts val="300"/>
              </a:spcAft>
              <a:buNone/>
            </a:pPr>
            <a:r>
              <a:rPr lang="en-US" sz="950" dirty="0">
                <a:solidFill>
                  <a:srgbClr val="2D3748"/>
                </a:solidFill>
                <a:latin typeface="Consolas" pitchFamily="34" charset="0"/>
                <a:ea typeface="Consolas" pitchFamily="34" charset="-122"/>
                <a:cs typeface="Consolas" pitchFamily="34" charset="-120"/>
              </a:rPr>
              <a:t>next  100 units × ₹4.50 = ₹450</a:t>
            </a:r>
            <a:endParaRPr lang="en-US" sz="950" dirty="0"/>
          </a:p>
          <a:p>
            <a:pPr marL="0" indent="0">
              <a:spcAft>
                <a:spcPts val="300"/>
              </a:spcAft>
              <a:buNone/>
            </a:pPr>
            <a:r>
              <a:rPr lang="en-US" sz="950" dirty="0">
                <a:solidFill>
                  <a:srgbClr val="2D3748"/>
                </a:solidFill>
                <a:latin typeface="Consolas" pitchFamily="34" charset="0"/>
                <a:ea typeface="Consolas" pitchFamily="34" charset="-122"/>
                <a:cs typeface="Consolas" pitchFamily="34" charset="-120"/>
              </a:rPr>
              <a:t>last   50 units × ₹6.50 = ₹325</a:t>
            </a:r>
            <a:endParaRPr lang="en-US" sz="950" dirty="0"/>
          </a:p>
          <a:p>
            <a:pPr marL="0" indent="0">
              <a:spcAft>
                <a:spcPts val="300"/>
              </a:spcAft>
              <a:buNone/>
            </a:pPr>
            <a:r>
              <a:rPr lang="en-US" sz="950" dirty="0">
                <a:solidFill>
                  <a:srgbClr val="2D3748"/>
                </a:solidFill>
                <a:latin typeface="Consolas" pitchFamily="34" charset="0"/>
                <a:ea typeface="Consolas" pitchFamily="34" charset="-122"/>
                <a:cs typeface="Consolas" pitchFamily="34" charset="-120"/>
              </a:rPr>
              <a:t>               ───────────</a:t>
            </a:r>
            <a:endParaRPr lang="en-US" sz="950" dirty="0"/>
          </a:p>
          <a:p>
            <a:pPr marL="0" indent="0">
              <a:spcAft>
                <a:spcPts val="300"/>
              </a:spcAft>
              <a:buNone/>
            </a:pPr>
            <a:r>
              <a:rPr lang="en-US" sz="950" b="1" dirty="0">
                <a:solidFill>
                  <a:srgbClr val="1A2535"/>
                </a:solidFill>
                <a:latin typeface="Consolas" pitchFamily="34" charset="0"/>
                <a:ea typeface="Consolas" pitchFamily="34" charset="-122"/>
                <a:cs typeface="Consolas" pitchFamily="34" charset="-120"/>
              </a:rPr>
              <a:t>total 250 units      = ₹1,075</a:t>
            </a:r>
            <a:endParaRPr lang="en-US" sz="950" dirty="0"/>
          </a:p>
        </p:txBody>
      </p:sp>
      <p:sp>
        <p:nvSpPr>
          <p:cNvPr id="19" name="calc-ans-bg-127"/>
          <p:cNvSpPr/>
          <p:nvPr/>
        </p:nvSpPr>
        <p:spPr>
          <a:xfrm>
            <a:off x="3287268" y="3364992"/>
            <a:ext cx="2569464" cy="457200"/>
          </a:xfrm>
          <a:prstGeom prst="roundRect">
            <a:avLst>
              <a:gd name="adj" fmla="val 10000"/>
            </a:avLst>
          </a:prstGeom>
          <a:solidFill>
            <a:srgbClr val="FEF3C7"/>
          </a:solidFill>
          <a:ln w="12700">
            <a:solidFill>
              <a:srgbClr val="F6D9A8"/>
            </a:solidFill>
            <a:prstDash val="solid"/>
          </a:ln>
        </p:spPr>
        <p:txBody>
          <a:bodyPr/>
          <a:lstStyle/>
          <a:p>
            <a:endParaRPr lang="en-US"/>
          </a:p>
        </p:txBody>
      </p:sp>
      <p:sp>
        <p:nvSpPr>
          <p:cNvPr id="20" name="calc-ans-128"/>
          <p:cNvSpPr txBox="1"/>
          <p:nvPr/>
        </p:nvSpPr>
        <p:spPr>
          <a:xfrm>
            <a:off x="3360420" y="3364992"/>
            <a:ext cx="2423160" cy="457200"/>
          </a:xfrm>
          <a:prstGeom prst="rect">
            <a:avLst/>
          </a:prstGeom>
          <a:noFill/>
          <a:ln/>
        </p:spPr>
        <p:txBody>
          <a:bodyPr wrap="square" lIns="0" tIns="0" rIns="0" bIns="0" rtlCol="0" anchor="ctr"/>
          <a:lstStyle/>
          <a:p>
            <a:pPr marL="0" indent="0">
              <a:buNone/>
            </a:pPr>
            <a:r>
              <a:rPr lang="en-US" sz="1200" dirty="0">
                <a:solidFill>
                  <a:srgbClr val="2D3748"/>
                </a:solidFill>
              </a:rPr>
              <a:t>Answer:  </a:t>
            </a:r>
            <a:r>
              <a:rPr lang="en-US" sz="1200" b="1" dirty="0">
                <a:solidFill>
                  <a:srgbClr val="1A2535"/>
                </a:solidFill>
              </a:rPr>
              <a:t>₹1,075</a:t>
            </a:r>
            <a:endParaRPr lang="en-US" sz="1200" dirty="0"/>
          </a:p>
        </p:txBody>
      </p:sp>
      <p:sp>
        <p:nvSpPr>
          <p:cNvPr id="21" name="calc-129"/>
          <p:cNvSpPr/>
          <p:nvPr/>
        </p:nvSpPr>
        <p:spPr>
          <a:xfrm>
            <a:off x="6080760" y="685800"/>
            <a:ext cx="2788920" cy="3246120"/>
          </a:xfrm>
          <a:prstGeom prst="roundRect">
            <a:avLst>
              <a:gd name="adj" fmla="val 1967"/>
            </a:avLst>
          </a:prstGeom>
          <a:solidFill>
            <a:srgbClr val="F7F8FA"/>
          </a:solidFill>
          <a:ln w="12700">
            <a:solidFill>
              <a:srgbClr val="E2E8F0"/>
            </a:solidFill>
            <a:prstDash val="solid"/>
          </a:ln>
        </p:spPr>
        <p:txBody>
          <a:bodyPr/>
          <a:lstStyle/>
          <a:p>
            <a:endParaRPr lang="en-US"/>
          </a:p>
        </p:txBody>
      </p:sp>
      <p:sp>
        <p:nvSpPr>
          <p:cNvPr id="22" name="calc-band-130"/>
          <p:cNvSpPr/>
          <p:nvPr/>
        </p:nvSpPr>
        <p:spPr>
          <a:xfrm>
            <a:off x="6080760" y="685800"/>
            <a:ext cx="2788920" cy="658368"/>
          </a:xfrm>
          <a:prstGeom prst="rect">
            <a:avLst/>
          </a:prstGeom>
          <a:solidFill>
            <a:srgbClr val="2D3748"/>
          </a:solidFill>
          <a:ln w="12700">
            <a:solidFill>
              <a:srgbClr val="2D3748"/>
            </a:solidFill>
            <a:prstDash val="solid"/>
          </a:ln>
        </p:spPr>
        <p:txBody>
          <a:bodyPr/>
          <a:lstStyle/>
          <a:p>
            <a:endParaRPr lang="en-US"/>
          </a:p>
        </p:txBody>
      </p:sp>
      <p:sp>
        <p:nvSpPr>
          <p:cNvPr id="23" name="num-131"/>
          <p:cNvSpPr/>
          <p:nvPr/>
        </p:nvSpPr>
        <p:spPr>
          <a:xfrm>
            <a:off x="6190488" y="850392"/>
            <a:ext cx="310896" cy="310896"/>
          </a:xfrm>
          <a:prstGeom prst="ellipse">
            <a:avLst/>
          </a:prstGeom>
          <a:solidFill>
            <a:srgbClr val="F59E0B"/>
          </a:solidFill>
          <a:ln w="12700">
            <a:solidFill>
              <a:srgbClr val="F59E0B"/>
            </a:solidFill>
            <a:prstDash val="solid"/>
          </a:ln>
        </p:spPr>
        <p:txBody>
          <a:bodyPr/>
          <a:lstStyle/>
          <a:p>
            <a:endParaRPr lang="en-US"/>
          </a:p>
        </p:txBody>
      </p:sp>
      <p:sp>
        <p:nvSpPr>
          <p:cNvPr id="24" name="num-t-132"/>
          <p:cNvSpPr txBox="1"/>
          <p:nvPr/>
        </p:nvSpPr>
        <p:spPr>
          <a:xfrm>
            <a:off x="6190488" y="850392"/>
            <a:ext cx="310896" cy="310896"/>
          </a:xfrm>
          <a:prstGeom prst="rect">
            <a:avLst/>
          </a:prstGeom>
          <a:noFill/>
          <a:ln/>
        </p:spPr>
        <p:txBody>
          <a:bodyPr wrap="square" lIns="0" tIns="0" rIns="0" bIns="0" rtlCol="0" anchor="ctr"/>
          <a:lstStyle/>
          <a:p>
            <a:pPr marL="0" indent="0" algn="ctr">
              <a:buNone/>
            </a:pPr>
            <a:r>
              <a:rPr lang="en-US" sz="1300" b="1" dirty="0">
                <a:solidFill>
                  <a:srgbClr val="1A2535"/>
                </a:solidFill>
              </a:rPr>
              <a:t>3</a:t>
            </a:r>
            <a:endParaRPr lang="en-US" sz="1300" dirty="0"/>
          </a:p>
        </p:txBody>
      </p:sp>
      <p:sp>
        <p:nvSpPr>
          <p:cNvPr id="25" name="calc-title-133"/>
          <p:cNvSpPr txBox="1"/>
          <p:nvPr/>
        </p:nvSpPr>
        <p:spPr>
          <a:xfrm>
            <a:off x="6583680" y="685800"/>
            <a:ext cx="2221992" cy="658368"/>
          </a:xfrm>
          <a:prstGeom prst="rect">
            <a:avLst/>
          </a:prstGeom>
          <a:noFill/>
          <a:ln/>
        </p:spPr>
        <p:txBody>
          <a:bodyPr wrap="square" lIns="0" tIns="0" rIns="0" bIns="0" rtlCol="0" anchor="ctr"/>
          <a:lstStyle/>
          <a:p>
            <a:pPr marL="0" indent="0">
              <a:buNone/>
            </a:pPr>
            <a:r>
              <a:rPr lang="en-US" sz="1300" b="1" dirty="0">
                <a:solidFill>
                  <a:srgbClr val="FFFFFF"/>
                </a:solidFill>
              </a:rPr>
              <a:t>Calculator</a:t>
            </a:r>
            <a:endParaRPr lang="en-US" sz="1300" dirty="0"/>
          </a:p>
          <a:p>
            <a:pPr marL="0" indent="0">
              <a:buNone/>
            </a:pPr>
            <a:r>
              <a:rPr lang="en-US" sz="850" dirty="0">
                <a:solidFill>
                  <a:srgbClr val="F59E0B"/>
                </a:solidFill>
                <a:latin typeface="Consolas" pitchFamily="34" charset="0"/>
                <a:ea typeface="Consolas" pitchFamily="34" charset="-122"/>
                <a:cs typeface="Consolas" pitchFamily="34" charset="-120"/>
              </a:rPr>
              <a:t>/calculate?a=12&amp;b=3&amp;op=div</a:t>
            </a:r>
            <a:endParaRPr lang="en-US" sz="1300" dirty="0"/>
          </a:p>
        </p:txBody>
      </p:sp>
      <p:sp>
        <p:nvSpPr>
          <p:cNvPr id="26" name="calc-q-134"/>
          <p:cNvSpPr txBox="1"/>
          <p:nvPr/>
        </p:nvSpPr>
        <p:spPr>
          <a:xfrm>
            <a:off x="6217920" y="1417320"/>
            <a:ext cx="2514600" cy="457200"/>
          </a:xfrm>
          <a:prstGeom prst="rect">
            <a:avLst/>
          </a:prstGeom>
          <a:noFill/>
          <a:ln/>
        </p:spPr>
        <p:txBody>
          <a:bodyPr wrap="square" lIns="0" tIns="0" rIns="0" bIns="0" rtlCol="0" anchor="t"/>
          <a:lstStyle/>
          <a:p>
            <a:pPr marL="0" indent="0">
              <a:buNone/>
            </a:pPr>
            <a:r>
              <a:rPr lang="en-US" sz="1050" i="1" dirty="0">
                <a:solidFill>
                  <a:srgbClr val="2D3748"/>
                </a:solidFill>
              </a:rPr>
              <a:t>Divide 12 by 3.</a:t>
            </a:r>
            <a:endParaRPr lang="en-US" sz="1050" dirty="0"/>
          </a:p>
        </p:txBody>
      </p:sp>
      <p:sp>
        <p:nvSpPr>
          <p:cNvPr id="27" name="calc-steps-135"/>
          <p:cNvSpPr txBox="1"/>
          <p:nvPr/>
        </p:nvSpPr>
        <p:spPr>
          <a:xfrm>
            <a:off x="6217920" y="1920240"/>
            <a:ext cx="2514600" cy="1325880"/>
          </a:xfrm>
          <a:prstGeom prst="rect">
            <a:avLst/>
          </a:prstGeom>
          <a:noFill/>
          <a:ln/>
        </p:spPr>
        <p:txBody>
          <a:bodyPr wrap="square" lIns="0" tIns="0" rIns="0" bIns="0" rtlCol="0" anchor="t"/>
          <a:lstStyle/>
          <a:p>
            <a:pPr marL="0" indent="0">
              <a:spcAft>
                <a:spcPts val="300"/>
              </a:spcAft>
              <a:buNone/>
            </a:pPr>
            <a:r>
              <a:rPr lang="en-US" sz="950" dirty="0">
                <a:solidFill>
                  <a:srgbClr val="2D3748"/>
                </a:solidFill>
                <a:latin typeface="Consolas" pitchFamily="34" charset="0"/>
                <a:ea typeface="Consolas" pitchFamily="34" charset="-122"/>
                <a:cs typeface="Consolas" pitchFamily="34" charset="-120"/>
              </a:rPr>
              <a:t>op = div  →  a ÷ b</a:t>
            </a:r>
            <a:endParaRPr lang="en-US" sz="950" dirty="0"/>
          </a:p>
          <a:p>
            <a:pPr marL="0" indent="0">
              <a:spcAft>
                <a:spcPts val="300"/>
              </a:spcAft>
              <a:buNone/>
            </a:pPr>
            <a:r>
              <a:rPr lang="en-US" sz="950" dirty="0">
                <a:solidFill>
                  <a:srgbClr val="2D3748"/>
                </a:solidFill>
                <a:latin typeface="Consolas" pitchFamily="34" charset="0"/>
                <a:ea typeface="Consolas" pitchFamily="34" charset="-122"/>
                <a:cs typeface="Consolas" pitchFamily="34" charset="-120"/>
              </a:rPr>
              <a:t>   = 12 ÷ 3</a:t>
            </a:r>
            <a:endParaRPr lang="en-US" sz="950" dirty="0"/>
          </a:p>
          <a:p>
            <a:pPr marL="0" indent="0">
              <a:spcAft>
                <a:spcPts val="300"/>
              </a:spcAft>
              <a:buNone/>
            </a:pPr>
            <a:r>
              <a:rPr lang="en-US" sz="950" b="1" dirty="0">
                <a:solidFill>
                  <a:srgbClr val="1A2535"/>
                </a:solidFill>
                <a:latin typeface="Consolas" pitchFamily="34" charset="0"/>
                <a:ea typeface="Consolas" pitchFamily="34" charset="-122"/>
                <a:cs typeface="Consolas" pitchFamily="34" charset="-120"/>
              </a:rPr>
              <a:t>   = 4.0</a:t>
            </a:r>
            <a:endParaRPr lang="en-US" sz="950" dirty="0"/>
          </a:p>
          <a:p>
            <a:pPr marL="0" indent="0">
              <a:spcAft>
                <a:spcPts val="300"/>
              </a:spcAft>
              <a:buNone/>
            </a:pPr>
            <a:endParaRPr lang="en-US" sz="950" dirty="0"/>
          </a:p>
          <a:p>
            <a:pPr marL="0" indent="0">
              <a:spcAft>
                <a:spcPts val="300"/>
              </a:spcAft>
              <a:buNone/>
            </a:pPr>
            <a:r>
              <a:rPr lang="en-US" sz="950" dirty="0">
                <a:solidFill>
                  <a:srgbClr val="2D3748"/>
                </a:solidFill>
                <a:latin typeface="Consolas" pitchFamily="34" charset="0"/>
                <a:ea typeface="Consolas" pitchFamily="34" charset="-122"/>
                <a:cs typeface="Consolas" pitchFamily="34" charset="-120"/>
              </a:rPr>
              <a:t>(op can be add, sub, mul, div;</a:t>
            </a:r>
            <a:endParaRPr lang="en-US" sz="950" dirty="0"/>
          </a:p>
          <a:p>
            <a:pPr marL="0" indent="0">
              <a:spcAft>
                <a:spcPts val="300"/>
              </a:spcAft>
              <a:buNone/>
            </a:pPr>
            <a:r>
              <a:rPr lang="en-US" sz="950" dirty="0">
                <a:solidFill>
                  <a:srgbClr val="2D3748"/>
                </a:solidFill>
                <a:latin typeface="Consolas" pitchFamily="34" charset="0"/>
                <a:ea typeface="Consolas" pitchFamily="34" charset="-122"/>
                <a:cs typeface="Consolas" pitchFamily="34" charset="-120"/>
              </a:rPr>
              <a:t> b = 0 with div → error 400)</a:t>
            </a:r>
            <a:endParaRPr lang="en-US" sz="950" dirty="0"/>
          </a:p>
        </p:txBody>
      </p:sp>
      <p:sp>
        <p:nvSpPr>
          <p:cNvPr id="28" name="calc-ans-bg-136"/>
          <p:cNvSpPr/>
          <p:nvPr/>
        </p:nvSpPr>
        <p:spPr>
          <a:xfrm>
            <a:off x="6190488" y="3364992"/>
            <a:ext cx="2569464" cy="457200"/>
          </a:xfrm>
          <a:prstGeom prst="roundRect">
            <a:avLst>
              <a:gd name="adj" fmla="val 10000"/>
            </a:avLst>
          </a:prstGeom>
          <a:solidFill>
            <a:srgbClr val="FEF3C7"/>
          </a:solidFill>
          <a:ln w="12700">
            <a:solidFill>
              <a:srgbClr val="F6D9A8"/>
            </a:solidFill>
            <a:prstDash val="solid"/>
          </a:ln>
        </p:spPr>
        <p:txBody>
          <a:bodyPr/>
          <a:lstStyle/>
          <a:p>
            <a:endParaRPr lang="en-US"/>
          </a:p>
        </p:txBody>
      </p:sp>
      <p:sp>
        <p:nvSpPr>
          <p:cNvPr id="29" name="calc-ans-137"/>
          <p:cNvSpPr txBox="1"/>
          <p:nvPr/>
        </p:nvSpPr>
        <p:spPr>
          <a:xfrm>
            <a:off x="6263640" y="3364992"/>
            <a:ext cx="2423160" cy="457200"/>
          </a:xfrm>
          <a:prstGeom prst="rect">
            <a:avLst/>
          </a:prstGeom>
          <a:noFill/>
          <a:ln/>
        </p:spPr>
        <p:txBody>
          <a:bodyPr wrap="square" lIns="0" tIns="0" rIns="0" bIns="0" rtlCol="0" anchor="ctr"/>
          <a:lstStyle/>
          <a:p>
            <a:pPr marL="0" indent="0">
              <a:buNone/>
            </a:pPr>
            <a:r>
              <a:rPr lang="en-US" sz="1200" dirty="0">
                <a:solidFill>
                  <a:srgbClr val="2D3748"/>
                </a:solidFill>
              </a:rPr>
              <a:t>Answer:  </a:t>
            </a:r>
            <a:r>
              <a:rPr lang="en-US" sz="1200" b="1" dirty="0">
                <a:solidFill>
                  <a:srgbClr val="1A2535"/>
                </a:solidFill>
              </a:rPr>
              <a:t>4.0</a:t>
            </a:r>
            <a:endParaRPr lang="en-US" sz="1200" dirty="0"/>
          </a:p>
        </p:txBody>
      </p:sp>
      <p:sp>
        <p:nvSpPr>
          <p:cNvPr id="30" name="note-138"/>
          <p:cNvSpPr/>
          <p:nvPr/>
        </p:nvSpPr>
        <p:spPr>
          <a:xfrm>
            <a:off x="274320" y="4005072"/>
            <a:ext cx="8595360" cy="438912"/>
          </a:xfrm>
          <a:prstGeom prst="roundRect">
            <a:avLst>
              <a:gd name="adj" fmla="val 10417"/>
            </a:avLst>
          </a:prstGeom>
          <a:solidFill>
            <a:srgbClr val="EEF2FF"/>
          </a:solidFill>
          <a:ln w="12700">
            <a:solidFill>
              <a:srgbClr val="D5DCF5"/>
            </a:solidFill>
            <a:prstDash val="solid"/>
          </a:ln>
        </p:spPr>
        <p:txBody>
          <a:bodyPr/>
          <a:lstStyle/>
          <a:p>
            <a:endParaRPr lang="en-US"/>
          </a:p>
        </p:txBody>
      </p:sp>
      <p:sp>
        <p:nvSpPr>
          <p:cNvPr id="31" name="note-t-139"/>
          <p:cNvSpPr txBox="1"/>
          <p:nvPr/>
        </p:nvSpPr>
        <p:spPr>
          <a:xfrm>
            <a:off x="411480" y="4050792"/>
            <a:ext cx="8321040" cy="347472"/>
          </a:xfrm>
          <a:prstGeom prst="rect">
            <a:avLst/>
          </a:prstGeom>
          <a:noFill/>
          <a:ln/>
        </p:spPr>
        <p:txBody>
          <a:bodyPr wrap="square" lIns="0" tIns="0" rIns="0" bIns="0" rtlCol="0" anchor="ctr"/>
          <a:lstStyle/>
          <a:p>
            <a:pPr marL="0" indent="0">
              <a:buNone/>
            </a:pPr>
            <a:r>
              <a:rPr lang="en-US" sz="950" dirty="0">
                <a:solidFill>
                  <a:srgbClr val="2D3748"/>
                </a:solidFill>
              </a:rPr>
              <a:t>These are NOT connected: the 250 units is the user's own monthly meter reading, typed into /bill — it does not come from card 1. (Card 1 is one AC for one day; 12 units × 30 days would be 360 units a month.)</a:t>
            </a:r>
            <a:endParaRPr lang="en-US" sz="950" dirty="0"/>
          </a:p>
        </p:txBody>
      </p:sp>
      <p:sp>
        <p:nvSpPr>
          <p:cNvPr id="32" name="lab-140"/>
          <p:cNvSpPr/>
          <p:nvPr/>
        </p:nvSpPr>
        <p:spPr>
          <a:xfrm>
            <a:off x="274320" y="4498848"/>
            <a:ext cx="8595360" cy="384048"/>
          </a:xfrm>
          <a:prstGeom prst="roundRect">
            <a:avLst>
              <a:gd name="adj" fmla="val 11905"/>
            </a:avLst>
          </a:prstGeom>
          <a:solidFill>
            <a:srgbClr val="FFF8E7"/>
          </a:solidFill>
          <a:ln w="12700">
            <a:solidFill>
              <a:srgbClr val="F6D9A8"/>
            </a:solidFill>
            <a:prstDash val="solid"/>
          </a:ln>
        </p:spPr>
        <p:txBody>
          <a:bodyPr/>
          <a:lstStyle/>
          <a:p>
            <a:endParaRPr lang="en-US"/>
          </a:p>
        </p:txBody>
      </p:sp>
      <p:sp>
        <p:nvSpPr>
          <p:cNvPr id="33" name="lab-t-141"/>
          <p:cNvSpPr txBox="1"/>
          <p:nvPr/>
        </p:nvSpPr>
        <p:spPr>
          <a:xfrm>
            <a:off x="411480" y="4507992"/>
            <a:ext cx="8321040" cy="365760"/>
          </a:xfrm>
          <a:prstGeom prst="rect">
            <a:avLst/>
          </a:prstGeom>
          <a:noFill/>
          <a:ln/>
        </p:spPr>
        <p:txBody>
          <a:bodyPr wrap="square" lIns="0" tIns="0" rIns="0" bIns="0" rtlCol="0" anchor="ctr"/>
          <a:lstStyle/>
          <a:p>
            <a:pPr marL="0" indent="0">
              <a:buNone/>
            </a:pPr>
            <a:r>
              <a:rPr lang="en-US" sz="1050" b="1" dirty="0">
                <a:solidFill>
                  <a:srgbClr val="2D3748"/>
                </a:solidFill>
              </a:rPr>
              <a:t>Note:  </a:t>
            </a:r>
            <a:r>
              <a:rPr lang="en-US" sz="1050" dirty="0">
                <a:solidFill>
                  <a:srgbClr val="2D3748"/>
                </a:solidFill>
              </a:rPr>
              <a:t>the slab rates are illustrative, not a real utility's tariff  ·  next slide: each request becomes one line in the logbook</a:t>
            </a:r>
            <a:endParaRPr lang="en-US" sz="1050" dirty="0"/>
          </a:p>
        </p:txBody>
      </p:sp>
      <p:sp>
        <p:nvSpPr>
          <p:cNvPr id="34" name="Slide Number Placeholder 0"/>
          <p:cNvSpPr>
            <a:spLocks noGrp="1"/>
          </p:cNvSpPr>
          <p:nvPr>
            <p:ph type="sldNum" sz="quarter" idx="4294967295"/>
          </p:nvPr>
        </p:nvSpPr>
        <p:spPr>
          <a:xfrm>
            <a:off x="8549640" y="4919472"/>
            <a:ext cx="36576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718096"/>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1097280" y="91440"/>
            <a:ext cx="7772400" cy="347472"/>
          </a:xfrm>
          <a:prstGeom prst="rect">
            <a:avLst/>
          </a:prstGeom>
          <a:noFill/>
          <a:ln/>
        </p:spPr>
        <p:txBody>
          <a:bodyPr wrap="square" lIns="0" tIns="0" rIns="0" bIns="0" rtlCol="0" anchor="ctr"/>
          <a:lstStyle/>
          <a:p>
            <a:pPr marL="0" indent="0" algn="l">
              <a:buNone/>
            </a:pPr>
            <a:r>
              <a:rPr lang="en-US" sz="1300" b="1" dirty="0">
                <a:solidFill>
                  <a:srgbClr val="F59E0B"/>
                </a:solidFill>
              </a:rPr>
              <a:t>THE LOGBOOK IN ACTION  ·  What happens when someone asks for an energy cost</a:t>
            </a:r>
            <a:endParaRPr lang="en-US" sz="1300" dirty="0"/>
          </a:p>
        </p:txBody>
      </p:sp>
      <p:sp>
        <p:nvSpPr>
          <p:cNvPr id="3" name="box-142"/>
          <p:cNvSpPr/>
          <p:nvPr/>
        </p:nvSpPr>
        <p:spPr>
          <a:xfrm>
            <a:off x="274320" y="731520"/>
            <a:ext cx="2011680" cy="914400"/>
          </a:xfrm>
          <a:prstGeom prst="roundRect">
            <a:avLst>
              <a:gd name="adj" fmla="val 6000"/>
            </a:avLst>
          </a:prstGeom>
          <a:solidFill>
            <a:srgbClr val="2D3748"/>
          </a:solidFill>
          <a:ln w="12700">
            <a:solidFill>
              <a:srgbClr val="2D3748"/>
            </a:solidFill>
            <a:prstDash val="solid"/>
          </a:ln>
        </p:spPr>
        <p:txBody>
          <a:bodyPr/>
          <a:lstStyle/>
          <a:p>
            <a:endParaRPr lang="en-US"/>
          </a:p>
        </p:txBody>
      </p:sp>
      <p:sp>
        <p:nvSpPr>
          <p:cNvPr id="4" name="box-t-143"/>
          <p:cNvSpPr txBox="1"/>
          <p:nvPr/>
        </p:nvSpPr>
        <p:spPr>
          <a:xfrm>
            <a:off x="274320" y="731520"/>
            <a:ext cx="2011680" cy="914400"/>
          </a:xfrm>
          <a:prstGeom prst="rect">
            <a:avLst/>
          </a:prstGeom>
          <a:noFill/>
          <a:ln/>
        </p:spPr>
        <p:txBody>
          <a:bodyPr wrap="square" lIns="762" tIns="762" rIns="762" bIns="762" rtlCol="0" anchor="ctr"/>
          <a:lstStyle/>
          <a:p>
            <a:pPr marL="0" indent="0" algn="ctr">
              <a:buNone/>
            </a:pPr>
            <a:r>
              <a:rPr lang="en-US" sz="1100" b="1" dirty="0">
                <a:solidFill>
                  <a:srgbClr val="FFFFFF"/>
                </a:solidFill>
              </a:rPr>
              <a:t>1 · A user asks</a:t>
            </a:r>
            <a:endParaRPr lang="en-US" sz="1100" dirty="0"/>
          </a:p>
          <a:p>
            <a:pPr marL="0" indent="0" algn="ctr">
              <a:buNone/>
            </a:pPr>
            <a:r>
              <a:rPr lang="en-US" sz="950" dirty="0">
                <a:solidFill>
                  <a:srgbClr val="E2E8F0"/>
                </a:solidFill>
              </a:rPr>
              <a:t>GET /energy-cost?watts=1500&amp;hours=8</a:t>
            </a:r>
            <a:endParaRPr lang="en-US" sz="1100" dirty="0"/>
          </a:p>
        </p:txBody>
      </p:sp>
      <p:sp>
        <p:nvSpPr>
          <p:cNvPr id="5" name="arrow-144"/>
          <p:cNvSpPr txBox="1"/>
          <p:nvPr/>
        </p:nvSpPr>
        <p:spPr>
          <a:xfrm>
            <a:off x="2286000" y="1005840"/>
            <a:ext cx="365760" cy="365760"/>
          </a:xfrm>
          <a:prstGeom prst="rect">
            <a:avLst/>
          </a:prstGeom>
          <a:noFill/>
          <a:ln/>
        </p:spPr>
        <p:txBody>
          <a:bodyPr wrap="square" lIns="0" tIns="0" rIns="0" bIns="0" rtlCol="0" anchor="ctr"/>
          <a:lstStyle/>
          <a:p>
            <a:pPr marL="0" indent="0" algn="ctr">
              <a:buNone/>
            </a:pPr>
            <a:r>
              <a:rPr lang="en-US" sz="1800" dirty="0">
                <a:solidFill>
                  <a:srgbClr val="718096"/>
                </a:solidFill>
              </a:rPr>
              <a:t>→</a:t>
            </a:r>
            <a:endParaRPr lang="en-US" sz="1800" dirty="0"/>
          </a:p>
        </p:txBody>
      </p:sp>
      <p:sp>
        <p:nvSpPr>
          <p:cNvPr id="6" name="box-145"/>
          <p:cNvSpPr/>
          <p:nvPr/>
        </p:nvSpPr>
        <p:spPr>
          <a:xfrm>
            <a:off x="2651760" y="731520"/>
            <a:ext cx="2011680" cy="914400"/>
          </a:xfrm>
          <a:prstGeom prst="roundRect">
            <a:avLst>
              <a:gd name="adj" fmla="val 6000"/>
            </a:avLst>
          </a:prstGeom>
          <a:solidFill>
            <a:srgbClr val="2D3748"/>
          </a:solidFill>
          <a:ln w="12700">
            <a:solidFill>
              <a:srgbClr val="2D3748"/>
            </a:solidFill>
            <a:prstDash val="solid"/>
          </a:ln>
        </p:spPr>
        <p:txBody>
          <a:bodyPr/>
          <a:lstStyle/>
          <a:p>
            <a:endParaRPr lang="en-US"/>
          </a:p>
        </p:txBody>
      </p:sp>
      <p:sp>
        <p:nvSpPr>
          <p:cNvPr id="7" name="box-t-146"/>
          <p:cNvSpPr txBox="1"/>
          <p:nvPr/>
        </p:nvSpPr>
        <p:spPr>
          <a:xfrm>
            <a:off x="2651760" y="731520"/>
            <a:ext cx="2011680" cy="914400"/>
          </a:xfrm>
          <a:prstGeom prst="rect">
            <a:avLst/>
          </a:prstGeom>
          <a:noFill/>
          <a:ln/>
        </p:spPr>
        <p:txBody>
          <a:bodyPr wrap="square" lIns="762" tIns="762" rIns="762" bIns="762" rtlCol="0" anchor="ctr"/>
          <a:lstStyle/>
          <a:p>
            <a:pPr marL="0" indent="0" algn="ctr">
              <a:buNone/>
            </a:pPr>
            <a:r>
              <a:rPr lang="en-US" sz="1100" b="1" dirty="0">
                <a:solidFill>
                  <a:srgbClr val="FFFFFF"/>
                </a:solidFill>
              </a:rPr>
              <a:t>2 · app.py works it out</a:t>
            </a:r>
            <a:endParaRPr lang="en-US" sz="1100" dirty="0"/>
          </a:p>
          <a:p>
            <a:pPr marL="0" indent="0" algn="ctr">
              <a:buNone/>
            </a:pPr>
            <a:r>
              <a:rPr lang="en-US" sz="950" dirty="0">
                <a:solidFill>
                  <a:srgbClr val="E2E8F0"/>
                </a:solidFill>
              </a:rPr>
              <a:t>1500 W × 8 h = 12 units → ₹96</a:t>
            </a:r>
            <a:endParaRPr lang="en-US" sz="1100" dirty="0"/>
          </a:p>
        </p:txBody>
      </p:sp>
      <p:sp>
        <p:nvSpPr>
          <p:cNvPr id="8" name="arrow-147"/>
          <p:cNvSpPr txBox="1"/>
          <p:nvPr/>
        </p:nvSpPr>
        <p:spPr>
          <a:xfrm>
            <a:off x="4663440" y="1005840"/>
            <a:ext cx="365760" cy="365760"/>
          </a:xfrm>
          <a:prstGeom prst="rect">
            <a:avLst/>
          </a:prstGeom>
          <a:noFill/>
          <a:ln/>
        </p:spPr>
        <p:txBody>
          <a:bodyPr wrap="square" lIns="0" tIns="0" rIns="0" bIns="0" rtlCol="0" anchor="ctr"/>
          <a:lstStyle/>
          <a:p>
            <a:pPr marL="0" indent="0" algn="ctr">
              <a:buNone/>
            </a:pPr>
            <a:r>
              <a:rPr lang="en-US" sz="1800" dirty="0">
                <a:solidFill>
                  <a:srgbClr val="718096"/>
                </a:solidFill>
              </a:rPr>
              <a:t>→</a:t>
            </a:r>
            <a:endParaRPr lang="en-US" sz="1800" dirty="0"/>
          </a:p>
        </p:txBody>
      </p:sp>
      <p:sp>
        <p:nvSpPr>
          <p:cNvPr id="9" name="box-148"/>
          <p:cNvSpPr/>
          <p:nvPr/>
        </p:nvSpPr>
        <p:spPr>
          <a:xfrm>
            <a:off x="5029200" y="731520"/>
            <a:ext cx="1828800" cy="914400"/>
          </a:xfrm>
          <a:prstGeom prst="roundRect">
            <a:avLst>
              <a:gd name="adj" fmla="val 6000"/>
            </a:avLst>
          </a:prstGeom>
          <a:solidFill>
            <a:srgbClr val="F59E0B"/>
          </a:solidFill>
          <a:ln w="12700">
            <a:solidFill>
              <a:srgbClr val="F59E0B"/>
            </a:solidFill>
            <a:prstDash val="solid"/>
          </a:ln>
        </p:spPr>
        <p:txBody>
          <a:bodyPr/>
          <a:lstStyle/>
          <a:p>
            <a:endParaRPr lang="en-US"/>
          </a:p>
        </p:txBody>
      </p:sp>
      <p:sp>
        <p:nvSpPr>
          <p:cNvPr id="10" name="box-t-149"/>
          <p:cNvSpPr txBox="1"/>
          <p:nvPr/>
        </p:nvSpPr>
        <p:spPr>
          <a:xfrm>
            <a:off x="5029200" y="731520"/>
            <a:ext cx="1828800" cy="914400"/>
          </a:xfrm>
          <a:prstGeom prst="rect">
            <a:avLst/>
          </a:prstGeom>
          <a:noFill/>
          <a:ln/>
        </p:spPr>
        <p:txBody>
          <a:bodyPr wrap="square" lIns="762" tIns="762" rIns="762" bIns="762" rtlCol="0" anchor="ctr"/>
          <a:lstStyle/>
          <a:p>
            <a:pPr marL="0" indent="0" algn="ctr">
              <a:buNone/>
            </a:pPr>
            <a:r>
              <a:rPr lang="en-US" sz="1100" b="1" dirty="0">
                <a:solidFill>
                  <a:srgbClr val="1A2535"/>
                </a:solidFill>
              </a:rPr>
              <a:t>3 · writes one line</a:t>
            </a:r>
            <a:endParaRPr lang="en-US" sz="1100" dirty="0"/>
          </a:p>
          <a:p>
            <a:pPr marL="0" indent="0" algn="ctr">
              <a:buNone/>
            </a:pPr>
            <a:r>
              <a:rPr lang="en-US" sz="950" dirty="0">
                <a:solidFill>
                  <a:srgbClr val="1A2535"/>
                </a:solidFill>
              </a:rPr>
              <a:t>save_calculation(…) → calculations table</a:t>
            </a:r>
            <a:endParaRPr lang="en-US" sz="1100" dirty="0"/>
          </a:p>
        </p:txBody>
      </p:sp>
      <p:sp>
        <p:nvSpPr>
          <p:cNvPr id="11" name="arrow-150"/>
          <p:cNvSpPr txBox="1"/>
          <p:nvPr/>
        </p:nvSpPr>
        <p:spPr>
          <a:xfrm>
            <a:off x="6858000" y="1005840"/>
            <a:ext cx="365760" cy="365760"/>
          </a:xfrm>
          <a:prstGeom prst="rect">
            <a:avLst/>
          </a:prstGeom>
          <a:noFill/>
          <a:ln/>
        </p:spPr>
        <p:txBody>
          <a:bodyPr wrap="square" lIns="0" tIns="0" rIns="0" bIns="0" rtlCol="0" anchor="ctr"/>
          <a:lstStyle/>
          <a:p>
            <a:pPr marL="0" indent="0" algn="ctr">
              <a:buNone/>
            </a:pPr>
            <a:r>
              <a:rPr lang="en-US" sz="1800" dirty="0">
                <a:solidFill>
                  <a:srgbClr val="718096"/>
                </a:solidFill>
              </a:rPr>
              <a:t>→</a:t>
            </a:r>
            <a:endParaRPr lang="en-US" sz="1800" dirty="0"/>
          </a:p>
        </p:txBody>
      </p:sp>
      <p:sp>
        <p:nvSpPr>
          <p:cNvPr id="12" name="box-151"/>
          <p:cNvSpPr/>
          <p:nvPr/>
        </p:nvSpPr>
        <p:spPr>
          <a:xfrm>
            <a:off x="7223760" y="731520"/>
            <a:ext cx="1645920" cy="914400"/>
          </a:xfrm>
          <a:prstGeom prst="roundRect">
            <a:avLst>
              <a:gd name="adj" fmla="val 6000"/>
            </a:avLst>
          </a:prstGeom>
          <a:solidFill>
            <a:srgbClr val="0F6E56"/>
          </a:solidFill>
          <a:ln w="12700">
            <a:solidFill>
              <a:srgbClr val="0F6E56"/>
            </a:solidFill>
            <a:prstDash val="solid"/>
          </a:ln>
        </p:spPr>
        <p:txBody>
          <a:bodyPr/>
          <a:lstStyle/>
          <a:p>
            <a:endParaRPr lang="en-US"/>
          </a:p>
        </p:txBody>
      </p:sp>
      <p:sp>
        <p:nvSpPr>
          <p:cNvPr id="13" name="box-t-152"/>
          <p:cNvSpPr txBox="1"/>
          <p:nvPr/>
        </p:nvSpPr>
        <p:spPr>
          <a:xfrm>
            <a:off x="7223760" y="731520"/>
            <a:ext cx="1645920" cy="914400"/>
          </a:xfrm>
          <a:prstGeom prst="rect">
            <a:avLst/>
          </a:prstGeom>
          <a:noFill/>
          <a:ln/>
        </p:spPr>
        <p:txBody>
          <a:bodyPr wrap="square" lIns="762" tIns="762" rIns="762" bIns="762" rtlCol="0" anchor="ctr"/>
          <a:lstStyle/>
          <a:p>
            <a:pPr marL="0" indent="0" algn="ctr">
              <a:buNone/>
            </a:pPr>
            <a:r>
              <a:rPr lang="en-US" sz="1100" b="1" dirty="0">
                <a:solidFill>
                  <a:srgbClr val="FFFFFF"/>
                </a:solidFill>
              </a:rPr>
              <a:t>4 · answers</a:t>
            </a:r>
            <a:endParaRPr lang="en-US" sz="1100" dirty="0"/>
          </a:p>
          <a:p>
            <a:pPr marL="0" indent="0" algn="ctr">
              <a:buNone/>
            </a:pPr>
            <a:r>
              <a:rPr lang="en-US" sz="950" dirty="0">
                <a:solidFill>
                  <a:srgbClr val="E2E8F0"/>
                </a:solidFill>
              </a:rPr>
              <a:t>{"units": 12.0, "cost_rs": 96.0}</a:t>
            </a:r>
            <a:endParaRPr lang="en-US" sz="1100" dirty="0"/>
          </a:p>
        </p:txBody>
      </p:sp>
      <p:sp>
        <p:nvSpPr>
          <p:cNvPr id="14" name="label-153"/>
          <p:cNvSpPr txBox="1"/>
          <p:nvPr/>
        </p:nvSpPr>
        <p:spPr>
          <a:xfrm>
            <a:off x="274320" y="1828800"/>
            <a:ext cx="8595360" cy="219456"/>
          </a:xfrm>
          <a:prstGeom prst="rect">
            <a:avLst/>
          </a:prstGeom>
          <a:noFill/>
          <a:ln/>
        </p:spPr>
        <p:txBody>
          <a:bodyPr wrap="square" lIns="0" tIns="0" rIns="0" bIns="0" rtlCol="0" anchor="ctr"/>
          <a:lstStyle/>
          <a:p>
            <a:pPr marL="0" indent="0">
              <a:buNone/>
            </a:pPr>
            <a:r>
              <a:rPr lang="en-US" sz="900" b="1" kern="0" spc="150" dirty="0">
                <a:solidFill>
                  <a:srgbClr val="718096"/>
                </a:solidFill>
              </a:rPr>
              <a:t>THE CALCULATIONS TABLE AFTER THREE SEPARATE REQUESTS</a:t>
            </a:r>
            <a:endParaRPr lang="en-US" sz="900" dirty="0"/>
          </a:p>
        </p:txBody>
      </p:sp>
      <p:graphicFrame>
        <p:nvGraphicFramePr>
          <p:cNvPr id="15" name="table-154"/>
          <p:cNvGraphicFramePr>
            <a:graphicFrameLocks noGrp="1"/>
          </p:cNvGraphicFramePr>
          <p:nvPr>
            <p:extLst>
              <p:ext uri="{D42A27DB-BD31-4B8C-83A1-F6EECF244321}">
                <p14:modId xmlns:p14="http://schemas.microsoft.com/office/powerpoint/2010/main" val="1579011935"/>
              </p:ext>
            </p:extLst>
          </p:nvPr>
        </p:nvGraphicFramePr>
        <p:xfrm>
          <a:off x="274320" y="2084832"/>
          <a:ext cx="8595360" cy="914400"/>
        </p:xfrm>
        <a:graphic>
          <a:graphicData uri="http://schemas.openxmlformats.org/drawingml/2006/table">
            <a:tbl>
              <a:tblPr/>
              <a:tblGrid>
                <a:gridCol w="36576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3337560">
                  <a:extLst>
                    <a:ext uri="{9D8B030D-6E8A-4147-A177-3AD203B41FA5}">
                      <a16:colId xmlns:a16="http://schemas.microsoft.com/office/drawing/2014/main" val="20002"/>
                    </a:ext>
                  </a:extLst>
                </a:gridCol>
                <a:gridCol w="2606040">
                  <a:extLst>
                    <a:ext uri="{9D8B030D-6E8A-4147-A177-3AD203B41FA5}">
                      <a16:colId xmlns:a16="http://schemas.microsoft.com/office/drawing/2014/main" val="20003"/>
                    </a:ext>
                  </a:extLst>
                </a:gridCol>
                <a:gridCol w="1234440">
                  <a:extLst>
                    <a:ext uri="{9D8B030D-6E8A-4147-A177-3AD203B41FA5}">
                      <a16:colId xmlns:a16="http://schemas.microsoft.com/office/drawing/2014/main" val="20004"/>
                    </a:ext>
                  </a:extLst>
                </a:gridCol>
              </a:tblGrid>
              <a:tr h="292608">
                <a:tc>
                  <a:txBody>
                    <a:bodyPr/>
                    <a:lstStyle/>
                    <a:p>
                      <a:pPr marL="0" indent="0">
                        <a:buNone/>
                      </a:pPr>
                      <a:r>
                        <a:rPr lang="en-US" sz="1000" b="1" dirty="0">
                          <a:solidFill>
                            <a:srgbClr val="FFFFFF"/>
                          </a:solidFill>
                        </a:rPr>
                        <a:t>id</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D3748"/>
                    </a:solidFill>
                  </a:tcPr>
                </a:tc>
                <a:tc>
                  <a:txBody>
                    <a:bodyPr/>
                    <a:lstStyle/>
                    <a:p>
                      <a:pPr marL="0" indent="0">
                        <a:buNone/>
                      </a:pPr>
                      <a:r>
                        <a:rPr lang="en-US" sz="1000" b="1" dirty="0">
                          <a:solidFill>
                            <a:srgbClr val="FFFFFF"/>
                          </a:solidFill>
                        </a:rPr>
                        <a:t>kind</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D3748"/>
                    </a:solidFill>
                  </a:tcPr>
                </a:tc>
                <a:tc>
                  <a:txBody>
                    <a:bodyPr/>
                    <a:lstStyle/>
                    <a:p>
                      <a:pPr marL="0" indent="0">
                        <a:buNone/>
                      </a:pPr>
                      <a:r>
                        <a:rPr lang="en-US" sz="1000" b="1" dirty="0">
                          <a:solidFill>
                            <a:srgbClr val="FFFFFF"/>
                          </a:solidFill>
                        </a:rPr>
                        <a:t>inputs</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D3748"/>
                    </a:solidFill>
                  </a:tcPr>
                </a:tc>
                <a:tc>
                  <a:txBody>
                    <a:bodyPr/>
                    <a:lstStyle/>
                    <a:p>
                      <a:pPr marL="0" indent="0">
                        <a:buNone/>
                      </a:pPr>
                      <a:r>
                        <a:rPr lang="en-US" sz="1000" b="1" dirty="0">
                          <a:solidFill>
                            <a:srgbClr val="FFFFFF"/>
                          </a:solidFill>
                        </a:rPr>
                        <a:t>result</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D3748"/>
                    </a:solidFill>
                  </a:tcPr>
                </a:tc>
                <a:tc>
                  <a:txBody>
                    <a:bodyPr/>
                    <a:lstStyle/>
                    <a:p>
                      <a:pPr marL="0" indent="0">
                        <a:buNone/>
                      </a:pPr>
                      <a:r>
                        <a:rPr lang="en-US" sz="1000" b="1" dirty="0">
                          <a:solidFill>
                            <a:srgbClr val="FFFFFF"/>
                          </a:solidFill>
                        </a:rPr>
                        <a:t>created_at</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D3748"/>
                    </a:solidFill>
                  </a:tcPr>
                </a:tc>
                <a:extLst>
                  <a:ext uri="{0D108BD9-81ED-4DB2-BD59-A6C34878D82A}">
                    <a16:rowId xmlns:a16="http://schemas.microsoft.com/office/drawing/2014/main" val="10000"/>
                  </a:ext>
                </a:extLst>
              </a:tr>
              <a:tr h="292608">
                <a:tc>
                  <a:txBody>
                    <a:bodyPr/>
                    <a:lstStyle/>
                    <a:p>
                      <a:pPr marL="0" indent="0">
                        <a:buNone/>
                      </a:pPr>
                      <a:r>
                        <a:rPr lang="en-US" sz="1000" dirty="0">
                          <a:solidFill>
                            <a:srgbClr val="2D3748"/>
                          </a:solidFill>
                        </a:rPr>
                        <a:t>1</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2D3748"/>
                          </a:solidFill>
                          <a:latin typeface="Consolas" pitchFamily="34" charset="0"/>
                          <a:ea typeface="Consolas" pitchFamily="34" charset="-122"/>
                          <a:cs typeface="Consolas" pitchFamily="34" charset="-120"/>
                        </a:rPr>
                        <a:t>energy-cost</a:t>
                      </a:r>
                      <a:endParaRPr lang="en-US" sz="900" dirty="0">
                        <a:latin typeface="Consolas" charset="0"/>
                        <a:ea typeface="Consolas" charset="0"/>
                        <a:cs typeface="Consolas" charset="0"/>
                      </a:endParaRPr>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2D3748"/>
                          </a:solidFill>
                          <a:latin typeface="Consolas" pitchFamily="34" charset="0"/>
                          <a:ea typeface="Consolas" pitchFamily="34" charset="-122"/>
                          <a:cs typeface="Consolas" pitchFamily="34" charset="-120"/>
                        </a:rPr>
                        <a:t>{"watts": 1500.0, "hours": 8.0, "rate": 8.0}</a:t>
                      </a:r>
                      <a:endParaRPr lang="en-US" sz="900" dirty="0">
                        <a:latin typeface="Consolas" charset="0"/>
                        <a:ea typeface="Consolas" charset="0"/>
                        <a:cs typeface="Consolas" charset="0"/>
                      </a:endParaRPr>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2D3748"/>
                          </a:solidFill>
                          <a:latin typeface="Consolas" pitchFamily="34" charset="0"/>
                          <a:ea typeface="Consolas" pitchFamily="34" charset="-122"/>
                          <a:cs typeface="Consolas" pitchFamily="34" charset="-120"/>
                        </a:rPr>
                        <a:t>{"units": 12.0, "cost_rs": 96.0}</a:t>
                      </a:r>
                      <a:endParaRPr lang="en-US" sz="900" dirty="0">
                        <a:latin typeface="Consolas" charset="0"/>
                        <a:ea typeface="Consolas" charset="0"/>
                        <a:cs typeface="Consolas" charset="0"/>
                      </a:endParaRPr>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27 Oct 10:15</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buNone/>
                      </a:pPr>
                      <a:r>
                        <a:rPr lang="en-US" sz="1000" dirty="0">
                          <a:solidFill>
                            <a:srgbClr val="2D3748"/>
                          </a:solidFill>
                        </a:rPr>
                        <a:t>2</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2D3748"/>
                          </a:solidFill>
                          <a:latin typeface="Consolas" pitchFamily="34" charset="0"/>
                          <a:ea typeface="Consolas" pitchFamily="34" charset="-122"/>
                          <a:cs typeface="Consolas" pitchFamily="34" charset="-120"/>
                        </a:rPr>
                        <a:t>bill</a:t>
                      </a:r>
                      <a:endParaRPr lang="en-US" sz="900" dirty="0">
                        <a:latin typeface="Consolas" charset="0"/>
                        <a:ea typeface="Consolas" charset="0"/>
                        <a:cs typeface="Consolas" charset="0"/>
                      </a:endParaRPr>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2D3748"/>
                          </a:solidFill>
                          <a:latin typeface="Consolas" pitchFamily="34" charset="0"/>
                          <a:ea typeface="Consolas" pitchFamily="34" charset="-122"/>
                          <a:cs typeface="Consolas" pitchFamily="34" charset="-120"/>
                        </a:rPr>
                        <a:t>{"units": 250.0}</a:t>
                      </a:r>
                      <a:endParaRPr lang="en-US" sz="900" dirty="0">
                        <a:latin typeface="Consolas" charset="0"/>
                        <a:ea typeface="Consolas" charset="0"/>
                        <a:cs typeface="Consolas" charset="0"/>
                      </a:endParaRPr>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2D3748"/>
                          </a:solidFill>
                          <a:latin typeface="Consolas" pitchFamily="34" charset="0"/>
                          <a:ea typeface="Consolas" pitchFamily="34" charset="-122"/>
                          <a:cs typeface="Consolas" pitchFamily="34" charset="-120"/>
                        </a:rPr>
                        <a:t>{"bill_rs": 1075.0}</a:t>
                      </a:r>
                      <a:endParaRPr lang="en-US" sz="900" dirty="0">
                        <a:latin typeface="Consolas" charset="0"/>
                        <a:ea typeface="Consolas" charset="0"/>
                        <a:cs typeface="Consolas" charset="0"/>
                      </a:endParaRPr>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27 Oct 10:16</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92608">
                <a:tc>
                  <a:txBody>
                    <a:bodyPr/>
                    <a:lstStyle/>
                    <a:p>
                      <a:pPr marL="0" indent="0">
                        <a:buNone/>
                      </a:pPr>
                      <a:r>
                        <a:rPr lang="en-US" sz="1000" dirty="0">
                          <a:solidFill>
                            <a:srgbClr val="2D3748"/>
                          </a:solidFill>
                        </a:rPr>
                        <a:t>3</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2D3748"/>
                          </a:solidFill>
                          <a:latin typeface="Consolas" pitchFamily="34" charset="0"/>
                          <a:ea typeface="Consolas" pitchFamily="34" charset="-122"/>
                          <a:cs typeface="Consolas" pitchFamily="34" charset="-120"/>
                        </a:rPr>
                        <a:t>calculate</a:t>
                      </a:r>
                      <a:endParaRPr lang="en-US" sz="900" dirty="0">
                        <a:latin typeface="Consolas" charset="0"/>
                        <a:ea typeface="Consolas" charset="0"/>
                        <a:cs typeface="Consolas" charset="0"/>
                      </a:endParaRPr>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2D3748"/>
                          </a:solidFill>
                          <a:latin typeface="Consolas" pitchFamily="34" charset="0"/>
                          <a:ea typeface="Consolas" pitchFamily="34" charset="-122"/>
                          <a:cs typeface="Consolas" pitchFamily="34" charset="-120"/>
                        </a:rPr>
                        <a:t>{"a": 12.0, "b": 3.0, "op": "div"}</a:t>
                      </a:r>
                      <a:endParaRPr lang="en-US" sz="900" dirty="0">
                        <a:latin typeface="Consolas" charset="0"/>
                        <a:ea typeface="Consolas" charset="0"/>
                        <a:cs typeface="Consolas" charset="0"/>
                      </a:endParaRPr>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2D3748"/>
                          </a:solidFill>
                          <a:latin typeface="Consolas" pitchFamily="34" charset="0"/>
                          <a:ea typeface="Consolas" pitchFamily="34" charset="-122"/>
                          <a:cs typeface="Consolas" pitchFamily="34" charset="-120"/>
                        </a:rPr>
                        <a:t>{"result": 4.0}</a:t>
                      </a:r>
                      <a:endParaRPr lang="en-US" sz="900" dirty="0">
                        <a:latin typeface="Consolas" charset="0"/>
                        <a:ea typeface="Consolas" charset="0"/>
                        <a:cs typeface="Consolas" charset="0"/>
                      </a:endParaRPr>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27 Oct 10:17</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6" name="note-155"/>
          <p:cNvSpPr/>
          <p:nvPr/>
        </p:nvSpPr>
        <p:spPr>
          <a:xfrm>
            <a:off x="274320" y="3310128"/>
            <a:ext cx="8595360" cy="777240"/>
          </a:xfrm>
          <a:prstGeom prst="roundRect">
            <a:avLst>
              <a:gd name="adj" fmla="val 5882"/>
            </a:avLst>
          </a:prstGeom>
          <a:solidFill>
            <a:srgbClr val="FFF8E7"/>
          </a:solidFill>
          <a:ln w="12700">
            <a:solidFill>
              <a:srgbClr val="F6D9A8"/>
            </a:solidFill>
            <a:prstDash val="solid"/>
          </a:ln>
        </p:spPr>
        <p:txBody>
          <a:bodyPr/>
          <a:lstStyle/>
          <a:p>
            <a:endParaRPr lang="en-US"/>
          </a:p>
        </p:txBody>
      </p:sp>
      <p:sp>
        <p:nvSpPr>
          <p:cNvPr id="17" name="note-t-156"/>
          <p:cNvSpPr txBox="1"/>
          <p:nvPr/>
        </p:nvSpPr>
        <p:spPr>
          <a:xfrm>
            <a:off x="411480" y="3355848"/>
            <a:ext cx="8321040" cy="685800"/>
          </a:xfrm>
          <a:prstGeom prst="rect">
            <a:avLst/>
          </a:prstGeom>
          <a:noFill/>
          <a:ln/>
        </p:spPr>
        <p:txBody>
          <a:bodyPr wrap="square" lIns="0" tIns="0" rIns="0" bIns="0" rtlCol="0" anchor="ctr"/>
          <a:lstStyle/>
          <a:p>
            <a:pPr marL="0" indent="0">
              <a:buNone/>
            </a:pPr>
            <a:r>
              <a:rPr lang="en-US" sz="1050" dirty="0">
                <a:solidFill>
                  <a:srgbClr val="2D3748"/>
                </a:solidFill>
              </a:rPr>
              <a:t>Each of the three requests on the previous slide adds one line here. id and created_at fill themselves in. inputs and result are JSON — a whole dictionary in one cell — so one table can log every kind of calculation; kind says which.</a:t>
            </a:r>
            <a:endParaRPr lang="en-US" sz="1050" dirty="0"/>
          </a:p>
        </p:txBody>
      </p:sp>
      <p:sp>
        <p:nvSpPr>
          <p:cNvPr id="18" name="evolve-157"/>
          <p:cNvSpPr/>
          <p:nvPr/>
        </p:nvSpPr>
        <p:spPr>
          <a:xfrm>
            <a:off x="274320" y="4498848"/>
            <a:ext cx="8595360" cy="384048"/>
          </a:xfrm>
          <a:prstGeom prst="roundRect">
            <a:avLst>
              <a:gd name="adj" fmla="val 11905"/>
            </a:avLst>
          </a:prstGeom>
          <a:solidFill>
            <a:srgbClr val="EEF2FF"/>
          </a:solidFill>
          <a:ln w="12700">
            <a:solidFill>
              <a:srgbClr val="D5DCF5"/>
            </a:solidFill>
            <a:prstDash val="solid"/>
          </a:ln>
        </p:spPr>
        <p:txBody>
          <a:bodyPr/>
          <a:lstStyle/>
          <a:p>
            <a:endParaRPr lang="en-US"/>
          </a:p>
        </p:txBody>
      </p:sp>
      <p:sp>
        <p:nvSpPr>
          <p:cNvPr id="19" name="evolve-t-158"/>
          <p:cNvSpPr txBox="1"/>
          <p:nvPr/>
        </p:nvSpPr>
        <p:spPr>
          <a:xfrm>
            <a:off x="411480" y="4507992"/>
            <a:ext cx="8321040" cy="365760"/>
          </a:xfrm>
          <a:prstGeom prst="rect">
            <a:avLst/>
          </a:prstGeom>
          <a:noFill/>
          <a:ln/>
        </p:spPr>
        <p:txBody>
          <a:bodyPr wrap="square" lIns="0" tIns="0" rIns="0" bIns="0" rtlCol="0" anchor="ctr"/>
          <a:lstStyle/>
          <a:p>
            <a:pPr marL="0" indent="0">
              <a:buNone/>
            </a:pPr>
            <a:r>
              <a:rPr lang="en-US" sz="1050" b="1" dirty="0">
                <a:solidFill>
                  <a:srgbClr val="2D3748"/>
                </a:solidFill>
              </a:rPr>
              <a:t>Read it back:  </a:t>
            </a:r>
            <a:r>
              <a:rPr lang="en-US" sz="1050" dirty="0">
                <a:solidFill>
                  <a:srgbClr val="718096"/>
                </a:solidFill>
              </a:rPr>
              <a:t>GET /history  →  the latest lines, newest first — the API now remembers what it did</a:t>
            </a:r>
            <a:endParaRPr lang="en-US" sz="1050" dirty="0"/>
          </a:p>
        </p:txBody>
      </p:sp>
      <p:sp>
        <p:nvSpPr>
          <p:cNvPr id="25" name="Slide Number Placeholder 0"/>
          <p:cNvSpPr>
            <a:spLocks noGrp="1"/>
          </p:cNvSpPr>
          <p:nvPr>
            <p:ph type="sldNum" sz="quarter" idx="4294967295"/>
          </p:nvPr>
        </p:nvSpPr>
        <p:spPr>
          <a:xfrm>
            <a:off x="8549640" y="4919472"/>
            <a:ext cx="36576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718096"/>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1097280" y="91440"/>
            <a:ext cx="7772400" cy="347472"/>
          </a:xfrm>
          <a:prstGeom prst="rect">
            <a:avLst/>
          </a:prstGeom>
          <a:noFill/>
          <a:ln/>
        </p:spPr>
        <p:txBody>
          <a:bodyPr wrap="square" lIns="0" tIns="0" rIns="0" bIns="0" rtlCol="0" anchor="ctr"/>
          <a:lstStyle/>
          <a:p>
            <a:pPr marL="0" indent="0" algn="l">
              <a:buNone/>
            </a:pPr>
            <a:r>
              <a:rPr lang="en-US" sz="1300" b="1" dirty="0">
                <a:solidFill>
                  <a:srgbClr val="F59E0B"/>
                </a:solidFill>
              </a:rPr>
              <a:t>TABLES AS PYTHON CLASSES  ·  A blank form, and filled-in copies</a:t>
            </a:r>
            <a:endParaRPr lang="en-US" sz="1300" dirty="0"/>
          </a:p>
        </p:txBody>
      </p:sp>
      <p:sp>
        <p:nvSpPr>
          <p:cNvPr id="3" name="code-bg-159"/>
          <p:cNvSpPr/>
          <p:nvPr/>
        </p:nvSpPr>
        <p:spPr>
          <a:xfrm>
            <a:off x="274320" y="713232"/>
            <a:ext cx="5212080" cy="2103120"/>
          </a:xfrm>
          <a:prstGeom prst="roundRect">
            <a:avLst>
              <a:gd name="adj" fmla="val 2609"/>
            </a:avLst>
          </a:prstGeom>
          <a:solidFill>
            <a:srgbClr val="1A2535"/>
          </a:solidFill>
          <a:ln w="12700">
            <a:solidFill>
              <a:srgbClr val="1A2535"/>
            </a:solidFill>
            <a:prstDash val="solid"/>
          </a:ln>
        </p:spPr>
        <p:txBody>
          <a:bodyPr/>
          <a:lstStyle/>
          <a:p>
            <a:endParaRPr lang="en-US"/>
          </a:p>
        </p:txBody>
      </p:sp>
      <p:sp>
        <p:nvSpPr>
          <p:cNvPr id="4" name="code-title-160"/>
          <p:cNvSpPr txBox="1"/>
          <p:nvPr/>
        </p:nvSpPr>
        <p:spPr>
          <a:xfrm>
            <a:off x="411480" y="786384"/>
            <a:ext cx="4937760" cy="219456"/>
          </a:xfrm>
          <a:prstGeom prst="rect">
            <a:avLst/>
          </a:prstGeom>
          <a:noFill/>
          <a:ln/>
        </p:spPr>
        <p:txBody>
          <a:bodyPr wrap="square" lIns="0" tIns="0" rIns="0" bIns="0" rtlCol="0" anchor="ctr"/>
          <a:lstStyle/>
          <a:p>
            <a:pPr marL="0" indent="0">
              <a:buNone/>
            </a:pPr>
            <a:r>
              <a:rPr lang="en-US" sz="950" b="1" dirty="0">
                <a:solidFill>
                  <a:srgbClr val="F59E0B"/>
                </a:solidFill>
              </a:rPr>
              <a:t>db.py — the readings table, written in Python</a:t>
            </a:r>
            <a:endParaRPr lang="en-US" sz="950" dirty="0"/>
          </a:p>
        </p:txBody>
      </p:sp>
      <p:sp>
        <p:nvSpPr>
          <p:cNvPr id="5" name="code-161"/>
          <p:cNvSpPr txBox="1"/>
          <p:nvPr/>
        </p:nvSpPr>
        <p:spPr>
          <a:xfrm>
            <a:off x="411480" y="1042416"/>
            <a:ext cx="4937760" cy="1700784"/>
          </a:xfrm>
          <a:prstGeom prst="rect">
            <a:avLst/>
          </a:prstGeom>
          <a:noFill/>
          <a:ln/>
        </p:spPr>
        <p:txBody>
          <a:bodyPr wrap="square" lIns="0" tIns="0" rIns="0" bIns="0" rtlCol="0" anchor="t"/>
          <a:lstStyle/>
          <a:p>
            <a:pPr marL="0" indent="0">
              <a:lnSpc>
                <a:spcPct val="105000"/>
              </a:lnSpc>
              <a:buNone/>
            </a:pPr>
            <a:r>
              <a:rPr lang="en-US" sz="900" dirty="0">
                <a:solidFill>
                  <a:srgbClr val="68D391"/>
                </a:solidFill>
                <a:latin typeface="Consolas" pitchFamily="34" charset="0"/>
                <a:ea typeface="Consolas" pitchFamily="34" charset="-122"/>
                <a:cs typeface="Consolas" pitchFamily="34" charset="-120"/>
              </a:rPr>
              <a:t>class Reading(Base):</a:t>
            </a:r>
            <a:endParaRPr lang="en-US" sz="900" dirty="0"/>
          </a:p>
          <a:p>
            <a:pPr marL="0" indent="0">
              <a:lnSpc>
                <a:spcPct val="105000"/>
              </a:lnSpc>
              <a:buNone/>
            </a:pPr>
            <a:r>
              <a:rPr lang="en-US" sz="900" dirty="0">
                <a:solidFill>
                  <a:srgbClr val="E2E8F0"/>
                </a:solidFill>
                <a:latin typeface="Consolas" pitchFamily="34" charset="0"/>
                <a:ea typeface="Consolas" pitchFamily="34" charset="-122"/>
                <a:cs typeface="Consolas" pitchFamily="34" charset="-120"/>
              </a:rPr>
              <a:t>    __tablename__ = "readings"</a:t>
            </a:r>
            <a:endParaRPr lang="en-US" sz="900" dirty="0"/>
          </a:p>
          <a:p>
            <a:pPr marL="0" indent="0">
              <a:lnSpc>
                <a:spcPct val="105000"/>
              </a:lnSpc>
              <a:buNone/>
            </a:pPr>
            <a:r>
              <a:rPr lang="en-US" sz="900" dirty="0">
                <a:solidFill>
                  <a:srgbClr val="E2E8F0"/>
                </a:solidFill>
                <a:latin typeface="Consolas" pitchFamily="34" charset="0"/>
                <a:ea typeface="Consolas" pitchFamily="34" charset="-122"/>
                <a:cs typeface="Consolas" pitchFamily="34" charset="-120"/>
              </a:rPr>
              <a:t>    timestamp: Mapped[datetime] = mapped_column(DateTime,</a:t>
            </a:r>
            <a:endParaRPr lang="en-US" sz="900" dirty="0"/>
          </a:p>
          <a:p>
            <a:pPr marL="0" indent="0">
              <a:lnSpc>
                <a:spcPct val="105000"/>
              </a:lnSpc>
              <a:buNone/>
            </a:pPr>
            <a:r>
              <a:rPr lang="en-US" sz="900" dirty="0">
                <a:solidFill>
                  <a:srgbClr val="E2E8F0"/>
                </a:solidFill>
                <a:latin typeface="Consolas" pitchFamily="34" charset="0"/>
                <a:ea typeface="Consolas" pitchFamily="34" charset="-122"/>
                <a:cs typeface="Consolas" pitchFamily="34" charset="-120"/>
              </a:rPr>
              <a:t>                                  primary_key=True)</a:t>
            </a:r>
            <a:endParaRPr lang="en-US" sz="900" dirty="0"/>
          </a:p>
          <a:p>
            <a:pPr marL="0" indent="0">
              <a:lnSpc>
                <a:spcPct val="105000"/>
              </a:lnSpc>
              <a:buNone/>
            </a:pPr>
            <a:r>
              <a:rPr lang="en-US" sz="900" dirty="0">
                <a:solidFill>
                  <a:srgbClr val="E2E8F0"/>
                </a:solidFill>
                <a:latin typeface="Consolas" pitchFamily="34" charset="0"/>
                <a:ea typeface="Consolas" pitchFamily="34" charset="-122"/>
                <a:cs typeface="Consolas" pitchFamily="34" charset="-120"/>
              </a:rPr>
              <a:t>    load_kw:   Mapped[float] = mapped_column(Float)</a:t>
            </a:r>
            <a:endParaRPr lang="en-US" sz="900" dirty="0"/>
          </a:p>
          <a:p>
            <a:pPr marL="0" indent="0">
              <a:lnSpc>
                <a:spcPct val="105000"/>
              </a:lnSpc>
              <a:buNone/>
            </a:pPr>
            <a:r>
              <a:rPr lang="en-US" sz="900" dirty="0">
                <a:solidFill>
                  <a:srgbClr val="E2E8F0"/>
                </a:solidFill>
                <a:latin typeface="Consolas" pitchFamily="34" charset="0"/>
                <a:ea typeface="Consolas" pitchFamily="34" charset="-122"/>
                <a:cs typeface="Consolas" pitchFamily="34" charset="-120"/>
              </a:rPr>
              <a:t>    solar_kw:  Mapped[float] = mapped_column(Float)</a:t>
            </a:r>
            <a:endParaRPr lang="en-US" sz="900" dirty="0"/>
          </a:p>
          <a:p>
            <a:pPr marL="0" indent="0">
              <a:lnSpc>
                <a:spcPct val="105000"/>
              </a:lnSpc>
              <a:buNone/>
            </a:pPr>
            <a:r>
              <a:rPr lang="en-US" sz="900" dirty="0">
                <a:solidFill>
                  <a:srgbClr val="E2E8F0"/>
                </a:solidFill>
                <a:latin typeface="Consolas" pitchFamily="34" charset="0"/>
                <a:ea typeface="Consolas" pitchFamily="34" charset="-122"/>
                <a:cs typeface="Consolas" pitchFamily="34" charset="-120"/>
              </a:rPr>
              <a:t>    ambient_c: Mapped[float] = mapped_column(Float)</a:t>
            </a:r>
            <a:endParaRPr lang="en-US" sz="900" dirty="0"/>
          </a:p>
          <a:p>
            <a:pPr marL="0" indent="0">
              <a:lnSpc>
                <a:spcPct val="105000"/>
              </a:lnSpc>
              <a:buNone/>
            </a:pPr>
            <a:r>
              <a:rPr lang="en-US" sz="900" dirty="0">
                <a:solidFill>
                  <a:srgbClr val="E2E8F0"/>
                </a:solidFill>
                <a:latin typeface="Consolas" pitchFamily="34" charset="0"/>
                <a:ea typeface="Consolas" pitchFamily="34" charset="-122"/>
                <a:cs typeface="Consolas" pitchFamily="34" charset="-120"/>
              </a:rPr>
              <a:t>    irradiance_wm2: Mapped[float] = mapped_column(Float)</a:t>
            </a:r>
            <a:endParaRPr lang="en-US" sz="900" dirty="0"/>
          </a:p>
        </p:txBody>
      </p:sp>
      <p:sp>
        <p:nvSpPr>
          <p:cNvPr id="6" name="label-162"/>
          <p:cNvSpPr txBox="1"/>
          <p:nvPr/>
        </p:nvSpPr>
        <p:spPr>
          <a:xfrm>
            <a:off x="5715000" y="713232"/>
            <a:ext cx="3154680" cy="219456"/>
          </a:xfrm>
          <a:prstGeom prst="rect">
            <a:avLst/>
          </a:prstGeom>
          <a:noFill/>
          <a:ln/>
        </p:spPr>
        <p:txBody>
          <a:bodyPr wrap="square" lIns="0" tIns="0" rIns="0" bIns="0" rtlCol="0" anchor="ctr"/>
          <a:lstStyle/>
          <a:p>
            <a:pPr marL="0" indent="0">
              <a:buNone/>
            </a:pPr>
            <a:r>
              <a:rPr lang="en-US" sz="900" b="1" kern="0" spc="150" dirty="0">
                <a:solidFill>
                  <a:srgbClr val="718096"/>
                </a:solidFill>
              </a:rPr>
              <a:t>READ IT LIKE THIS</a:t>
            </a:r>
            <a:endParaRPr lang="en-US" sz="900" dirty="0"/>
          </a:p>
        </p:txBody>
      </p:sp>
      <p:sp>
        <p:nvSpPr>
          <p:cNvPr id="7" name="dot-163"/>
          <p:cNvSpPr/>
          <p:nvPr/>
        </p:nvSpPr>
        <p:spPr>
          <a:xfrm>
            <a:off x="5715000" y="1042416"/>
            <a:ext cx="82296" cy="82296"/>
          </a:xfrm>
          <a:prstGeom prst="rect">
            <a:avLst/>
          </a:prstGeom>
          <a:solidFill>
            <a:srgbClr val="F59E0B"/>
          </a:solidFill>
          <a:ln w="12700">
            <a:solidFill>
              <a:srgbClr val="F59E0B"/>
            </a:solidFill>
            <a:prstDash val="solid"/>
          </a:ln>
        </p:spPr>
        <p:txBody>
          <a:bodyPr/>
          <a:lstStyle/>
          <a:p>
            <a:endParaRPr lang="en-US"/>
          </a:p>
        </p:txBody>
      </p:sp>
      <p:sp>
        <p:nvSpPr>
          <p:cNvPr id="8" name="item-164"/>
          <p:cNvSpPr txBox="1"/>
          <p:nvPr/>
        </p:nvSpPr>
        <p:spPr>
          <a:xfrm>
            <a:off x="5879592" y="969264"/>
            <a:ext cx="2990088" cy="457200"/>
          </a:xfrm>
          <a:prstGeom prst="rect">
            <a:avLst/>
          </a:prstGeom>
          <a:noFill/>
          <a:ln/>
        </p:spPr>
        <p:txBody>
          <a:bodyPr wrap="square" lIns="0" tIns="0" rIns="0" bIns="0" rtlCol="0" anchor="t"/>
          <a:lstStyle/>
          <a:p>
            <a:pPr marL="0" indent="0">
              <a:spcAft>
                <a:spcPts val="100"/>
              </a:spcAft>
              <a:buNone/>
            </a:pPr>
            <a:r>
              <a:rPr lang="en-US" sz="1200" b="1" dirty="0">
                <a:solidFill>
                  <a:srgbClr val="2D3748"/>
                </a:solidFill>
              </a:rPr>
              <a:t>class Reading</a:t>
            </a:r>
            <a:endParaRPr lang="en-US" sz="1200" dirty="0"/>
          </a:p>
          <a:p>
            <a:pPr marL="0" indent="0">
              <a:spcAft>
                <a:spcPts val="100"/>
              </a:spcAft>
              <a:buNone/>
            </a:pPr>
            <a:r>
              <a:rPr lang="en-US" sz="1000" dirty="0">
                <a:solidFill>
                  <a:srgbClr val="718096"/>
                </a:solidFill>
              </a:rPr>
              <a:t>the blank form = the table</a:t>
            </a:r>
            <a:endParaRPr lang="en-US" sz="1200" dirty="0"/>
          </a:p>
        </p:txBody>
      </p:sp>
      <p:sp>
        <p:nvSpPr>
          <p:cNvPr id="9" name="dot-165"/>
          <p:cNvSpPr/>
          <p:nvPr/>
        </p:nvSpPr>
        <p:spPr>
          <a:xfrm>
            <a:off x="5715000" y="1536192"/>
            <a:ext cx="82296" cy="82296"/>
          </a:xfrm>
          <a:prstGeom prst="rect">
            <a:avLst/>
          </a:prstGeom>
          <a:solidFill>
            <a:srgbClr val="F59E0B"/>
          </a:solidFill>
          <a:ln w="12700">
            <a:solidFill>
              <a:srgbClr val="F59E0B"/>
            </a:solidFill>
            <a:prstDash val="solid"/>
          </a:ln>
        </p:spPr>
        <p:txBody>
          <a:bodyPr/>
          <a:lstStyle/>
          <a:p>
            <a:endParaRPr lang="en-US"/>
          </a:p>
        </p:txBody>
      </p:sp>
      <p:sp>
        <p:nvSpPr>
          <p:cNvPr id="10" name="item-166"/>
          <p:cNvSpPr txBox="1"/>
          <p:nvPr/>
        </p:nvSpPr>
        <p:spPr>
          <a:xfrm>
            <a:off x="5879592" y="1463040"/>
            <a:ext cx="2990088" cy="457200"/>
          </a:xfrm>
          <a:prstGeom prst="rect">
            <a:avLst/>
          </a:prstGeom>
          <a:noFill/>
          <a:ln/>
        </p:spPr>
        <p:txBody>
          <a:bodyPr wrap="square" lIns="0" tIns="0" rIns="0" bIns="0" rtlCol="0" anchor="t"/>
          <a:lstStyle/>
          <a:p>
            <a:pPr marL="0" indent="0">
              <a:spcAft>
                <a:spcPts val="100"/>
              </a:spcAft>
              <a:buNone/>
            </a:pPr>
            <a:r>
              <a:rPr lang="en-US" sz="1200" b="1" dirty="0">
                <a:solidFill>
                  <a:srgbClr val="2D3748"/>
                </a:solidFill>
              </a:rPr>
              <a:t>each line inside</a:t>
            </a:r>
            <a:endParaRPr lang="en-US" sz="1200" dirty="0"/>
          </a:p>
          <a:p>
            <a:pPr marL="0" indent="0">
              <a:spcAft>
                <a:spcPts val="100"/>
              </a:spcAft>
              <a:buNone/>
            </a:pPr>
            <a:r>
              <a:rPr lang="en-US" sz="1000" dirty="0">
                <a:solidFill>
                  <a:srgbClr val="718096"/>
                </a:solidFill>
              </a:rPr>
              <a:t>one box on the form = a column</a:t>
            </a:r>
            <a:endParaRPr lang="en-US" sz="1200" dirty="0"/>
          </a:p>
        </p:txBody>
      </p:sp>
      <p:sp>
        <p:nvSpPr>
          <p:cNvPr id="11" name="dot-167"/>
          <p:cNvSpPr/>
          <p:nvPr/>
        </p:nvSpPr>
        <p:spPr>
          <a:xfrm>
            <a:off x="5715000" y="2029968"/>
            <a:ext cx="82296" cy="82296"/>
          </a:xfrm>
          <a:prstGeom prst="rect">
            <a:avLst/>
          </a:prstGeom>
          <a:solidFill>
            <a:srgbClr val="F59E0B"/>
          </a:solidFill>
          <a:ln w="12700">
            <a:solidFill>
              <a:srgbClr val="F59E0B"/>
            </a:solidFill>
            <a:prstDash val="solid"/>
          </a:ln>
        </p:spPr>
        <p:txBody>
          <a:bodyPr/>
          <a:lstStyle/>
          <a:p>
            <a:endParaRPr lang="en-US"/>
          </a:p>
        </p:txBody>
      </p:sp>
      <p:sp>
        <p:nvSpPr>
          <p:cNvPr id="12" name="item-168"/>
          <p:cNvSpPr txBox="1"/>
          <p:nvPr/>
        </p:nvSpPr>
        <p:spPr>
          <a:xfrm>
            <a:off x="5879592" y="1956816"/>
            <a:ext cx="2990088" cy="457200"/>
          </a:xfrm>
          <a:prstGeom prst="rect">
            <a:avLst/>
          </a:prstGeom>
          <a:noFill/>
          <a:ln/>
        </p:spPr>
        <p:txBody>
          <a:bodyPr wrap="square" lIns="0" tIns="0" rIns="0" bIns="0" rtlCol="0" anchor="t"/>
          <a:lstStyle/>
          <a:p>
            <a:pPr marL="0" indent="0">
              <a:spcAft>
                <a:spcPts val="100"/>
              </a:spcAft>
              <a:buNone/>
            </a:pPr>
            <a:r>
              <a:rPr lang="en-US" sz="1200" b="1" dirty="0">
                <a:solidFill>
                  <a:srgbClr val="2D3748"/>
                </a:solidFill>
              </a:rPr>
              <a:t>Float, DateTime</a:t>
            </a:r>
            <a:endParaRPr lang="en-US" sz="1200" dirty="0"/>
          </a:p>
          <a:p>
            <a:pPr marL="0" indent="0">
              <a:spcAft>
                <a:spcPts val="100"/>
              </a:spcAft>
              <a:buNone/>
            </a:pPr>
            <a:r>
              <a:rPr lang="en-US" sz="1000" dirty="0">
                <a:solidFill>
                  <a:srgbClr val="718096"/>
                </a:solidFill>
              </a:rPr>
              <a:t>what may go in the box</a:t>
            </a:r>
            <a:endParaRPr lang="en-US" sz="1200" dirty="0"/>
          </a:p>
        </p:txBody>
      </p:sp>
      <p:sp>
        <p:nvSpPr>
          <p:cNvPr id="13" name="dot-169"/>
          <p:cNvSpPr/>
          <p:nvPr/>
        </p:nvSpPr>
        <p:spPr>
          <a:xfrm>
            <a:off x="5715000" y="2523744"/>
            <a:ext cx="82296" cy="82296"/>
          </a:xfrm>
          <a:prstGeom prst="rect">
            <a:avLst/>
          </a:prstGeom>
          <a:solidFill>
            <a:srgbClr val="F59E0B"/>
          </a:solidFill>
          <a:ln w="12700">
            <a:solidFill>
              <a:srgbClr val="F59E0B"/>
            </a:solidFill>
            <a:prstDash val="solid"/>
          </a:ln>
        </p:spPr>
        <p:txBody>
          <a:bodyPr/>
          <a:lstStyle/>
          <a:p>
            <a:endParaRPr lang="en-US"/>
          </a:p>
        </p:txBody>
      </p:sp>
      <p:sp>
        <p:nvSpPr>
          <p:cNvPr id="14" name="item-170"/>
          <p:cNvSpPr txBox="1"/>
          <p:nvPr/>
        </p:nvSpPr>
        <p:spPr>
          <a:xfrm>
            <a:off x="5879592" y="2450592"/>
            <a:ext cx="2990088" cy="457200"/>
          </a:xfrm>
          <a:prstGeom prst="rect">
            <a:avLst/>
          </a:prstGeom>
          <a:noFill/>
          <a:ln/>
        </p:spPr>
        <p:txBody>
          <a:bodyPr wrap="square" lIns="0" tIns="0" rIns="0" bIns="0" rtlCol="0" anchor="t"/>
          <a:lstStyle/>
          <a:p>
            <a:pPr marL="0" indent="0">
              <a:spcAft>
                <a:spcPts val="100"/>
              </a:spcAft>
              <a:buNone/>
            </a:pPr>
            <a:r>
              <a:rPr lang="en-US" sz="1200" b="1" dirty="0">
                <a:solidFill>
                  <a:srgbClr val="2D3748"/>
                </a:solidFill>
              </a:rPr>
              <a:t>primary_key=True</a:t>
            </a:r>
            <a:endParaRPr lang="en-US" sz="1200" dirty="0"/>
          </a:p>
          <a:p>
            <a:pPr marL="0" indent="0">
              <a:spcAft>
                <a:spcPts val="100"/>
              </a:spcAft>
              <a:buNone/>
            </a:pPr>
            <a:r>
              <a:rPr lang="en-US" sz="1000" dirty="0">
                <a:solidFill>
                  <a:srgbClr val="718096"/>
                </a:solidFill>
              </a:rPr>
              <a:t>the form number — never repeated</a:t>
            </a:r>
            <a:endParaRPr lang="en-US" sz="1200" dirty="0"/>
          </a:p>
        </p:txBody>
      </p:sp>
      <p:sp>
        <p:nvSpPr>
          <p:cNvPr id="15" name="code-bg-171"/>
          <p:cNvSpPr/>
          <p:nvPr/>
        </p:nvSpPr>
        <p:spPr>
          <a:xfrm>
            <a:off x="274320" y="2926080"/>
            <a:ext cx="4206240" cy="1371600"/>
          </a:xfrm>
          <a:prstGeom prst="roundRect">
            <a:avLst>
              <a:gd name="adj" fmla="val 4000"/>
            </a:avLst>
          </a:prstGeom>
          <a:solidFill>
            <a:srgbClr val="1A2535"/>
          </a:solidFill>
          <a:ln w="12700">
            <a:solidFill>
              <a:srgbClr val="1A2535"/>
            </a:solidFill>
            <a:prstDash val="solid"/>
          </a:ln>
        </p:spPr>
        <p:txBody>
          <a:bodyPr/>
          <a:lstStyle/>
          <a:p>
            <a:endParaRPr lang="en-US"/>
          </a:p>
        </p:txBody>
      </p:sp>
      <p:sp>
        <p:nvSpPr>
          <p:cNvPr id="16" name="code-title-172"/>
          <p:cNvSpPr txBox="1"/>
          <p:nvPr/>
        </p:nvSpPr>
        <p:spPr>
          <a:xfrm>
            <a:off x="411480" y="2999232"/>
            <a:ext cx="3931920" cy="219456"/>
          </a:xfrm>
          <a:prstGeom prst="rect">
            <a:avLst/>
          </a:prstGeom>
          <a:noFill/>
          <a:ln/>
        </p:spPr>
        <p:txBody>
          <a:bodyPr wrap="square" lIns="0" tIns="0" rIns="0" bIns="0" rtlCol="0" anchor="ctr"/>
          <a:lstStyle/>
          <a:p>
            <a:pPr marL="0" indent="0">
              <a:buNone/>
            </a:pPr>
            <a:r>
              <a:rPr lang="en-US" sz="950" b="1" dirty="0">
                <a:solidFill>
                  <a:srgbClr val="F59E0B"/>
                </a:solidFill>
              </a:rPr>
              <a:t>What you write — Python</a:t>
            </a:r>
            <a:endParaRPr lang="en-US" sz="950" dirty="0"/>
          </a:p>
        </p:txBody>
      </p:sp>
      <p:sp>
        <p:nvSpPr>
          <p:cNvPr id="17" name="code-173"/>
          <p:cNvSpPr txBox="1"/>
          <p:nvPr/>
        </p:nvSpPr>
        <p:spPr>
          <a:xfrm>
            <a:off x="411480" y="3255264"/>
            <a:ext cx="3931920" cy="969264"/>
          </a:xfrm>
          <a:prstGeom prst="rect">
            <a:avLst/>
          </a:prstGeom>
          <a:noFill/>
          <a:ln/>
        </p:spPr>
        <p:txBody>
          <a:bodyPr wrap="square" lIns="0" tIns="0" rIns="0" bIns="0" rtlCol="0" anchor="t"/>
          <a:lstStyle/>
          <a:p>
            <a:pPr marL="0" indent="0">
              <a:lnSpc>
                <a:spcPct val="105000"/>
              </a:lnSpc>
              <a:buNone/>
            </a:pPr>
            <a:r>
              <a:rPr lang="en-US" sz="1000" dirty="0">
                <a:solidFill>
                  <a:srgbClr val="E2E8F0"/>
                </a:solidFill>
                <a:latin typeface="Consolas" pitchFamily="34" charset="0"/>
                <a:ea typeface="Consolas" pitchFamily="34" charset="-122"/>
                <a:cs typeface="Consolas" pitchFamily="34" charset="-120"/>
              </a:rPr>
              <a:t>s.add(Reading(timestamp=t, load_kw=859.0, …))</a:t>
            </a:r>
            <a:endParaRPr lang="en-US" sz="1000" dirty="0"/>
          </a:p>
          <a:p>
            <a:pPr marL="0" indent="0">
              <a:lnSpc>
                <a:spcPct val="105000"/>
              </a:lnSpc>
              <a:buNone/>
            </a:pPr>
            <a:r>
              <a:rPr lang="en-US" sz="1000" dirty="0">
                <a:solidFill>
                  <a:srgbClr val="E2E8F0"/>
                </a:solidFill>
                <a:latin typeface="Consolas" pitchFamily="34" charset="0"/>
                <a:ea typeface="Consolas" pitchFamily="34" charset="-122"/>
                <a:cs typeface="Consolas" pitchFamily="34" charset="-120"/>
              </a:rPr>
              <a:t> </a:t>
            </a:r>
            <a:endParaRPr lang="en-US" sz="1000" dirty="0"/>
          </a:p>
          <a:p>
            <a:pPr marL="0" indent="0">
              <a:lnSpc>
                <a:spcPct val="105000"/>
              </a:lnSpc>
              <a:buNone/>
            </a:pPr>
            <a:r>
              <a:rPr lang="en-US" sz="1000" dirty="0">
                <a:solidFill>
                  <a:srgbClr val="E2E8F0"/>
                </a:solidFill>
                <a:latin typeface="Consolas" pitchFamily="34" charset="0"/>
                <a:ea typeface="Consolas" pitchFamily="34" charset="-122"/>
                <a:cs typeface="Consolas" pitchFamily="34" charset="-120"/>
              </a:rPr>
              <a:t>select(Reading).where(Reading.load_kw &gt; 850)</a:t>
            </a:r>
            <a:endParaRPr lang="en-US" sz="1000" dirty="0"/>
          </a:p>
        </p:txBody>
      </p:sp>
      <p:sp>
        <p:nvSpPr>
          <p:cNvPr id="18" name="code-bg-174"/>
          <p:cNvSpPr/>
          <p:nvPr/>
        </p:nvSpPr>
        <p:spPr>
          <a:xfrm>
            <a:off x="4663440" y="2926080"/>
            <a:ext cx="4206240" cy="1371600"/>
          </a:xfrm>
          <a:prstGeom prst="roundRect">
            <a:avLst>
              <a:gd name="adj" fmla="val 4000"/>
            </a:avLst>
          </a:prstGeom>
          <a:solidFill>
            <a:srgbClr val="1A2535"/>
          </a:solidFill>
          <a:ln w="12700">
            <a:solidFill>
              <a:srgbClr val="1A2535"/>
            </a:solidFill>
            <a:prstDash val="solid"/>
          </a:ln>
        </p:spPr>
        <p:txBody>
          <a:bodyPr/>
          <a:lstStyle/>
          <a:p>
            <a:endParaRPr lang="en-US"/>
          </a:p>
        </p:txBody>
      </p:sp>
      <p:sp>
        <p:nvSpPr>
          <p:cNvPr id="19" name="code-title-175"/>
          <p:cNvSpPr txBox="1"/>
          <p:nvPr/>
        </p:nvSpPr>
        <p:spPr>
          <a:xfrm>
            <a:off x="4800600" y="2999232"/>
            <a:ext cx="3931920" cy="219456"/>
          </a:xfrm>
          <a:prstGeom prst="rect">
            <a:avLst/>
          </a:prstGeom>
          <a:noFill/>
          <a:ln/>
        </p:spPr>
        <p:txBody>
          <a:bodyPr wrap="square" lIns="0" tIns="0" rIns="0" bIns="0" rtlCol="0" anchor="ctr"/>
          <a:lstStyle/>
          <a:p>
            <a:pPr marL="0" indent="0">
              <a:buNone/>
            </a:pPr>
            <a:r>
              <a:rPr lang="en-US" sz="950" b="1" dirty="0">
                <a:solidFill>
                  <a:srgbClr val="F59E0B"/>
                </a:solidFill>
              </a:rPr>
              <a:t>What SQLAlchemy sends — SQL</a:t>
            </a:r>
            <a:endParaRPr lang="en-US" sz="950" dirty="0"/>
          </a:p>
        </p:txBody>
      </p:sp>
      <p:sp>
        <p:nvSpPr>
          <p:cNvPr id="20" name="code-176"/>
          <p:cNvSpPr txBox="1"/>
          <p:nvPr/>
        </p:nvSpPr>
        <p:spPr>
          <a:xfrm>
            <a:off x="4800600" y="3255264"/>
            <a:ext cx="3931920" cy="969264"/>
          </a:xfrm>
          <a:prstGeom prst="rect">
            <a:avLst/>
          </a:prstGeom>
          <a:noFill/>
          <a:ln/>
        </p:spPr>
        <p:txBody>
          <a:bodyPr wrap="square" lIns="0" tIns="0" rIns="0" bIns="0" rtlCol="0" anchor="t"/>
          <a:lstStyle/>
          <a:p>
            <a:pPr marL="0" indent="0">
              <a:lnSpc>
                <a:spcPct val="105000"/>
              </a:lnSpc>
              <a:buNone/>
            </a:pPr>
            <a:r>
              <a:rPr lang="en-US" sz="1000" dirty="0">
                <a:solidFill>
                  <a:srgbClr val="E2E8F0"/>
                </a:solidFill>
                <a:latin typeface="Consolas" pitchFamily="34" charset="0"/>
                <a:ea typeface="Consolas" pitchFamily="34" charset="-122"/>
                <a:cs typeface="Consolas" pitchFamily="34" charset="-120"/>
              </a:rPr>
              <a:t>INSERT INTO readings (timestamp, load_kw, …)</a:t>
            </a:r>
            <a:endParaRPr lang="en-US" sz="1000" dirty="0"/>
          </a:p>
          <a:p>
            <a:pPr marL="0" indent="0">
              <a:lnSpc>
                <a:spcPct val="105000"/>
              </a:lnSpc>
              <a:buNone/>
            </a:pPr>
            <a:r>
              <a:rPr lang="en-US" sz="1000" dirty="0">
                <a:solidFill>
                  <a:srgbClr val="E2E8F0"/>
                </a:solidFill>
                <a:latin typeface="Consolas" pitchFamily="34" charset="0"/>
                <a:ea typeface="Consolas" pitchFamily="34" charset="-122"/>
                <a:cs typeface="Consolas" pitchFamily="34" charset="-120"/>
              </a:rPr>
              <a:t>     VALUES ('2026-03-23 13:00', 859.0, …)</a:t>
            </a:r>
            <a:endParaRPr lang="en-US" sz="1000" dirty="0"/>
          </a:p>
          <a:p>
            <a:pPr marL="0" indent="0">
              <a:lnSpc>
                <a:spcPct val="105000"/>
              </a:lnSpc>
              <a:buNone/>
            </a:pPr>
            <a:r>
              <a:rPr lang="en-US" sz="1000" dirty="0">
                <a:solidFill>
                  <a:srgbClr val="E2E8F0"/>
                </a:solidFill>
                <a:latin typeface="Consolas" pitchFamily="34" charset="0"/>
                <a:ea typeface="Consolas" pitchFamily="34" charset="-122"/>
                <a:cs typeface="Consolas" pitchFamily="34" charset="-120"/>
              </a:rPr>
              <a:t>SELECT * FROM readings WHERE load_kw &gt; 850</a:t>
            </a:r>
            <a:endParaRPr lang="en-US" sz="1000" dirty="0"/>
          </a:p>
        </p:txBody>
      </p:sp>
      <p:sp>
        <p:nvSpPr>
          <p:cNvPr id="21" name="evolve-177"/>
          <p:cNvSpPr/>
          <p:nvPr/>
        </p:nvSpPr>
        <p:spPr>
          <a:xfrm>
            <a:off x="274320" y="4498848"/>
            <a:ext cx="8595360" cy="384048"/>
          </a:xfrm>
          <a:prstGeom prst="roundRect">
            <a:avLst>
              <a:gd name="adj" fmla="val 11905"/>
            </a:avLst>
          </a:prstGeom>
          <a:solidFill>
            <a:srgbClr val="EEF2FF"/>
          </a:solidFill>
          <a:ln w="12700">
            <a:solidFill>
              <a:srgbClr val="D5DCF5"/>
            </a:solidFill>
            <a:prstDash val="solid"/>
          </a:ln>
        </p:spPr>
        <p:txBody>
          <a:bodyPr/>
          <a:lstStyle/>
          <a:p>
            <a:endParaRPr lang="en-US"/>
          </a:p>
        </p:txBody>
      </p:sp>
      <p:sp>
        <p:nvSpPr>
          <p:cNvPr id="22" name="evolve-t-178"/>
          <p:cNvSpPr txBox="1"/>
          <p:nvPr/>
        </p:nvSpPr>
        <p:spPr>
          <a:xfrm>
            <a:off x="411480" y="4507992"/>
            <a:ext cx="8321040" cy="365760"/>
          </a:xfrm>
          <a:prstGeom prst="rect">
            <a:avLst/>
          </a:prstGeom>
          <a:noFill/>
          <a:ln/>
        </p:spPr>
        <p:txBody>
          <a:bodyPr wrap="square" lIns="0" tIns="0" rIns="0" bIns="0" rtlCol="0" anchor="ctr"/>
          <a:lstStyle/>
          <a:p>
            <a:pPr marL="0" indent="0">
              <a:buNone/>
            </a:pPr>
            <a:r>
              <a:rPr lang="en-US" sz="1050" b="1" dirty="0">
                <a:solidFill>
                  <a:srgbClr val="2D3748"/>
                </a:solidFill>
              </a:rPr>
              <a:t>ORM:  </a:t>
            </a:r>
            <a:r>
              <a:rPr lang="en-US" sz="1050" dirty="0">
                <a:solidFill>
                  <a:srgbClr val="718096"/>
                </a:solidFill>
              </a:rPr>
              <a:t>SQLAlchemy does not replace SQL — it writes the SQL for you and runs it; the database still only speaks SQL</a:t>
            </a:r>
            <a:endParaRPr lang="en-US" sz="1050" dirty="0"/>
          </a:p>
        </p:txBody>
      </p:sp>
      <p:sp>
        <p:nvSpPr>
          <p:cNvPr id="25" name="Slide Number Placeholder 0"/>
          <p:cNvSpPr>
            <a:spLocks noGrp="1"/>
          </p:cNvSpPr>
          <p:nvPr>
            <p:ph type="sldNum" sz="quarter" idx="4294967295"/>
          </p:nvPr>
        </p:nvSpPr>
        <p:spPr>
          <a:xfrm>
            <a:off x="8549640" y="4919472"/>
            <a:ext cx="36576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718096"/>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1097280" y="91440"/>
            <a:ext cx="7772400" cy="347472"/>
          </a:xfrm>
          <a:prstGeom prst="rect">
            <a:avLst/>
          </a:prstGeom>
          <a:noFill/>
          <a:ln/>
        </p:spPr>
        <p:txBody>
          <a:bodyPr wrap="square" lIns="0" tIns="0" rIns="0" bIns="0" rtlCol="0" anchor="ctr"/>
          <a:lstStyle/>
          <a:p>
            <a:pPr marL="0" indent="0" algn="l">
              <a:buNone/>
            </a:pPr>
            <a:r>
              <a:rPr lang="en-US" sz="1300" b="1" dirty="0">
                <a:solidFill>
                  <a:srgbClr val="F59E0B"/>
                </a:solidFill>
              </a:rPr>
              <a:t>db.py  ·  Four jobs, in order</a:t>
            </a:r>
            <a:endParaRPr lang="en-US" sz="1300" dirty="0"/>
          </a:p>
        </p:txBody>
      </p:sp>
      <p:graphicFrame>
        <p:nvGraphicFramePr>
          <p:cNvPr id="14" name="table-179"/>
          <p:cNvGraphicFramePr>
            <a:graphicFrameLocks noGrp="1"/>
          </p:cNvGraphicFramePr>
          <p:nvPr>
            <p:extLst>
              <p:ext uri="{D42A27DB-BD31-4B8C-83A1-F6EECF244321}">
                <p14:modId xmlns:p14="http://schemas.microsoft.com/office/powerpoint/2010/main" val="1579011935"/>
              </p:ext>
            </p:extLst>
          </p:nvPr>
        </p:nvGraphicFramePr>
        <p:xfrm>
          <a:off x="274320" y="713232"/>
          <a:ext cx="8595360" cy="914400"/>
        </p:xfrm>
        <a:graphic>
          <a:graphicData uri="http://schemas.openxmlformats.org/drawingml/2006/table">
            <a:tbl>
              <a:tblPr/>
              <a:tblGrid>
                <a:gridCol w="32004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278892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548640">
                <a:tc>
                  <a:txBody>
                    <a:bodyPr/>
                    <a:lstStyle/>
                    <a:p>
                      <a:pPr marL="0" indent="0">
                        <a:buNone/>
                      </a:pPr>
                      <a:r>
                        <a:rPr lang="en-US" sz="1000" b="1" dirty="0">
                          <a:solidFill>
                            <a:srgbClr val="FFFFFF"/>
                          </a:solidFill>
                        </a:rPr>
                        <a:t>#</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D3748"/>
                    </a:solidFill>
                  </a:tcPr>
                </a:tc>
                <a:tc>
                  <a:txBody>
                    <a:bodyPr/>
                    <a:lstStyle/>
                    <a:p>
                      <a:pPr marL="0" indent="0">
                        <a:buNone/>
                      </a:pPr>
                      <a:r>
                        <a:rPr lang="en-US" sz="1000" b="1" dirty="0">
                          <a:solidFill>
                            <a:srgbClr val="FFFFFF"/>
                          </a:solidFill>
                        </a:rPr>
                        <a:t>The code</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D3748"/>
                    </a:solidFill>
                  </a:tcPr>
                </a:tc>
                <a:tc>
                  <a:txBody>
                    <a:bodyPr/>
                    <a:lstStyle/>
                    <a:p>
                      <a:pPr marL="0" indent="0">
                        <a:buNone/>
                      </a:pPr>
                      <a:r>
                        <a:rPr lang="en-US" sz="1000" b="1" dirty="0">
                          <a:solidFill>
                            <a:srgbClr val="FFFFFF"/>
                          </a:solidFill>
                        </a:rPr>
                        <a:t>What it does</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D3748"/>
                    </a:solidFill>
                  </a:tcPr>
                </a:tc>
                <a:tc>
                  <a:txBody>
                    <a:bodyPr/>
                    <a:lstStyle/>
                    <a:p>
                      <a:pPr marL="0" indent="0">
                        <a:buNone/>
                      </a:pPr>
                      <a:r>
                        <a:rPr lang="en-US" sz="1000" b="1" dirty="0">
                          <a:solidFill>
                            <a:srgbClr val="FFFFFF"/>
                          </a:solidFill>
                        </a:rPr>
                        <a:t>Everyday picture</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D3748"/>
                    </a:solidFill>
                  </a:tcPr>
                </a:tc>
                <a:extLst>
                  <a:ext uri="{0D108BD9-81ED-4DB2-BD59-A6C34878D82A}">
                    <a16:rowId xmlns:a16="http://schemas.microsoft.com/office/drawing/2014/main" val="10000"/>
                  </a:ext>
                </a:extLst>
              </a:tr>
              <a:tr h="548640">
                <a:tc>
                  <a:txBody>
                    <a:bodyPr/>
                    <a:lstStyle/>
                    <a:p>
                      <a:pPr marL="0" indent="0">
                        <a:buNone/>
                      </a:pPr>
                      <a:r>
                        <a:rPr lang="en-US" sz="1000" b="1" dirty="0">
                          <a:solidFill>
                            <a:srgbClr val="F59E0B"/>
                          </a:solidFill>
                        </a:rPr>
                        <a:t>1</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2D3748"/>
                          </a:solidFill>
                          <a:latin typeface="Consolas" pitchFamily="34" charset="0"/>
                          <a:ea typeface="Consolas" pitchFamily="34" charset="-122"/>
                          <a:cs typeface="Consolas" pitchFamily="34" charset="-120"/>
                        </a:rPr>
                        <a:t>DB_FILE = Path(__file__).parent/"energy.db"</a:t>
                      </a:r>
                      <a:endParaRPr lang="en-US" sz="900" dirty="0">
                        <a:latin typeface="Consolas" charset="0"/>
                        <a:ea typeface="Consolas" charset="0"/>
                        <a:cs typeface="Consolas" charset="0"/>
                      </a:endParaRPr>
                    </a:p>
                    <a:p>
                      <a:pPr marL="0" indent="0">
                        <a:buNone/>
                      </a:pPr>
                      <a:r>
                        <a:rPr lang="en-US" sz="900" dirty="0">
                          <a:solidFill>
                            <a:srgbClr val="2D3748"/>
                          </a:solidFill>
                          <a:latin typeface="Consolas" pitchFamily="34" charset="0"/>
                          <a:ea typeface="Consolas" pitchFamily="34" charset="-122"/>
                          <a:cs typeface="Consolas" pitchFamily="34" charset="-120"/>
                        </a:rPr>
                        <a:t>DATABASE_URL = f"sqlite:///{DB_FILE}"</a:t>
                      </a:r>
                      <a:endParaRPr lang="en-US" sz="900" dirty="0">
                        <a:latin typeface="Consolas" charset="0"/>
                        <a:ea typeface="Consolas" charset="0"/>
                        <a:cs typeface="Consolas" charset="0"/>
                      </a:endParaRPr>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says WHICH database and WHERE — energy.db, always next to db.py</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the address of the notebook</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buNone/>
                      </a:pPr>
                      <a:r>
                        <a:rPr lang="en-US" sz="1000" b="1" dirty="0">
                          <a:solidFill>
                            <a:srgbClr val="F59E0B"/>
                          </a:solidFill>
                        </a:rPr>
                        <a:t>2</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2D3748"/>
                          </a:solidFill>
                          <a:latin typeface="Consolas" pitchFamily="34" charset="0"/>
                          <a:ea typeface="Consolas" pitchFamily="34" charset="-122"/>
                          <a:cs typeface="Consolas" pitchFamily="34" charset="-120"/>
                        </a:rPr>
                        <a:t>engine = create_engine(DATABASE_URL)</a:t>
                      </a:r>
                      <a:endParaRPr lang="en-US" sz="900" dirty="0">
                        <a:latin typeface="Consolas" charset="0"/>
                        <a:ea typeface="Consolas" charset="0"/>
                        <a:cs typeface="Consolas" charset="0"/>
                      </a:endParaRPr>
                    </a:p>
                    <a:p>
                      <a:pPr marL="0" indent="0">
                        <a:buNone/>
                      </a:pPr>
                      <a:r>
                        <a:rPr lang="en-US" sz="900" dirty="0">
                          <a:solidFill>
                            <a:srgbClr val="2D3748"/>
                          </a:solidFill>
                          <a:latin typeface="Consolas" pitchFamily="34" charset="0"/>
                          <a:ea typeface="Consolas" pitchFamily="34" charset="-122"/>
                          <a:cs typeface="Consolas" pitchFamily="34" charset="-120"/>
                        </a:rPr>
                        <a:t>Session = sessionmaker(engine)</a:t>
                      </a:r>
                      <a:endParaRPr lang="en-US" sz="900" dirty="0">
                        <a:latin typeface="Consolas" charset="0"/>
                        <a:ea typeface="Consolas" charset="0"/>
                        <a:cs typeface="Consolas" charset="0"/>
                      </a:endParaRPr>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opens the connection; Session = one piece of work</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the phone line, and one phone call</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marL="0" indent="0">
                        <a:buNone/>
                      </a:pPr>
                      <a:r>
                        <a:rPr lang="en-US" sz="1000" b="1" dirty="0">
                          <a:solidFill>
                            <a:srgbClr val="F59E0B"/>
                          </a:solidFill>
                        </a:rPr>
                        <a:t>3</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2D3748"/>
                          </a:solidFill>
                          <a:latin typeface="Consolas" pitchFamily="34" charset="0"/>
                          <a:ea typeface="Consolas" pitchFamily="34" charset="-122"/>
                          <a:cs typeface="Consolas" pitchFamily="34" charset="-120"/>
                        </a:rPr>
                        <a:t>class Reading / Calculation /</a:t>
                      </a:r>
                      <a:endParaRPr lang="en-US" sz="900" dirty="0">
                        <a:latin typeface="Consolas" charset="0"/>
                        <a:ea typeface="Consolas" charset="0"/>
                        <a:cs typeface="Consolas" charset="0"/>
                      </a:endParaRPr>
                    </a:p>
                    <a:p>
                      <a:pPr marL="0" indent="0">
                        <a:buNone/>
                      </a:pPr>
                      <a:r>
                        <a:rPr lang="en-US" sz="900" dirty="0">
                          <a:solidFill>
                            <a:srgbClr val="2D3748"/>
                          </a:solidFill>
                          <a:latin typeface="Consolas" pitchFamily="34" charset="0"/>
                          <a:ea typeface="Consolas" pitchFamily="34" charset="-122"/>
                          <a:cs typeface="Consolas" pitchFamily="34" charset="-120"/>
                        </a:rPr>
                        <a:t>      ApplianceRow(Base)</a:t>
                      </a:r>
                      <a:endParaRPr lang="en-US" sz="900" dirty="0">
                        <a:latin typeface="Consolas" charset="0"/>
                        <a:ea typeface="Consolas" charset="0"/>
                        <a:cs typeface="Consolas" charset="0"/>
                      </a:endParaRPr>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describes the three tables and their columns</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the blank forms</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buNone/>
                      </a:pPr>
                      <a:r>
                        <a:rPr lang="en-US" sz="1000" b="1" dirty="0">
                          <a:solidFill>
                            <a:srgbClr val="F59E0B"/>
                          </a:solidFill>
                        </a:rPr>
                        <a:t>4</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2D3748"/>
                          </a:solidFill>
                          <a:latin typeface="Consolas" pitchFamily="34" charset="0"/>
                          <a:ea typeface="Consolas" pitchFamily="34" charset="-122"/>
                          <a:cs typeface="Consolas" pitchFamily="34" charset="-120"/>
                        </a:rPr>
                        <a:t>Base.metadata.create_all(engine)</a:t>
                      </a:r>
                      <a:endParaRPr lang="en-US" sz="900" dirty="0">
                        <a:latin typeface="Consolas" charset="0"/>
                        <a:ea typeface="Consolas" charset="0"/>
                        <a:cs typeface="Consolas" charset="0"/>
                      </a:endParaRPr>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creates any table that doesn't exist yet; never touches existing data</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print the forms — only if the drawer is empty</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4" name="note-180"/>
          <p:cNvSpPr/>
          <p:nvPr/>
        </p:nvSpPr>
        <p:spPr>
          <a:xfrm>
            <a:off x="274320" y="3611880"/>
            <a:ext cx="8595360" cy="685800"/>
          </a:xfrm>
          <a:prstGeom prst="roundRect">
            <a:avLst>
              <a:gd name="adj" fmla="val 6667"/>
            </a:avLst>
          </a:prstGeom>
          <a:solidFill>
            <a:srgbClr val="FFF8E7"/>
          </a:solidFill>
          <a:ln w="12700">
            <a:solidFill>
              <a:srgbClr val="F6D9A8"/>
            </a:solidFill>
            <a:prstDash val="solid"/>
          </a:ln>
        </p:spPr>
        <p:txBody>
          <a:bodyPr/>
          <a:lstStyle/>
          <a:p>
            <a:endParaRPr lang="en-US"/>
          </a:p>
        </p:txBody>
      </p:sp>
      <p:sp>
        <p:nvSpPr>
          <p:cNvPr id="5" name="note-t-181"/>
          <p:cNvSpPr txBox="1"/>
          <p:nvPr/>
        </p:nvSpPr>
        <p:spPr>
          <a:xfrm>
            <a:off x="411480" y="3657600"/>
            <a:ext cx="8321040" cy="594360"/>
          </a:xfrm>
          <a:prstGeom prst="rect">
            <a:avLst/>
          </a:prstGeom>
          <a:noFill/>
          <a:ln/>
        </p:spPr>
        <p:txBody>
          <a:bodyPr wrap="square" lIns="0" tIns="0" rIns="0" bIns="0" rtlCol="0" anchor="ctr"/>
          <a:lstStyle/>
          <a:p>
            <a:pPr marL="0" indent="0">
              <a:buNone/>
            </a:pPr>
            <a:r>
              <a:rPr lang="en-US" sz="1050" dirty="0">
                <a:solidFill>
                  <a:srgbClr val="2D3748"/>
                </a:solidFill>
              </a:rPr>
              <a:t>All four happen the moment any file writes  import db  — so the loader, the API and the tests always find the tables ready. A small helper, data_file(), finds the CSV wherever the code runs (course folder or a Hugging Face Space).</a:t>
            </a:r>
            <a:endParaRPr lang="en-US" sz="1050" dirty="0"/>
          </a:p>
        </p:txBody>
      </p:sp>
      <p:sp>
        <p:nvSpPr>
          <p:cNvPr id="6" name="lab-182"/>
          <p:cNvSpPr/>
          <p:nvPr/>
        </p:nvSpPr>
        <p:spPr>
          <a:xfrm>
            <a:off x="274320" y="4498848"/>
            <a:ext cx="8595360" cy="384048"/>
          </a:xfrm>
          <a:prstGeom prst="roundRect">
            <a:avLst>
              <a:gd name="adj" fmla="val 11905"/>
            </a:avLst>
          </a:prstGeom>
          <a:solidFill>
            <a:srgbClr val="FFF8E7"/>
          </a:solidFill>
          <a:ln w="12700">
            <a:solidFill>
              <a:srgbClr val="F6D9A8"/>
            </a:solidFill>
            <a:prstDash val="solid"/>
          </a:ln>
        </p:spPr>
        <p:txBody>
          <a:bodyPr/>
          <a:lstStyle/>
          <a:p>
            <a:endParaRPr lang="en-US"/>
          </a:p>
        </p:txBody>
      </p:sp>
      <p:sp>
        <p:nvSpPr>
          <p:cNvPr id="7" name="lab-t-183"/>
          <p:cNvSpPr txBox="1"/>
          <p:nvPr/>
        </p:nvSpPr>
        <p:spPr>
          <a:xfrm>
            <a:off x="411480" y="4507992"/>
            <a:ext cx="8321040" cy="365760"/>
          </a:xfrm>
          <a:prstGeom prst="rect">
            <a:avLst/>
          </a:prstGeom>
          <a:noFill/>
          <a:ln/>
        </p:spPr>
        <p:txBody>
          <a:bodyPr wrap="square" lIns="0" tIns="0" rIns="0" bIns="0" rtlCol="0" anchor="ctr"/>
          <a:lstStyle/>
          <a:p>
            <a:pPr marL="0" indent="0">
              <a:buNone/>
            </a:pPr>
            <a:r>
              <a:rPr lang="en-US" sz="1050" b="1" dirty="0">
                <a:solidFill>
                  <a:srgbClr val="2D3748"/>
                </a:solidFill>
              </a:rPr>
              <a:t>To switch to PostgreSQL:  </a:t>
            </a:r>
            <a:r>
              <a:rPr lang="en-US" sz="1050" dirty="0">
                <a:solidFill>
                  <a:srgbClr val="2D3748"/>
                </a:solidFill>
              </a:rPr>
              <a:t>change DATABASE_URL, install the driver (psycopg), run a database server — the classes and queries stay the same</a:t>
            </a:r>
            <a:endParaRPr lang="en-US" sz="1050" dirty="0"/>
          </a:p>
        </p:txBody>
      </p:sp>
      <p:sp>
        <p:nvSpPr>
          <p:cNvPr id="25" name="Slide Number Placeholder 0"/>
          <p:cNvSpPr>
            <a:spLocks noGrp="1"/>
          </p:cNvSpPr>
          <p:nvPr>
            <p:ph type="sldNum" sz="quarter" idx="4294967295"/>
          </p:nvPr>
        </p:nvSpPr>
        <p:spPr>
          <a:xfrm>
            <a:off x="8549640" y="4919472"/>
            <a:ext cx="36576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718096"/>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1097280" y="91440"/>
            <a:ext cx="7772400" cy="347472"/>
          </a:xfrm>
          <a:prstGeom prst="rect">
            <a:avLst/>
          </a:prstGeom>
          <a:noFill/>
          <a:ln/>
        </p:spPr>
        <p:txBody>
          <a:bodyPr wrap="square" lIns="0" tIns="0" rIns="0" bIns="0" rtlCol="0" anchor="ctr"/>
          <a:lstStyle/>
          <a:p>
            <a:pPr marL="0" indent="0" algn="l">
              <a:buNone/>
            </a:pPr>
            <a:r>
              <a:rPr lang="en-US" sz="1300" b="1" dirty="0">
                <a:solidFill>
                  <a:srgbClr val="F59E0B"/>
                </a:solidFill>
              </a:rPr>
              <a:t>SESSION AND COMMIT  ·  Like a shopping cart</a:t>
            </a:r>
            <a:endParaRPr lang="en-US" sz="1300" dirty="0"/>
          </a:p>
        </p:txBody>
      </p:sp>
      <p:sp>
        <p:nvSpPr>
          <p:cNvPr id="3" name="box-184"/>
          <p:cNvSpPr/>
          <p:nvPr/>
        </p:nvSpPr>
        <p:spPr>
          <a:xfrm>
            <a:off x="274320" y="777240"/>
            <a:ext cx="1828800" cy="868680"/>
          </a:xfrm>
          <a:prstGeom prst="roundRect">
            <a:avLst>
              <a:gd name="adj" fmla="val 6316"/>
            </a:avLst>
          </a:prstGeom>
          <a:solidFill>
            <a:srgbClr val="2D3748"/>
          </a:solidFill>
          <a:ln w="12700">
            <a:solidFill>
              <a:srgbClr val="2D3748"/>
            </a:solidFill>
            <a:prstDash val="solid"/>
          </a:ln>
        </p:spPr>
        <p:txBody>
          <a:bodyPr/>
          <a:lstStyle/>
          <a:p>
            <a:endParaRPr lang="en-US"/>
          </a:p>
        </p:txBody>
      </p:sp>
      <p:sp>
        <p:nvSpPr>
          <p:cNvPr id="4" name="box-t-185"/>
          <p:cNvSpPr txBox="1"/>
          <p:nvPr/>
        </p:nvSpPr>
        <p:spPr>
          <a:xfrm>
            <a:off x="274320" y="777240"/>
            <a:ext cx="1828800" cy="868680"/>
          </a:xfrm>
          <a:prstGeom prst="rect">
            <a:avLst/>
          </a:prstGeom>
          <a:noFill/>
          <a:ln/>
        </p:spPr>
        <p:txBody>
          <a:bodyPr wrap="square" lIns="762" tIns="762" rIns="762" bIns="762" rtlCol="0" anchor="ctr"/>
          <a:lstStyle/>
          <a:p>
            <a:pPr marL="0" indent="0" algn="ctr">
              <a:buNone/>
            </a:pPr>
            <a:r>
              <a:rPr lang="en-US" sz="1200" b="1" dirty="0">
                <a:solidFill>
                  <a:srgbClr val="FFFFFF"/>
                </a:solidFill>
              </a:rPr>
              <a:t>Session()</a:t>
            </a:r>
            <a:endParaRPr lang="en-US" sz="1200" dirty="0"/>
          </a:p>
          <a:p>
            <a:pPr marL="0" indent="0" algn="ctr">
              <a:buNone/>
            </a:pPr>
            <a:r>
              <a:rPr lang="en-US" sz="950" dirty="0">
                <a:solidFill>
                  <a:srgbClr val="E2E8F0"/>
                </a:solidFill>
              </a:rPr>
              <a:t>pick up a cart</a:t>
            </a:r>
            <a:endParaRPr lang="en-US" sz="1200" dirty="0"/>
          </a:p>
        </p:txBody>
      </p:sp>
      <p:sp>
        <p:nvSpPr>
          <p:cNvPr id="5" name="arrow-186"/>
          <p:cNvSpPr txBox="1"/>
          <p:nvPr/>
        </p:nvSpPr>
        <p:spPr>
          <a:xfrm>
            <a:off x="2148840" y="1024128"/>
            <a:ext cx="365760" cy="365760"/>
          </a:xfrm>
          <a:prstGeom prst="rect">
            <a:avLst/>
          </a:prstGeom>
          <a:noFill/>
          <a:ln/>
        </p:spPr>
        <p:txBody>
          <a:bodyPr wrap="square" lIns="0" tIns="0" rIns="0" bIns="0" rtlCol="0" anchor="ctr"/>
          <a:lstStyle/>
          <a:p>
            <a:pPr marL="0" indent="0" algn="ctr">
              <a:buNone/>
            </a:pPr>
            <a:r>
              <a:rPr lang="en-US" sz="1800" dirty="0">
                <a:solidFill>
                  <a:srgbClr val="718096"/>
                </a:solidFill>
              </a:rPr>
              <a:t>→</a:t>
            </a:r>
            <a:endParaRPr lang="en-US" sz="1800" dirty="0"/>
          </a:p>
        </p:txBody>
      </p:sp>
      <p:sp>
        <p:nvSpPr>
          <p:cNvPr id="6" name="box-187"/>
          <p:cNvSpPr/>
          <p:nvPr/>
        </p:nvSpPr>
        <p:spPr>
          <a:xfrm>
            <a:off x="2560320" y="777240"/>
            <a:ext cx="1828800" cy="868680"/>
          </a:xfrm>
          <a:prstGeom prst="roundRect">
            <a:avLst>
              <a:gd name="adj" fmla="val 6316"/>
            </a:avLst>
          </a:prstGeom>
          <a:solidFill>
            <a:srgbClr val="2D3748"/>
          </a:solidFill>
          <a:ln w="12700">
            <a:solidFill>
              <a:srgbClr val="2D3748"/>
            </a:solidFill>
            <a:prstDash val="solid"/>
          </a:ln>
        </p:spPr>
        <p:txBody>
          <a:bodyPr/>
          <a:lstStyle/>
          <a:p>
            <a:endParaRPr lang="en-US"/>
          </a:p>
        </p:txBody>
      </p:sp>
      <p:sp>
        <p:nvSpPr>
          <p:cNvPr id="7" name="box-t-188"/>
          <p:cNvSpPr txBox="1"/>
          <p:nvPr/>
        </p:nvSpPr>
        <p:spPr>
          <a:xfrm>
            <a:off x="2560320" y="777240"/>
            <a:ext cx="1828800" cy="868680"/>
          </a:xfrm>
          <a:prstGeom prst="rect">
            <a:avLst/>
          </a:prstGeom>
          <a:noFill/>
          <a:ln/>
        </p:spPr>
        <p:txBody>
          <a:bodyPr wrap="square" lIns="762" tIns="762" rIns="762" bIns="762" rtlCol="0" anchor="ctr"/>
          <a:lstStyle/>
          <a:p>
            <a:pPr marL="0" indent="0" algn="ctr">
              <a:buNone/>
            </a:pPr>
            <a:r>
              <a:rPr lang="en-US" sz="1200" b="1" dirty="0">
                <a:solidFill>
                  <a:srgbClr val="FFFFFF"/>
                </a:solidFill>
              </a:rPr>
              <a:t>s.add(…)</a:t>
            </a:r>
            <a:endParaRPr lang="en-US" sz="1200" dirty="0"/>
          </a:p>
          <a:p>
            <a:pPr marL="0" indent="0" algn="ctr">
              <a:buNone/>
            </a:pPr>
            <a:r>
              <a:rPr lang="en-US" sz="950" dirty="0">
                <a:solidFill>
                  <a:srgbClr val="E2E8F0"/>
                </a:solidFill>
              </a:rPr>
              <a:t>put rows in the cart</a:t>
            </a:r>
            <a:endParaRPr lang="en-US" sz="1200" dirty="0"/>
          </a:p>
        </p:txBody>
      </p:sp>
      <p:sp>
        <p:nvSpPr>
          <p:cNvPr id="8" name="arrow-189"/>
          <p:cNvSpPr txBox="1"/>
          <p:nvPr/>
        </p:nvSpPr>
        <p:spPr>
          <a:xfrm>
            <a:off x="4434840" y="1024128"/>
            <a:ext cx="365760" cy="365760"/>
          </a:xfrm>
          <a:prstGeom prst="rect">
            <a:avLst/>
          </a:prstGeom>
          <a:noFill/>
          <a:ln/>
        </p:spPr>
        <p:txBody>
          <a:bodyPr wrap="square" lIns="0" tIns="0" rIns="0" bIns="0" rtlCol="0" anchor="ctr"/>
          <a:lstStyle/>
          <a:p>
            <a:pPr marL="0" indent="0" algn="ctr">
              <a:buNone/>
            </a:pPr>
            <a:r>
              <a:rPr lang="en-US" sz="1800" dirty="0">
                <a:solidFill>
                  <a:srgbClr val="718096"/>
                </a:solidFill>
              </a:rPr>
              <a:t>→</a:t>
            </a:r>
            <a:endParaRPr lang="en-US" sz="1800" dirty="0"/>
          </a:p>
        </p:txBody>
      </p:sp>
      <p:sp>
        <p:nvSpPr>
          <p:cNvPr id="9" name="box-190"/>
          <p:cNvSpPr/>
          <p:nvPr/>
        </p:nvSpPr>
        <p:spPr>
          <a:xfrm>
            <a:off x="4846320" y="777240"/>
            <a:ext cx="2011680" cy="868680"/>
          </a:xfrm>
          <a:prstGeom prst="roundRect">
            <a:avLst>
              <a:gd name="adj" fmla="val 6316"/>
            </a:avLst>
          </a:prstGeom>
          <a:solidFill>
            <a:srgbClr val="F59E0B"/>
          </a:solidFill>
          <a:ln w="12700">
            <a:solidFill>
              <a:srgbClr val="F59E0B"/>
            </a:solidFill>
            <a:prstDash val="solid"/>
          </a:ln>
        </p:spPr>
        <p:txBody>
          <a:bodyPr/>
          <a:lstStyle/>
          <a:p>
            <a:endParaRPr lang="en-US"/>
          </a:p>
        </p:txBody>
      </p:sp>
      <p:sp>
        <p:nvSpPr>
          <p:cNvPr id="10" name="box-t-191"/>
          <p:cNvSpPr txBox="1"/>
          <p:nvPr/>
        </p:nvSpPr>
        <p:spPr>
          <a:xfrm>
            <a:off x="4846320" y="777240"/>
            <a:ext cx="2011680" cy="868680"/>
          </a:xfrm>
          <a:prstGeom prst="rect">
            <a:avLst/>
          </a:prstGeom>
          <a:noFill/>
          <a:ln/>
        </p:spPr>
        <p:txBody>
          <a:bodyPr wrap="square" lIns="762" tIns="762" rIns="762" bIns="762" rtlCol="0" anchor="ctr"/>
          <a:lstStyle/>
          <a:p>
            <a:pPr marL="0" indent="0" algn="ctr">
              <a:buNone/>
            </a:pPr>
            <a:r>
              <a:rPr lang="en-US" sz="1200" b="1" dirty="0">
                <a:solidFill>
                  <a:srgbClr val="1A2535"/>
                </a:solidFill>
              </a:rPr>
              <a:t>s.commit()</a:t>
            </a:r>
            <a:endParaRPr lang="en-US" sz="1200" dirty="0"/>
          </a:p>
          <a:p>
            <a:pPr marL="0" indent="0" algn="ctr">
              <a:buNone/>
            </a:pPr>
            <a:r>
              <a:rPr lang="en-US" sz="950" dirty="0">
                <a:solidFill>
                  <a:srgbClr val="1A2535"/>
                </a:solidFill>
              </a:rPr>
              <a:t>pay at the counter — now it is really saved</a:t>
            </a:r>
            <a:endParaRPr lang="en-US" sz="1200" dirty="0"/>
          </a:p>
        </p:txBody>
      </p:sp>
      <p:sp>
        <p:nvSpPr>
          <p:cNvPr id="11" name="arrow-192"/>
          <p:cNvSpPr txBox="1"/>
          <p:nvPr/>
        </p:nvSpPr>
        <p:spPr>
          <a:xfrm>
            <a:off x="6903720" y="1024128"/>
            <a:ext cx="365760" cy="365760"/>
          </a:xfrm>
          <a:prstGeom prst="rect">
            <a:avLst/>
          </a:prstGeom>
          <a:noFill/>
          <a:ln/>
        </p:spPr>
        <p:txBody>
          <a:bodyPr wrap="square" lIns="0" tIns="0" rIns="0" bIns="0" rtlCol="0" anchor="ctr"/>
          <a:lstStyle/>
          <a:p>
            <a:pPr marL="0" indent="0" algn="ctr">
              <a:buNone/>
            </a:pPr>
            <a:r>
              <a:rPr lang="en-US" sz="1800" dirty="0">
                <a:solidFill>
                  <a:srgbClr val="718096"/>
                </a:solidFill>
              </a:rPr>
              <a:t>→</a:t>
            </a:r>
            <a:endParaRPr lang="en-US" sz="1800" dirty="0"/>
          </a:p>
        </p:txBody>
      </p:sp>
      <p:sp>
        <p:nvSpPr>
          <p:cNvPr id="12" name="box-193"/>
          <p:cNvSpPr/>
          <p:nvPr/>
        </p:nvSpPr>
        <p:spPr>
          <a:xfrm>
            <a:off x="7315200" y="777240"/>
            <a:ext cx="1554480" cy="868680"/>
          </a:xfrm>
          <a:prstGeom prst="roundRect">
            <a:avLst>
              <a:gd name="adj" fmla="val 6316"/>
            </a:avLst>
          </a:prstGeom>
          <a:solidFill>
            <a:srgbClr val="2D3748"/>
          </a:solidFill>
          <a:ln w="12700">
            <a:solidFill>
              <a:srgbClr val="2D3748"/>
            </a:solidFill>
            <a:prstDash val="solid"/>
          </a:ln>
        </p:spPr>
        <p:txBody>
          <a:bodyPr/>
          <a:lstStyle/>
          <a:p>
            <a:endParaRPr lang="en-US"/>
          </a:p>
        </p:txBody>
      </p:sp>
      <p:sp>
        <p:nvSpPr>
          <p:cNvPr id="13" name="box-t-194"/>
          <p:cNvSpPr txBox="1"/>
          <p:nvPr/>
        </p:nvSpPr>
        <p:spPr>
          <a:xfrm>
            <a:off x="7315200" y="777240"/>
            <a:ext cx="1554480" cy="868680"/>
          </a:xfrm>
          <a:prstGeom prst="rect">
            <a:avLst/>
          </a:prstGeom>
          <a:noFill/>
          <a:ln/>
        </p:spPr>
        <p:txBody>
          <a:bodyPr wrap="square" lIns="762" tIns="762" rIns="762" bIns="762" rtlCol="0" anchor="ctr"/>
          <a:lstStyle/>
          <a:p>
            <a:pPr marL="0" indent="0" algn="ctr">
              <a:buNone/>
            </a:pPr>
            <a:r>
              <a:rPr lang="en-US" sz="1200" b="1" dirty="0">
                <a:solidFill>
                  <a:srgbClr val="FFFFFF"/>
                </a:solidFill>
              </a:rPr>
              <a:t>end of with</a:t>
            </a:r>
            <a:endParaRPr lang="en-US" sz="1200" dirty="0"/>
          </a:p>
          <a:p>
            <a:pPr marL="0" indent="0" algn="ctr">
              <a:buNone/>
            </a:pPr>
            <a:r>
              <a:rPr lang="en-US" sz="950" dirty="0">
                <a:solidFill>
                  <a:srgbClr val="E2E8F0"/>
                </a:solidFill>
              </a:rPr>
              <a:t>put the cart back</a:t>
            </a:r>
            <a:endParaRPr lang="en-US" sz="1200" dirty="0"/>
          </a:p>
        </p:txBody>
      </p:sp>
      <p:sp>
        <p:nvSpPr>
          <p:cNvPr id="14" name="code-bg-195"/>
          <p:cNvSpPr/>
          <p:nvPr/>
        </p:nvSpPr>
        <p:spPr>
          <a:xfrm>
            <a:off x="274320" y="1874520"/>
            <a:ext cx="8595360" cy="1325880"/>
          </a:xfrm>
          <a:prstGeom prst="roundRect">
            <a:avLst>
              <a:gd name="adj" fmla="val 4138"/>
            </a:avLst>
          </a:prstGeom>
          <a:solidFill>
            <a:srgbClr val="1A2535"/>
          </a:solidFill>
          <a:ln w="12700">
            <a:solidFill>
              <a:srgbClr val="1A2535"/>
            </a:solidFill>
            <a:prstDash val="solid"/>
          </a:ln>
        </p:spPr>
        <p:txBody>
          <a:bodyPr/>
          <a:lstStyle/>
          <a:p>
            <a:endParaRPr lang="en-US"/>
          </a:p>
        </p:txBody>
      </p:sp>
      <p:sp>
        <p:nvSpPr>
          <p:cNvPr id="15" name="code-title-196"/>
          <p:cNvSpPr txBox="1"/>
          <p:nvPr/>
        </p:nvSpPr>
        <p:spPr>
          <a:xfrm>
            <a:off x="411480" y="1947672"/>
            <a:ext cx="8321040" cy="219456"/>
          </a:xfrm>
          <a:prstGeom prst="rect">
            <a:avLst/>
          </a:prstGeom>
          <a:noFill/>
          <a:ln/>
        </p:spPr>
        <p:txBody>
          <a:bodyPr wrap="square" lIns="0" tIns="0" rIns="0" bIns="0" rtlCol="0" anchor="ctr"/>
          <a:lstStyle/>
          <a:p>
            <a:pPr marL="0" indent="0">
              <a:buNone/>
            </a:pPr>
            <a:r>
              <a:rPr lang="en-US" sz="950" b="1" dirty="0">
                <a:solidFill>
                  <a:srgbClr val="F59E0B"/>
                </a:solidFill>
              </a:rPr>
              <a:t>queries.py — writing one line in the logbook</a:t>
            </a:r>
            <a:endParaRPr lang="en-US" sz="950" dirty="0"/>
          </a:p>
        </p:txBody>
      </p:sp>
      <p:sp>
        <p:nvSpPr>
          <p:cNvPr id="16" name="code-197"/>
          <p:cNvSpPr txBox="1"/>
          <p:nvPr/>
        </p:nvSpPr>
        <p:spPr>
          <a:xfrm>
            <a:off x="411480" y="2203704"/>
            <a:ext cx="8321040" cy="923544"/>
          </a:xfrm>
          <a:prstGeom prst="rect">
            <a:avLst/>
          </a:prstGeom>
          <a:noFill/>
          <a:ln/>
        </p:spPr>
        <p:txBody>
          <a:bodyPr wrap="square" lIns="0" tIns="0" rIns="0" bIns="0" rtlCol="0" anchor="t"/>
          <a:lstStyle/>
          <a:p>
            <a:pPr marL="0" indent="0">
              <a:lnSpc>
                <a:spcPct val="105000"/>
              </a:lnSpc>
              <a:buNone/>
            </a:pPr>
            <a:r>
              <a:rPr lang="en-US" sz="950" dirty="0">
                <a:solidFill>
                  <a:srgbClr val="68D391"/>
                </a:solidFill>
                <a:latin typeface="Consolas" pitchFamily="34" charset="0"/>
                <a:ea typeface="Consolas" pitchFamily="34" charset="-122"/>
                <a:cs typeface="Consolas" pitchFamily="34" charset="-120"/>
              </a:rPr>
              <a:t>def save_calculation(kind, inputs, result):</a:t>
            </a:r>
            <a:endParaRPr lang="en-US" sz="950" dirty="0"/>
          </a:p>
          <a:p>
            <a:pPr marL="0" indent="0">
              <a:lnSpc>
                <a:spcPct val="105000"/>
              </a:lnSpc>
              <a:buNone/>
            </a:pPr>
            <a:r>
              <a:rPr lang="en-US" sz="950" dirty="0">
                <a:solidFill>
                  <a:srgbClr val="E2E8F0"/>
                </a:solidFill>
                <a:latin typeface="Consolas" pitchFamily="34" charset="0"/>
                <a:ea typeface="Consolas" pitchFamily="34" charset="-122"/>
                <a:cs typeface="Consolas" pitchFamily="34" charset="-120"/>
              </a:rPr>
              <a:t>    with Session() as s:                                   # pick up a cart</a:t>
            </a:r>
            <a:endParaRPr lang="en-US" sz="950" dirty="0"/>
          </a:p>
          <a:p>
            <a:pPr marL="0" indent="0">
              <a:lnSpc>
                <a:spcPct val="105000"/>
              </a:lnSpc>
              <a:buNone/>
            </a:pPr>
            <a:r>
              <a:rPr lang="en-US" sz="950" dirty="0">
                <a:solidFill>
                  <a:srgbClr val="E2E8F0"/>
                </a:solidFill>
                <a:latin typeface="Consolas" pitchFamily="34" charset="0"/>
                <a:ea typeface="Consolas" pitchFamily="34" charset="-122"/>
                <a:cs typeface="Consolas" pitchFamily="34" charset="-120"/>
              </a:rPr>
              <a:t>        s.add(Calculation(kind=kind, inputs=inputs, result=result))   # put a row in</a:t>
            </a:r>
            <a:endParaRPr lang="en-US" sz="950" dirty="0"/>
          </a:p>
          <a:p>
            <a:pPr marL="0" indent="0">
              <a:lnSpc>
                <a:spcPct val="105000"/>
              </a:lnSpc>
              <a:buNone/>
            </a:pPr>
            <a:r>
              <a:rPr lang="en-US" sz="950" dirty="0">
                <a:solidFill>
                  <a:srgbClr val="E2E8F0"/>
                </a:solidFill>
                <a:latin typeface="Consolas" pitchFamily="34" charset="0"/>
                <a:ea typeface="Consolas" pitchFamily="34" charset="-122"/>
                <a:cs typeface="Consolas" pitchFamily="34" charset="-120"/>
              </a:rPr>
              <a:t>        s.commit()                                         # pay — saved to energy.db</a:t>
            </a:r>
            <a:endParaRPr lang="en-US" sz="950" dirty="0"/>
          </a:p>
        </p:txBody>
      </p:sp>
      <p:sp>
        <p:nvSpPr>
          <p:cNvPr id="17" name="note-198"/>
          <p:cNvSpPr/>
          <p:nvPr/>
        </p:nvSpPr>
        <p:spPr>
          <a:xfrm>
            <a:off x="274320" y="3364992"/>
            <a:ext cx="8595360" cy="685800"/>
          </a:xfrm>
          <a:prstGeom prst="roundRect">
            <a:avLst>
              <a:gd name="adj" fmla="val 6667"/>
            </a:avLst>
          </a:prstGeom>
          <a:solidFill>
            <a:srgbClr val="FFF8E7"/>
          </a:solidFill>
          <a:ln w="12700">
            <a:solidFill>
              <a:srgbClr val="F6D9A8"/>
            </a:solidFill>
            <a:prstDash val="solid"/>
          </a:ln>
        </p:spPr>
        <p:txBody>
          <a:bodyPr/>
          <a:lstStyle/>
          <a:p>
            <a:endParaRPr lang="en-US"/>
          </a:p>
        </p:txBody>
      </p:sp>
      <p:sp>
        <p:nvSpPr>
          <p:cNvPr id="18" name="note-t-199"/>
          <p:cNvSpPr txBox="1"/>
          <p:nvPr/>
        </p:nvSpPr>
        <p:spPr>
          <a:xfrm>
            <a:off x="411480" y="3410712"/>
            <a:ext cx="8321040" cy="594360"/>
          </a:xfrm>
          <a:prstGeom prst="rect">
            <a:avLst/>
          </a:prstGeom>
          <a:noFill/>
          <a:ln/>
        </p:spPr>
        <p:txBody>
          <a:bodyPr wrap="square" lIns="0" tIns="0" rIns="0" bIns="0" rtlCol="0" anchor="ctr"/>
          <a:lstStyle/>
          <a:p>
            <a:pPr marL="0" indent="0">
              <a:buNone/>
            </a:pPr>
            <a:r>
              <a:rPr lang="en-US" sz="1050" dirty="0">
                <a:solidFill>
                  <a:srgbClr val="2D3748"/>
                </a:solidFill>
              </a:rPr>
              <a:t>Forget commit() and nothing is saved — like leaving the shop without paying, the cart is emptied. A commit is all-or-nothing: either every row in the cart is saved, or none is.</a:t>
            </a:r>
            <a:endParaRPr lang="en-US" sz="1050" dirty="0"/>
          </a:p>
        </p:txBody>
      </p:sp>
      <p:sp>
        <p:nvSpPr>
          <p:cNvPr id="19" name="evolve-200"/>
          <p:cNvSpPr/>
          <p:nvPr/>
        </p:nvSpPr>
        <p:spPr>
          <a:xfrm>
            <a:off x="274320" y="4498848"/>
            <a:ext cx="8595360" cy="384048"/>
          </a:xfrm>
          <a:prstGeom prst="roundRect">
            <a:avLst>
              <a:gd name="adj" fmla="val 11905"/>
            </a:avLst>
          </a:prstGeom>
          <a:solidFill>
            <a:srgbClr val="EEF2FF"/>
          </a:solidFill>
          <a:ln w="12700">
            <a:solidFill>
              <a:srgbClr val="D5DCF5"/>
            </a:solidFill>
            <a:prstDash val="solid"/>
          </a:ln>
        </p:spPr>
        <p:txBody>
          <a:bodyPr/>
          <a:lstStyle/>
          <a:p>
            <a:endParaRPr lang="en-US"/>
          </a:p>
        </p:txBody>
      </p:sp>
      <p:sp>
        <p:nvSpPr>
          <p:cNvPr id="20" name="evolve-t-201"/>
          <p:cNvSpPr txBox="1"/>
          <p:nvPr/>
        </p:nvSpPr>
        <p:spPr>
          <a:xfrm>
            <a:off x="411480" y="4507992"/>
            <a:ext cx="8321040" cy="365760"/>
          </a:xfrm>
          <a:prstGeom prst="rect">
            <a:avLst/>
          </a:prstGeom>
          <a:noFill/>
          <a:ln/>
        </p:spPr>
        <p:txBody>
          <a:bodyPr wrap="square" lIns="0" tIns="0" rIns="0" bIns="0" rtlCol="0" anchor="ctr"/>
          <a:lstStyle/>
          <a:p>
            <a:pPr marL="0" indent="0">
              <a:buNone/>
            </a:pPr>
            <a:r>
              <a:rPr lang="en-US" sz="1050" b="1" dirty="0">
                <a:solidFill>
                  <a:srgbClr val="2D3748"/>
                </a:solidFill>
              </a:rPr>
              <a:t>Why it matters:  </a:t>
            </a:r>
            <a:r>
              <a:rPr lang="en-US" sz="1050" dirty="0">
                <a:solidFill>
                  <a:srgbClr val="718096"/>
                </a:solidFill>
              </a:rPr>
              <a:t>a power cut halfway through never leaves half-written data behind</a:t>
            </a:r>
            <a:endParaRPr lang="en-US" sz="1050" dirty="0"/>
          </a:p>
        </p:txBody>
      </p:sp>
      <p:sp>
        <p:nvSpPr>
          <p:cNvPr id="25" name="Slide Number Placeholder 0"/>
          <p:cNvSpPr>
            <a:spLocks noGrp="1"/>
          </p:cNvSpPr>
          <p:nvPr>
            <p:ph type="sldNum" sz="quarter" idx="4294967295"/>
          </p:nvPr>
        </p:nvSpPr>
        <p:spPr>
          <a:xfrm>
            <a:off x="8549640" y="4919472"/>
            <a:ext cx="36576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718096"/>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1097280" y="91440"/>
            <a:ext cx="7772400" cy="347472"/>
          </a:xfrm>
          <a:prstGeom prst="rect">
            <a:avLst/>
          </a:prstGeom>
          <a:noFill/>
          <a:ln/>
        </p:spPr>
        <p:txBody>
          <a:bodyPr wrap="square" lIns="0" tIns="0" rIns="0" bIns="0" rtlCol="0" anchor="ctr"/>
          <a:lstStyle/>
          <a:p>
            <a:pPr marL="0" indent="0" algn="l">
              <a:buNone/>
            </a:pPr>
            <a:r>
              <a:rPr lang="en-US" sz="1300" b="1" dirty="0">
                <a:solidFill>
                  <a:srgbClr val="F59E0B"/>
                </a:solidFill>
              </a:rPr>
              <a:t>LOADING THE CSV  ·  02_load_readings.py, run once</a:t>
            </a:r>
            <a:endParaRPr lang="en-US" sz="1300" dirty="0"/>
          </a:p>
        </p:txBody>
      </p:sp>
      <p:sp>
        <p:nvSpPr>
          <p:cNvPr id="3" name="box-202"/>
          <p:cNvSpPr/>
          <p:nvPr/>
        </p:nvSpPr>
        <p:spPr>
          <a:xfrm>
            <a:off x="274320" y="777240"/>
            <a:ext cx="1600200" cy="868680"/>
          </a:xfrm>
          <a:prstGeom prst="roundRect">
            <a:avLst>
              <a:gd name="adj" fmla="val 6316"/>
            </a:avLst>
          </a:prstGeom>
          <a:solidFill>
            <a:srgbClr val="2D3748"/>
          </a:solidFill>
          <a:ln w="12700">
            <a:solidFill>
              <a:srgbClr val="2D3748"/>
            </a:solidFill>
            <a:prstDash val="solid"/>
          </a:ln>
        </p:spPr>
        <p:txBody>
          <a:bodyPr/>
          <a:lstStyle/>
          <a:p>
            <a:endParaRPr lang="en-US"/>
          </a:p>
        </p:txBody>
      </p:sp>
      <p:sp>
        <p:nvSpPr>
          <p:cNvPr id="4" name="box-t-203"/>
          <p:cNvSpPr txBox="1"/>
          <p:nvPr/>
        </p:nvSpPr>
        <p:spPr>
          <a:xfrm>
            <a:off x="274320" y="777240"/>
            <a:ext cx="1600200" cy="868680"/>
          </a:xfrm>
          <a:prstGeom prst="rect">
            <a:avLst/>
          </a:prstGeom>
          <a:noFill/>
          <a:ln/>
        </p:spPr>
        <p:txBody>
          <a:bodyPr wrap="square" lIns="762" tIns="762" rIns="762" bIns="762" rtlCol="0" anchor="ctr"/>
          <a:lstStyle/>
          <a:p>
            <a:pPr marL="0" indent="0" algn="ctr">
              <a:buNone/>
            </a:pPr>
            <a:r>
              <a:rPr lang="en-US" sz="1200" b="1" dirty="0">
                <a:solidFill>
                  <a:srgbClr val="FFFFFF"/>
                </a:solidFill>
              </a:rPr>
              <a:t>CSV file</a:t>
            </a:r>
            <a:endParaRPr lang="en-US" sz="1200" dirty="0"/>
          </a:p>
          <a:p>
            <a:pPr marL="0" indent="0" algn="ctr">
              <a:buNone/>
            </a:pPr>
            <a:r>
              <a:rPr lang="en-US" sz="950" dirty="0">
                <a:solidFill>
                  <a:srgbClr val="E2E8F0"/>
                </a:solidFill>
              </a:rPr>
              <a:t>5,664 lines of text</a:t>
            </a:r>
            <a:endParaRPr lang="en-US" sz="1200" dirty="0"/>
          </a:p>
        </p:txBody>
      </p:sp>
      <p:sp>
        <p:nvSpPr>
          <p:cNvPr id="5" name="arrow-204"/>
          <p:cNvSpPr txBox="1"/>
          <p:nvPr/>
        </p:nvSpPr>
        <p:spPr>
          <a:xfrm>
            <a:off x="1901952" y="1024128"/>
            <a:ext cx="365760" cy="365760"/>
          </a:xfrm>
          <a:prstGeom prst="rect">
            <a:avLst/>
          </a:prstGeom>
          <a:noFill/>
          <a:ln/>
        </p:spPr>
        <p:txBody>
          <a:bodyPr wrap="square" lIns="0" tIns="0" rIns="0" bIns="0" rtlCol="0" anchor="ctr"/>
          <a:lstStyle/>
          <a:p>
            <a:pPr marL="0" indent="0" algn="ctr">
              <a:buNone/>
            </a:pPr>
            <a:r>
              <a:rPr lang="en-US" sz="1800" dirty="0">
                <a:solidFill>
                  <a:srgbClr val="718096"/>
                </a:solidFill>
              </a:rPr>
              <a:t>→</a:t>
            </a:r>
            <a:endParaRPr lang="en-US" sz="1800" dirty="0"/>
          </a:p>
        </p:txBody>
      </p:sp>
      <p:sp>
        <p:nvSpPr>
          <p:cNvPr id="6" name="box-205"/>
          <p:cNvSpPr/>
          <p:nvPr/>
        </p:nvSpPr>
        <p:spPr>
          <a:xfrm>
            <a:off x="2286000" y="777240"/>
            <a:ext cx="1600200" cy="868680"/>
          </a:xfrm>
          <a:prstGeom prst="roundRect">
            <a:avLst>
              <a:gd name="adj" fmla="val 6316"/>
            </a:avLst>
          </a:prstGeom>
          <a:solidFill>
            <a:srgbClr val="2D3748"/>
          </a:solidFill>
          <a:ln w="12700">
            <a:solidFill>
              <a:srgbClr val="2D3748"/>
            </a:solidFill>
            <a:prstDash val="solid"/>
          </a:ln>
        </p:spPr>
        <p:txBody>
          <a:bodyPr/>
          <a:lstStyle/>
          <a:p>
            <a:endParaRPr lang="en-US"/>
          </a:p>
        </p:txBody>
      </p:sp>
      <p:sp>
        <p:nvSpPr>
          <p:cNvPr id="7" name="box-t-206"/>
          <p:cNvSpPr txBox="1"/>
          <p:nvPr/>
        </p:nvSpPr>
        <p:spPr>
          <a:xfrm>
            <a:off x="2286000" y="777240"/>
            <a:ext cx="1600200" cy="868680"/>
          </a:xfrm>
          <a:prstGeom prst="rect">
            <a:avLst/>
          </a:prstGeom>
          <a:noFill/>
          <a:ln/>
        </p:spPr>
        <p:txBody>
          <a:bodyPr wrap="square" lIns="762" tIns="762" rIns="762" bIns="762" rtlCol="0" anchor="ctr"/>
          <a:lstStyle/>
          <a:p>
            <a:pPr marL="0" indent="0" algn="ctr">
              <a:buNone/>
            </a:pPr>
            <a:r>
              <a:rPr lang="en-US" sz="1200" b="1" dirty="0">
                <a:solidFill>
                  <a:srgbClr val="FFFFFF"/>
                </a:solidFill>
              </a:rPr>
              <a:t>pandas reads it</a:t>
            </a:r>
            <a:endParaRPr lang="en-US" sz="1200" dirty="0"/>
          </a:p>
          <a:p>
            <a:pPr marL="0" indent="0" algn="ctr">
              <a:buNone/>
            </a:pPr>
            <a:r>
              <a:rPr lang="en-US" sz="950" dirty="0">
                <a:solidFill>
                  <a:srgbClr val="E2E8F0"/>
                </a:solidFill>
              </a:rPr>
              <a:t>a table in Python</a:t>
            </a:r>
            <a:endParaRPr lang="en-US" sz="1200" dirty="0"/>
          </a:p>
        </p:txBody>
      </p:sp>
      <p:sp>
        <p:nvSpPr>
          <p:cNvPr id="8" name="arrow-207"/>
          <p:cNvSpPr txBox="1"/>
          <p:nvPr/>
        </p:nvSpPr>
        <p:spPr>
          <a:xfrm>
            <a:off x="3913632" y="1024128"/>
            <a:ext cx="365760" cy="365760"/>
          </a:xfrm>
          <a:prstGeom prst="rect">
            <a:avLst/>
          </a:prstGeom>
          <a:noFill/>
          <a:ln/>
        </p:spPr>
        <p:txBody>
          <a:bodyPr wrap="square" lIns="0" tIns="0" rIns="0" bIns="0" rtlCol="0" anchor="ctr"/>
          <a:lstStyle/>
          <a:p>
            <a:pPr marL="0" indent="0" algn="ctr">
              <a:buNone/>
            </a:pPr>
            <a:r>
              <a:rPr lang="en-US" sz="1800" dirty="0">
                <a:solidFill>
                  <a:srgbClr val="718096"/>
                </a:solidFill>
              </a:rPr>
              <a:t>→</a:t>
            </a:r>
            <a:endParaRPr lang="en-US" sz="1800" dirty="0"/>
          </a:p>
        </p:txBody>
      </p:sp>
      <p:sp>
        <p:nvSpPr>
          <p:cNvPr id="9" name="box-208"/>
          <p:cNvSpPr/>
          <p:nvPr/>
        </p:nvSpPr>
        <p:spPr>
          <a:xfrm>
            <a:off x="4297680" y="777240"/>
            <a:ext cx="1600200" cy="868680"/>
          </a:xfrm>
          <a:prstGeom prst="roundRect">
            <a:avLst>
              <a:gd name="adj" fmla="val 6316"/>
            </a:avLst>
          </a:prstGeom>
          <a:solidFill>
            <a:srgbClr val="2D3748"/>
          </a:solidFill>
          <a:ln w="12700">
            <a:solidFill>
              <a:srgbClr val="2D3748"/>
            </a:solidFill>
            <a:prstDash val="solid"/>
          </a:ln>
        </p:spPr>
        <p:txBody>
          <a:bodyPr/>
          <a:lstStyle/>
          <a:p>
            <a:endParaRPr lang="en-US"/>
          </a:p>
        </p:txBody>
      </p:sp>
      <p:sp>
        <p:nvSpPr>
          <p:cNvPr id="10" name="box-t-209"/>
          <p:cNvSpPr txBox="1"/>
          <p:nvPr/>
        </p:nvSpPr>
        <p:spPr>
          <a:xfrm>
            <a:off x="4297680" y="777240"/>
            <a:ext cx="1600200" cy="868680"/>
          </a:xfrm>
          <a:prstGeom prst="rect">
            <a:avLst/>
          </a:prstGeom>
          <a:noFill/>
          <a:ln/>
        </p:spPr>
        <p:txBody>
          <a:bodyPr wrap="square" lIns="762" tIns="762" rIns="762" bIns="762" rtlCol="0" anchor="ctr"/>
          <a:lstStyle/>
          <a:p>
            <a:pPr marL="0" indent="0" algn="ctr">
              <a:buNone/>
            </a:pPr>
            <a:r>
              <a:rPr lang="en-US" sz="1200" b="1" dirty="0">
                <a:solidFill>
                  <a:srgbClr val="FFFFFF"/>
                </a:solidFill>
              </a:rPr>
              <a:t>Reading(**row)</a:t>
            </a:r>
            <a:endParaRPr lang="en-US" sz="1200" dirty="0"/>
          </a:p>
          <a:p>
            <a:pPr marL="0" indent="0" algn="ctr">
              <a:buNone/>
            </a:pPr>
            <a:r>
              <a:rPr lang="en-US" sz="950" dirty="0">
                <a:solidFill>
                  <a:srgbClr val="E2E8F0"/>
                </a:solidFill>
              </a:rPr>
              <a:t>each line → one form</a:t>
            </a:r>
            <a:endParaRPr lang="en-US" sz="1200" dirty="0"/>
          </a:p>
        </p:txBody>
      </p:sp>
      <p:sp>
        <p:nvSpPr>
          <p:cNvPr id="11" name="arrow-210"/>
          <p:cNvSpPr txBox="1"/>
          <p:nvPr/>
        </p:nvSpPr>
        <p:spPr>
          <a:xfrm>
            <a:off x="5925312" y="1024128"/>
            <a:ext cx="365760" cy="365760"/>
          </a:xfrm>
          <a:prstGeom prst="rect">
            <a:avLst/>
          </a:prstGeom>
          <a:noFill/>
          <a:ln/>
        </p:spPr>
        <p:txBody>
          <a:bodyPr wrap="square" lIns="0" tIns="0" rIns="0" bIns="0" rtlCol="0" anchor="ctr"/>
          <a:lstStyle/>
          <a:p>
            <a:pPr marL="0" indent="0" algn="ctr">
              <a:buNone/>
            </a:pPr>
            <a:r>
              <a:rPr lang="en-US" sz="1800" dirty="0">
                <a:solidFill>
                  <a:srgbClr val="718096"/>
                </a:solidFill>
              </a:rPr>
              <a:t>→</a:t>
            </a:r>
            <a:endParaRPr lang="en-US" sz="1800" dirty="0"/>
          </a:p>
        </p:txBody>
      </p:sp>
      <p:sp>
        <p:nvSpPr>
          <p:cNvPr id="12" name="box-211"/>
          <p:cNvSpPr/>
          <p:nvPr/>
        </p:nvSpPr>
        <p:spPr>
          <a:xfrm>
            <a:off x="6309360" y="777240"/>
            <a:ext cx="1280160" cy="868680"/>
          </a:xfrm>
          <a:prstGeom prst="roundRect">
            <a:avLst>
              <a:gd name="adj" fmla="val 6316"/>
            </a:avLst>
          </a:prstGeom>
          <a:solidFill>
            <a:srgbClr val="F59E0B"/>
          </a:solidFill>
          <a:ln w="12700">
            <a:solidFill>
              <a:srgbClr val="F59E0B"/>
            </a:solidFill>
            <a:prstDash val="solid"/>
          </a:ln>
        </p:spPr>
        <p:txBody>
          <a:bodyPr/>
          <a:lstStyle/>
          <a:p>
            <a:endParaRPr lang="en-US"/>
          </a:p>
        </p:txBody>
      </p:sp>
      <p:sp>
        <p:nvSpPr>
          <p:cNvPr id="13" name="box-t-212"/>
          <p:cNvSpPr txBox="1"/>
          <p:nvPr/>
        </p:nvSpPr>
        <p:spPr>
          <a:xfrm>
            <a:off x="6309360" y="777240"/>
            <a:ext cx="1280160" cy="868680"/>
          </a:xfrm>
          <a:prstGeom prst="rect">
            <a:avLst/>
          </a:prstGeom>
          <a:noFill/>
          <a:ln/>
        </p:spPr>
        <p:txBody>
          <a:bodyPr wrap="square" lIns="762" tIns="762" rIns="762" bIns="762" rtlCol="0" anchor="ctr"/>
          <a:lstStyle/>
          <a:p>
            <a:pPr marL="0" indent="0" algn="ctr">
              <a:buNone/>
            </a:pPr>
            <a:r>
              <a:rPr lang="en-US" sz="1200" b="1" dirty="0">
                <a:solidFill>
                  <a:srgbClr val="1A2535"/>
                </a:solidFill>
              </a:rPr>
              <a:t>commit()</a:t>
            </a:r>
            <a:endParaRPr lang="en-US" sz="1200" dirty="0"/>
          </a:p>
          <a:p>
            <a:pPr marL="0" indent="0" algn="ctr">
              <a:buNone/>
            </a:pPr>
            <a:r>
              <a:rPr lang="en-US" sz="950" dirty="0">
                <a:solidFill>
                  <a:srgbClr val="1A2535"/>
                </a:solidFill>
              </a:rPr>
              <a:t>all 5,664 saved together</a:t>
            </a:r>
            <a:endParaRPr lang="en-US" sz="1200" dirty="0"/>
          </a:p>
        </p:txBody>
      </p:sp>
      <p:sp>
        <p:nvSpPr>
          <p:cNvPr id="14" name="arrow-213"/>
          <p:cNvSpPr txBox="1"/>
          <p:nvPr/>
        </p:nvSpPr>
        <p:spPr>
          <a:xfrm>
            <a:off x="7589520" y="1024128"/>
            <a:ext cx="365760" cy="365760"/>
          </a:xfrm>
          <a:prstGeom prst="rect">
            <a:avLst/>
          </a:prstGeom>
          <a:noFill/>
          <a:ln/>
        </p:spPr>
        <p:txBody>
          <a:bodyPr wrap="square" lIns="0" tIns="0" rIns="0" bIns="0" rtlCol="0" anchor="ctr"/>
          <a:lstStyle/>
          <a:p>
            <a:pPr marL="0" indent="0" algn="ctr">
              <a:buNone/>
            </a:pPr>
            <a:r>
              <a:rPr lang="en-US" sz="1800" dirty="0">
                <a:solidFill>
                  <a:srgbClr val="718096"/>
                </a:solidFill>
              </a:rPr>
              <a:t>→</a:t>
            </a:r>
            <a:endParaRPr lang="en-US" sz="1800" dirty="0"/>
          </a:p>
        </p:txBody>
      </p:sp>
      <p:sp>
        <p:nvSpPr>
          <p:cNvPr id="15" name="box-214"/>
          <p:cNvSpPr/>
          <p:nvPr/>
        </p:nvSpPr>
        <p:spPr>
          <a:xfrm>
            <a:off x="7955280" y="777240"/>
            <a:ext cx="914400" cy="868680"/>
          </a:xfrm>
          <a:prstGeom prst="roundRect">
            <a:avLst>
              <a:gd name="adj" fmla="val 6316"/>
            </a:avLst>
          </a:prstGeom>
          <a:solidFill>
            <a:srgbClr val="0F6E56"/>
          </a:solidFill>
          <a:ln w="12700">
            <a:solidFill>
              <a:srgbClr val="0F6E56"/>
            </a:solidFill>
            <a:prstDash val="solid"/>
          </a:ln>
        </p:spPr>
        <p:txBody>
          <a:bodyPr/>
          <a:lstStyle/>
          <a:p>
            <a:endParaRPr lang="en-US"/>
          </a:p>
        </p:txBody>
      </p:sp>
      <p:sp>
        <p:nvSpPr>
          <p:cNvPr id="16" name="box-t-215"/>
          <p:cNvSpPr txBox="1"/>
          <p:nvPr/>
        </p:nvSpPr>
        <p:spPr>
          <a:xfrm>
            <a:off x="7955280" y="777240"/>
            <a:ext cx="914400" cy="868680"/>
          </a:xfrm>
          <a:prstGeom prst="rect">
            <a:avLst/>
          </a:prstGeom>
          <a:noFill/>
          <a:ln/>
        </p:spPr>
        <p:txBody>
          <a:bodyPr wrap="square" lIns="762" tIns="762" rIns="762" bIns="762" rtlCol="0" anchor="ctr"/>
          <a:lstStyle/>
          <a:p>
            <a:pPr marL="0" indent="0" algn="ctr">
              <a:buNone/>
            </a:pPr>
            <a:r>
              <a:rPr lang="en-US" sz="1200" b="1" dirty="0">
                <a:solidFill>
                  <a:srgbClr val="FFFFFF"/>
                </a:solidFill>
              </a:rPr>
              <a:t>energy.db</a:t>
            </a:r>
            <a:endParaRPr lang="en-US" sz="1200" dirty="0"/>
          </a:p>
          <a:p>
            <a:pPr marL="0" indent="0" algn="ctr">
              <a:buNone/>
            </a:pPr>
            <a:r>
              <a:rPr lang="en-US" sz="950" dirty="0">
                <a:solidFill>
                  <a:srgbClr val="E2E8F0"/>
                </a:solidFill>
              </a:rPr>
              <a:t>on disk</a:t>
            </a:r>
            <a:endParaRPr lang="en-US" sz="1200" dirty="0"/>
          </a:p>
        </p:txBody>
      </p:sp>
      <p:sp>
        <p:nvSpPr>
          <p:cNvPr id="17" name="code-bg-216"/>
          <p:cNvSpPr/>
          <p:nvPr/>
        </p:nvSpPr>
        <p:spPr>
          <a:xfrm>
            <a:off x="274320" y="1874520"/>
            <a:ext cx="5394960" cy="1600200"/>
          </a:xfrm>
          <a:prstGeom prst="roundRect">
            <a:avLst>
              <a:gd name="adj" fmla="val 3429"/>
            </a:avLst>
          </a:prstGeom>
          <a:solidFill>
            <a:srgbClr val="1A2535"/>
          </a:solidFill>
          <a:ln w="12700">
            <a:solidFill>
              <a:srgbClr val="1A2535"/>
            </a:solidFill>
            <a:prstDash val="solid"/>
          </a:ln>
        </p:spPr>
        <p:txBody>
          <a:bodyPr/>
          <a:lstStyle/>
          <a:p>
            <a:endParaRPr lang="en-US"/>
          </a:p>
        </p:txBody>
      </p:sp>
      <p:sp>
        <p:nvSpPr>
          <p:cNvPr id="18" name="code-title-217"/>
          <p:cNvSpPr txBox="1"/>
          <p:nvPr/>
        </p:nvSpPr>
        <p:spPr>
          <a:xfrm>
            <a:off x="411480" y="1947672"/>
            <a:ext cx="5120640" cy="219456"/>
          </a:xfrm>
          <a:prstGeom prst="rect">
            <a:avLst/>
          </a:prstGeom>
          <a:noFill/>
          <a:ln/>
        </p:spPr>
        <p:txBody>
          <a:bodyPr wrap="square" lIns="0" tIns="0" rIns="0" bIns="0" rtlCol="0" anchor="ctr"/>
          <a:lstStyle/>
          <a:p>
            <a:pPr marL="0" indent="0">
              <a:buNone/>
            </a:pPr>
            <a:r>
              <a:rPr lang="en-US" sz="950" b="1" dirty="0">
                <a:solidFill>
                  <a:srgbClr val="F59E0B"/>
                </a:solidFill>
              </a:rPr>
              <a:t>▶ Real output</a:t>
            </a:r>
            <a:endParaRPr lang="en-US" sz="950" dirty="0"/>
          </a:p>
        </p:txBody>
      </p:sp>
      <p:sp>
        <p:nvSpPr>
          <p:cNvPr id="19" name="code-218"/>
          <p:cNvSpPr txBox="1"/>
          <p:nvPr/>
        </p:nvSpPr>
        <p:spPr>
          <a:xfrm>
            <a:off x="411480" y="2203704"/>
            <a:ext cx="5120640" cy="1197864"/>
          </a:xfrm>
          <a:prstGeom prst="rect">
            <a:avLst/>
          </a:prstGeom>
          <a:noFill/>
          <a:ln/>
        </p:spPr>
        <p:txBody>
          <a:bodyPr wrap="square" lIns="0" tIns="0" rIns="0" bIns="0" rtlCol="0" anchor="t"/>
          <a:lstStyle/>
          <a:p>
            <a:pPr marL="0" indent="0">
              <a:lnSpc>
                <a:spcPct val="105000"/>
              </a:lnSpc>
              <a:buNone/>
            </a:pPr>
            <a:r>
              <a:rPr lang="en-US" sz="950" dirty="0">
                <a:solidFill>
                  <a:srgbClr val="E2E8F0"/>
                </a:solidFill>
                <a:latin typeface="Consolas" pitchFamily="34" charset="0"/>
                <a:ea typeface="Consolas" pitchFamily="34" charset="-122"/>
                <a:cs typeface="Consolas" pitchFamily="34" charset="-120"/>
              </a:rPr>
              <a:t>Loaded 5,664 readings, 01 Feb 2026 00:00 → 31 Mar 2026 23:45</a:t>
            </a:r>
            <a:endParaRPr lang="en-US" sz="950" dirty="0"/>
          </a:p>
          <a:p>
            <a:pPr marL="0" indent="0">
              <a:lnSpc>
                <a:spcPct val="105000"/>
              </a:lnSpc>
              <a:buNone/>
            </a:pPr>
            <a:r>
              <a:rPr lang="en-US" sz="950" dirty="0">
                <a:solidFill>
                  <a:srgbClr val="E2E8F0"/>
                </a:solidFill>
                <a:latin typeface="Consolas" pitchFamily="34" charset="0"/>
                <a:ea typeface="Consolas" pitchFamily="34" charset="-122"/>
                <a:cs typeface="Consolas" pitchFamily="34" charset="-120"/>
              </a:rPr>
              <a:t> </a:t>
            </a:r>
            <a:endParaRPr lang="en-US" sz="950" dirty="0"/>
          </a:p>
          <a:p>
            <a:pPr marL="0" indent="0">
              <a:lnSpc>
                <a:spcPct val="105000"/>
              </a:lnSpc>
              <a:buNone/>
            </a:pPr>
            <a:r>
              <a:rPr lang="en-US" sz="950" dirty="0">
                <a:solidFill>
                  <a:srgbClr val="E2E8F0"/>
                </a:solidFill>
                <a:latin typeface="Consolas" pitchFamily="34" charset="0"/>
                <a:ea typeface="Consolas" pitchFamily="34" charset="-122"/>
                <a:cs typeface="Consolas" pitchFamily="34" charset="-120"/>
              </a:rPr>
              <a:t>The first three rows:</a:t>
            </a:r>
            <a:endParaRPr lang="en-US" sz="950" dirty="0"/>
          </a:p>
          <a:p>
            <a:pPr marL="0" indent="0">
              <a:lnSpc>
                <a:spcPct val="105000"/>
              </a:lnSpc>
              <a:buNone/>
            </a:pPr>
            <a:r>
              <a:rPr lang="en-US" sz="950" dirty="0">
                <a:solidFill>
                  <a:srgbClr val="E2E8F0"/>
                </a:solidFill>
                <a:latin typeface="Consolas" pitchFamily="34" charset="0"/>
                <a:ea typeface="Consolas" pitchFamily="34" charset="-122"/>
                <a:cs typeface="Consolas" pitchFamily="34" charset="-120"/>
              </a:rPr>
              <a:t>   01 Feb 00:00  load 185.8 kW  solar 0.0 kW  air 14.4 °C</a:t>
            </a:r>
            <a:endParaRPr lang="en-US" sz="950" dirty="0"/>
          </a:p>
          <a:p>
            <a:pPr marL="0" indent="0">
              <a:lnSpc>
                <a:spcPct val="105000"/>
              </a:lnSpc>
              <a:buNone/>
            </a:pPr>
            <a:r>
              <a:rPr lang="en-US" sz="950" dirty="0">
                <a:solidFill>
                  <a:srgbClr val="E2E8F0"/>
                </a:solidFill>
                <a:latin typeface="Consolas" pitchFamily="34" charset="0"/>
                <a:ea typeface="Consolas" pitchFamily="34" charset="-122"/>
                <a:cs typeface="Consolas" pitchFamily="34" charset="-120"/>
              </a:rPr>
              <a:t>   01 Feb 00:15  load 183.2 kW  solar 0.0 kW  air 14.1 °C</a:t>
            </a:r>
            <a:endParaRPr lang="en-US" sz="950" dirty="0"/>
          </a:p>
        </p:txBody>
      </p:sp>
      <p:sp>
        <p:nvSpPr>
          <p:cNvPr id="20" name="label-219"/>
          <p:cNvSpPr txBox="1"/>
          <p:nvPr/>
        </p:nvSpPr>
        <p:spPr>
          <a:xfrm>
            <a:off x="5897880" y="1874520"/>
            <a:ext cx="2971800" cy="219456"/>
          </a:xfrm>
          <a:prstGeom prst="rect">
            <a:avLst/>
          </a:prstGeom>
          <a:noFill/>
          <a:ln/>
        </p:spPr>
        <p:txBody>
          <a:bodyPr wrap="square" lIns="0" tIns="0" rIns="0" bIns="0" rtlCol="0" anchor="ctr"/>
          <a:lstStyle/>
          <a:p>
            <a:pPr marL="0" indent="0">
              <a:buNone/>
            </a:pPr>
            <a:r>
              <a:rPr lang="en-US" sz="900" b="1" kern="0" spc="150" dirty="0">
                <a:solidFill>
                  <a:srgbClr val="718096"/>
                </a:solidFill>
              </a:rPr>
              <a:t>THREE THINGS TO NOTICE</a:t>
            </a:r>
            <a:endParaRPr lang="en-US" sz="900" dirty="0"/>
          </a:p>
        </p:txBody>
      </p:sp>
      <p:sp>
        <p:nvSpPr>
          <p:cNvPr id="21" name="dot-220"/>
          <p:cNvSpPr/>
          <p:nvPr/>
        </p:nvSpPr>
        <p:spPr>
          <a:xfrm>
            <a:off x="5897880" y="2176272"/>
            <a:ext cx="82296" cy="82296"/>
          </a:xfrm>
          <a:prstGeom prst="rect">
            <a:avLst/>
          </a:prstGeom>
          <a:solidFill>
            <a:srgbClr val="F59E0B"/>
          </a:solidFill>
          <a:ln w="12700">
            <a:solidFill>
              <a:srgbClr val="F59E0B"/>
            </a:solidFill>
            <a:prstDash val="solid"/>
          </a:ln>
        </p:spPr>
        <p:txBody>
          <a:bodyPr/>
          <a:lstStyle/>
          <a:p>
            <a:endParaRPr lang="en-US"/>
          </a:p>
        </p:txBody>
      </p:sp>
      <p:sp>
        <p:nvSpPr>
          <p:cNvPr id="22" name="item-221"/>
          <p:cNvSpPr txBox="1"/>
          <p:nvPr/>
        </p:nvSpPr>
        <p:spPr>
          <a:xfrm>
            <a:off x="6062472" y="2103120"/>
            <a:ext cx="2807208" cy="457200"/>
          </a:xfrm>
          <a:prstGeom prst="rect">
            <a:avLst/>
          </a:prstGeom>
          <a:noFill/>
          <a:ln/>
        </p:spPr>
        <p:txBody>
          <a:bodyPr wrap="square" lIns="0" tIns="0" rIns="0" bIns="0" rtlCol="0" anchor="t"/>
          <a:lstStyle/>
          <a:p>
            <a:pPr marL="0" indent="0">
              <a:spcAft>
                <a:spcPts val="100"/>
              </a:spcAft>
              <a:buNone/>
            </a:pPr>
            <a:r>
              <a:rPr lang="en-US" sz="1200" b="1" dirty="0">
                <a:solidFill>
                  <a:srgbClr val="2D3748"/>
                </a:solidFill>
              </a:rPr>
              <a:t>Names match</a:t>
            </a:r>
            <a:endParaRPr lang="en-US" sz="1200" dirty="0"/>
          </a:p>
          <a:p>
            <a:pPr marL="0" indent="0">
              <a:spcAft>
                <a:spcPts val="100"/>
              </a:spcAft>
              <a:buNone/>
            </a:pPr>
            <a:r>
              <a:rPr lang="en-US" sz="1000" dirty="0">
                <a:solidFill>
                  <a:srgbClr val="718096"/>
                </a:solidFill>
              </a:rPr>
              <a:t>CSV headers = class columns, so Reading(**row) works</a:t>
            </a:r>
            <a:endParaRPr lang="en-US" sz="1200" dirty="0"/>
          </a:p>
        </p:txBody>
      </p:sp>
      <p:sp>
        <p:nvSpPr>
          <p:cNvPr id="23" name="dot-222"/>
          <p:cNvSpPr/>
          <p:nvPr/>
        </p:nvSpPr>
        <p:spPr>
          <a:xfrm>
            <a:off x="5897880" y="2651760"/>
            <a:ext cx="82296" cy="82296"/>
          </a:xfrm>
          <a:prstGeom prst="rect">
            <a:avLst/>
          </a:prstGeom>
          <a:solidFill>
            <a:srgbClr val="F59E0B"/>
          </a:solidFill>
          <a:ln w="12700">
            <a:solidFill>
              <a:srgbClr val="F59E0B"/>
            </a:solidFill>
            <a:prstDash val="solid"/>
          </a:ln>
        </p:spPr>
        <p:txBody>
          <a:bodyPr/>
          <a:lstStyle/>
          <a:p>
            <a:endParaRPr lang="en-US"/>
          </a:p>
        </p:txBody>
      </p:sp>
      <p:sp>
        <p:nvSpPr>
          <p:cNvPr id="24" name="item-223"/>
          <p:cNvSpPr txBox="1"/>
          <p:nvPr/>
        </p:nvSpPr>
        <p:spPr>
          <a:xfrm>
            <a:off x="6062472" y="2578608"/>
            <a:ext cx="2807208" cy="457200"/>
          </a:xfrm>
          <a:prstGeom prst="rect">
            <a:avLst/>
          </a:prstGeom>
          <a:noFill/>
          <a:ln/>
        </p:spPr>
        <p:txBody>
          <a:bodyPr wrap="square" lIns="0" tIns="0" rIns="0" bIns="0" rtlCol="0" anchor="t"/>
          <a:lstStyle/>
          <a:p>
            <a:pPr marL="0" indent="0">
              <a:spcAft>
                <a:spcPts val="100"/>
              </a:spcAft>
              <a:buNone/>
            </a:pPr>
            <a:r>
              <a:rPr lang="en-US" sz="1200" b="1" dirty="0">
                <a:solidFill>
                  <a:srgbClr val="2D3748"/>
                </a:solidFill>
              </a:rPr>
              <a:t>Full refresh</a:t>
            </a:r>
            <a:endParaRPr lang="en-US" sz="1200" dirty="0"/>
          </a:p>
          <a:p>
            <a:pPr marL="0" indent="0">
              <a:spcAft>
                <a:spcPts val="100"/>
              </a:spcAft>
              <a:buNone/>
            </a:pPr>
            <a:r>
              <a:rPr lang="en-US" sz="1000" dirty="0">
                <a:solidFill>
                  <a:srgbClr val="718096"/>
                </a:solidFill>
              </a:rPr>
              <a:t>replaces every reading — run it twice: still 5,664</a:t>
            </a:r>
            <a:endParaRPr lang="en-US" sz="1200" dirty="0"/>
          </a:p>
        </p:txBody>
      </p:sp>
      <p:sp>
        <p:nvSpPr>
          <p:cNvPr id="25" name="dot-224"/>
          <p:cNvSpPr/>
          <p:nvPr/>
        </p:nvSpPr>
        <p:spPr>
          <a:xfrm>
            <a:off x="5897880" y="3127248"/>
            <a:ext cx="82296" cy="82296"/>
          </a:xfrm>
          <a:prstGeom prst="rect">
            <a:avLst/>
          </a:prstGeom>
          <a:solidFill>
            <a:srgbClr val="F59E0B"/>
          </a:solidFill>
          <a:ln w="12700">
            <a:solidFill>
              <a:srgbClr val="F59E0B"/>
            </a:solidFill>
            <a:prstDash val="solid"/>
          </a:ln>
        </p:spPr>
        <p:txBody>
          <a:bodyPr/>
          <a:lstStyle/>
          <a:p>
            <a:endParaRPr lang="en-US"/>
          </a:p>
        </p:txBody>
      </p:sp>
      <p:sp>
        <p:nvSpPr>
          <p:cNvPr id="26" name="item-225"/>
          <p:cNvSpPr txBox="1"/>
          <p:nvPr/>
        </p:nvSpPr>
        <p:spPr>
          <a:xfrm>
            <a:off x="6062472" y="3054096"/>
            <a:ext cx="2807208" cy="457200"/>
          </a:xfrm>
          <a:prstGeom prst="rect">
            <a:avLst/>
          </a:prstGeom>
          <a:noFill/>
          <a:ln/>
        </p:spPr>
        <p:txBody>
          <a:bodyPr wrap="square" lIns="0" tIns="0" rIns="0" bIns="0" rtlCol="0" anchor="t"/>
          <a:lstStyle/>
          <a:p>
            <a:pPr marL="0" indent="0">
              <a:spcAft>
                <a:spcPts val="100"/>
              </a:spcAft>
              <a:buNone/>
            </a:pPr>
            <a:r>
              <a:rPr lang="en-US" sz="1200" b="1" dirty="0">
                <a:solidFill>
                  <a:srgbClr val="2D3748"/>
                </a:solidFill>
              </a:rPr>
              <a:t>One transaction</a:t>
            </a:r>
            <a:endParaRPr lang="en-US" sz="1200" dirty="0"/>
          </a:p>
          <a:p>
            <a:pPr marL="0" indent="0">
              <a:spcAft>
                <a:spcPts val="100"/>
              </a:spcAft>
              <a:buNone/>
            </a:pPr>
            <a:r>
              <a:rPr lang="en-US" sz="1000" dirty="0">
                <a:solidFill>
                  <a:srgbClr val="718096"/>
                </a:solidFill>
              </a:rPr>
              <a:t>if it fails before commit(), the old readings stay</a:t>
            </a:r>
            <a:endParaRPr lang="en-US" sz="1200" dirty="0"/>
          </a:p>
        </p:txBody>
      </p:sp>
      <p:sp>
        <p:nvSpPr>
          <p:cNvPr id="27" name="lab-226"/>
          <p:cNvSpPr/>
          <p:nvPr/>
        </p:nvSpPr>
        <p:spPr>
          <a:xfrm>
            <a:off x="274320" y="4498848"/>
            <a:ext cx="8595360" cy="384048"/>
          </a:xfrm>
          <a:prstGeom prst="roundRect">
            <a:avLst>
              <a:gd name="adj" fmla="val 11905"/>
            </a:avLst>
          </a:prstGeom>
          <a:solidFill>
            <a:srgbClr val="FFF8E7"/>
          </a:solidFill>
          <a:ln w="12700">
            <a:solidFill>
              <a:srgbClr val="F6D9A8"/>
            </a:solidFill>
            <a:prstDash val="solid"/>
          </a:ln>
        </p:spPr>
        <p:txBody>
          <a:bodyPr/>
          <a:lstStyle/>
          <a:p>
            <a:endParaRPr lang="en-US"/>
          </a:p>
        </p:txBody>
      </p:sp>
      <p:sp>
        <p:nvSpPr>
          <p:cNvPr id="28" name="lab-t-227"/>
          <p:cNvSpPr txBox="1"/>
          <p:nvPr/>
        </p:nvSpPr>
        <p:spPr>
          <a:xfrm>
            <a:off x="411480" y="4507992"/>
            <a:ext cx="8321040" cy="365760"/>
          </a:xfrm>
          <a:prstGeom prst="rect">
            <a:avLst/>
          </a:prstGeom>
          <a:noFill/>
          <a:ln/>
        </p:spPr>
        <p:txBody>
          <a:bodyPr wrap="square" lIns="0" tIns="0" rIns="0" bIns="0" rtlCol="0" anchor="ctr"/>
          <a:lstStyle/>
          <a:p>
            <a:pPr marL="0" indent="0">
              <a:buNone/>
            </a:pPr>
            <a:r>
              <a:rPr lang="en-US" sz="1050" b="1" dirty="0">
                <a:solidFill>
                  <a:srgbClr val="2D3748"/>
                </a:solidFill>
              </a:rPr>
              <a:t>Other strategies:  </a:t>
            </a:r>
            <a:r>
              <a:rPr lang="en-US" sz="1050" dirty="0">
                <a:solidFill>
                  <a:srgbClr val="2D3748"/>
                </a:solidFill>
              </a:rPr>
              <a:t>incremental — add only new readings  ·  upsert — add new ones and update existing ones (real plants use these)</a:t>
            </a:r>
            <a:endParaRPr lang="en-US" sz="1050" dirty="0"/>
          </a:p>
        </p:txBody>
      </p:sp>
      <p:sp>
        <p:nvSpPr>
          <p:cNvPr id="29" name="Slide Number Placeholder 0"/>
          <p:cNvSpPr>
            <a:spLocks noGrp="1"/>
          </p:cNvSpPr>
          <p:nvPr>
            <p:ph type="sldNum" sz="quarter" idx="4294967295"/>
          </p:nvPr>
        </p:nvSpPr>
        <p:spPr>
          <a:xfrm>
            <a:off x="8549640" y="4919472"/>
            <a:ext cx="36576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718096"/>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1097280" y="91440"/>
            <a:ext cx="7772400" cy="347472"/>
          </a:xfrm>
          <a:prstGeom prst="rect">
            <a:avLst/>
          </a:prstGeom>
          <a:noFill/>
          <a:ln/>
        </p:spPr>
        <p:txBody>
          <a:bodyPr wrap="square" lIns="0" tIns="0" rIns="0" bIns="0" rtlCol="0" anchor="ctr"/>
          <a:lstStyle/>
          <a:p>
            <a:pPr marL="0" indent="0" algn="l">
              <a:buNone/>
            </a:pPr>
            <a:r>
              <a:rPr lang="en-US" sz="1300" b="1" dirty="0">
                <a:solidFill>
                  <a:srgbClr val="F59E0B"/>
                </a:solidFill>
              </a:rPr>
              <a:t>QUESTIONS AS FUNCTIONS  ·  queries.py is the help desk</a:t>
            </a:r>
            <a:endParaRPr lang="en-US" sz="1300" dirty="0"/>
          </a:p>
        </p:txBody>
      </p:sp>
      <p:sp>
        <p:nvSpPr>
          <p:cNvPr id="3" name="label-228"/>
          <p:cNvSpPr txBox="1"/>
          <p:nvPr/>
        </p:nvSpPr>
        <p:spPr>
          <a:xfrm>
            <a:off x="274320" y="685800"/>
            <a:ext cx="4206240" cy="219456"/>
          </a:xfrm>
          <a:prstGeom prst="rect">
            <a:avLst/>
          </a:prstGeom>
          <a:noFill/>
          <a:ln/>
        </p:spPr>
        <p:txBody>
          <a:bodyPr wrap="square" lIns="0" tIns="0" rIns="0" bIns="0" rtlCol="0" anchor="ctr"/>
          <a:lstStyle/>
          <a:p>
            <a:pPr marL="0" indent="0">
              <a:buNone/>
            </a:pPr>
            <a:r>
              <a:rPr lang="en-US" sz="900" b="1" kern="0" spc="150" dirty="0">
                <a:solidFill>
                  <a:srgbClr val="718096"/>
                </a:solidFill>
              </a:rPr>
              <a:t>EVERY QUESTION IS WRITTEN ONCE, HERE</a:t>
            </a:r>
            <a:endParaRPr lang="en-US" sz="900" dirty="0"/>
          </a:p>
        </p:txBody>
      </p:sp>
      <p:sp>
        <p:nvSpPr>
          <p:cNvPr id="4" name="dot-229"/>
          <p:cNvSpPr/>
          <p:nvPr/>
        </p:nvSpPr>
        <p:spPr>
          <a:xfrm>
            <a:off x="274320" y="1014984"/>
            <a:ext cx="82296" cy="82296"/>
          </a:xfrm>
          <a:prstGeom prst="rect">
            <a:avLst/>
          </a:prstGeom>
          <a:solidFill>
            <a:srgbClr val="F59E0B"/>
          </a:solidFill>
          <a:ln w="12700">
            <a:solidFill>
              <a:srgbClr val="F59E0B"/>
            </a:solidFill>
            <a:prstDash val="solid"/>
          </a:ln>
        </p:spPr>
        <p:txBody>
          <a:bodyPr/>
          <a:lstStyle/>
          <a:p>
            <a:endParaRPr lang="en-US"/>
          </a:p>
        </p:txBody>
      </p:sp>
      <p:sp>
        <p:nvSpPr>
          <p:cNvPr id="5" name="item-230"/>
          <p:cNvSpPr txBox="1"/>
          <p:nvPr/>
        </p:nvSpPr>
        <p:spPr>
          <a:xfrm>
            <a:off x="438912" y="941832"/>
            <a:ext cx="4041648" cy="457200"/>
          </a:xfrm>
          <a:prstGeom prst="rect">
            <a:avLst/>
          </a:prstGeom>
          <a:noFill/>
          <a:ln/>
        </p:spPr>
        <p:txBody>
          <a:bodyPr wrap="square" lIns="0" tIns="0" rIns="0" bIns="0" rtlCol="0" anchor="t"/>
          <a:lstStyle/>
          <a:p>
            <a:pPr marL="0" indent="0">
              <a:spcAft>
                <a:spcPts val="100"/>
              </a:spcAft>
              <a:buNone/>
            </a:pPr>
            <a:r>
              <a:rPr lang="en-US" sz="1200" b="1" dirty="0">
                <a:solidFill>
                  <a:srgbClr val="2D3748"/>
                </a:solidFill>
              </a:rPr>
              <a:t>readings(start, end)</a:t>
            </a:r>
            <a:endParaRPr lang="en-US" sz="1200" dirty="0"/>
          </a:p>
          <a:p>
            <a:pPr marL="0" indent="0">
              <a:spcAft>
                <a:spcPts val="100"/>
              </a:spcAft>
              <a:buNone/>
            </a:pPr>
            <a:r>
              <a:rPr lang="en-US" sz="1000" dirty="0">
                <a:solidFill>
                  <a:srgbClr val="718096"/>
                </a:solidFill>
              </a:rPr>
              <a:t>give me the rows between two times</a:t>
            </a:r>
            <a:endParaRPr lang="en-US" sz="1200" dirty="0"/>
          </a:p>
        </p:txBody>
      </p:sp>
      <p:sp>
        <p:nvSpPr>
          <p:cNvPr id="6" name="dot-231"/>
          <p:cNvSpPr/>
          <p:nvPr/>
        </p:nvSpPr>
        <p:spPr>
          <a:xfrm>
            <a:off x="274320" y="1536192"/>
            <a:ext cx="82296" cy="82296"/>
          </a:xfrm>
          <a:prstGeom prst="rect">
            <a:avLst/>
          </a:prstGeom>
          <a:solidFill>
            <a:srgbClr val="F59E0B"/>
          </a:solidFill>
          <a:ln w="12700">
            <a:solidFill>
              <a:srgbClr val="F59E0B"/>
            </a:solidFill>
            <a:prstDash val="solid"/>
          </a:ln>
        </p:spPr>
        <p:txBody>
          <a:bodyPr/>
          <a:lstStyle/>
          <a:p>
            <a:endParaRPr lang="en-US"/>
          </a:p>
        </p:txBody>
      </p:sp>
      <p:sp>
        <p:nvSpPr>
          <p:cNvPr id="7" name="item-232"/>
          <p:cNvSpPr txBox="1"/>
          <p:nvPr/>
        </p:nvSpPr>
        <p:spPr>
          <a:xfrm>
            <a:off x="438912" y="1463040"/>
            <a:ext cx="4041648" cy="457200"/>
          </a:xfrm>
          <a:prstGeom prst="rect">
            <a:avLst/>
          </a:prstGeom>
          <a:noFill/>
          <a:ln/>
        </p:spPr>
        <p:txBody>
          <a:bodyPr wrap="square" lIns="0" tIns="0" rIns="0" bIns="0" rtlCol="0" anchor="t"/>
          <a:lstStyle/>
          <a:p>
            <a:pPr marL="0" indent="0">
              <a:spcAft>
                <a:spcPts val="100"/>
              </a:spcAft>
              <a:buNone/>
            </a:pPr>
            <a:r>
              <a:rPr lang="en-US" sz="1200" b="1" dirty="0">
                <a:solidFill>
                  <a:srgbClr val="2D3748"/>
                </a:solidFill>
              </a:rPr>
              <a:t>summary(day)</a:t>
            </a:r>
            <a:endParaRPr lang="en-US" sz="1200" dirty="0"/>
          </a:p>
          <a:p>
            <a:pPr marL="0" indent="0">
              <a:spcAft>
                <a:spcPts val="100"/>
              </a:spcAft>
              <a:buNone/>
            </a:pPr>
            <a:r>
              <a:rPr lang="en-US" sz="1000" dirty="0">
                <a:solidFill>
                  <a:srgbClr val="718096"/>
                </a:solidFill>
              </a:rPr>
              <a:t>the day's report card — peak, energy, solar, transformer</a:t>
            </a:r>
            <a:endParaRPr lang="en-US" sz="1200" dirty="0"/>
          </a:p>
        </p:txBody>
      </p:sp>
      <p:sp>
        <p:nvSpPr>
          <p:cNvPr id="8" name="dot-233"/>
          <p:cNvSpPr/>
          <p:nvPr/>
        </p:nvSpPr>
        <p:spPr>
          <a:xfrm>
            <a:off x="274320" y="2057400"/>
            <a:ext cx="82296" cy="82296"/>
          </a:xfrm>
          <a:prstGeom prst="rect">
            <a:avLst/>
          </a:prstGeom>
          <a:solidFill>
            <a:srgbClr val="F59E0B"/>
          </a:solidFill>
          <a:ln w="12700">
            <a:solidFill>
              <a:srgbClr val="F59E0B"/>
            </a:solidFill>
            <a:prstDash val="solid"/>
          </a:ln>
        </p:spPr>
        <p:txBody>
          <a:bodyPr/>
          <a:lstStyle/>
          <a:p>
            <a:endParaRPr lang="en-US"/>
          </a:p>
        </p:txBody>
      </p:sp>
      <p:sp>
        <p:nvSpPr>
          <p:cNvPr id="9" name="item-234"/>
          <p:cNvSpPr txBox="1"/>
          <p:nvPr/>
        </p:nvSpPr>
        <p:spPr>
          <a:xfrm>
            <a:off x="438912" y="1984248"/>
            <a:ext cx="4041648" cy="457200"/>
          </a:xfrm>
          <a:prstGeom prst="rect">
            <a:avLst/>
          </a:prstGeom>
          <a:noFill/>
          <a:ln/>
        </p:spPr>
        <p:txBody>
          <a:bodyPr wrap="square" lIns="0" tIns="0" rIns="0" bIns="0" rtlCol="0" anchor="t"/>
          <a:lstStyle/>
          <a:p>
            <a:pPr marL="0" indent="0">
              <a:spcAft>
                <a:spcPts val="100"/>
              </a:spcAft>
              <a:buNone/>
            </a:pPr>
            <a:r>
              <a:rPr lang="en-US" sz="1200" b="1" dirty="0">
                <a:solidFill>
                  <a:srgbClr val="2D3748"/>
                </a:solidFill>
              </a:rPr>
              <a:t>save_calculation(…)  ·  history(limit)</a:t>
            </a:r>
            <a:endParaRPr lang="en-US" sz="1200" dirty="0"/>
          </a:p>
          <a:p>
            <a:pPr marL="0" indent="0">
              <a:spcAft>
                <a:spcPts val="100"/>
              </a:spcAft>
              <a:buNone/>
            </a:pPr>
            <a:r>
              <a:rPr lang="en-US" sz="1000" dirty="0">
                <a:solidFill>
                  <a:srgbClr val="718096"/>
                </a:solidFill>
              </a:rPr>
              <a:t>write one line in the logbook · read the latest lines</a:t>
            </a:r>
            <a:endParaRPr lang="en-US" sz="1200" dirty="0"/>
          </a:p>
        </p:txBody>
      </p:sp>
      <p:sp>
        <p:nvSpPr>
          <p:cNvPr id="10" name="dot-235"/>
          <p:cNvSpPr/>
          <p:nvPr/>
        </p:nvSpPr>
        <p:spPr>
          <a:xfrm>
            <a:off x="274320" y="2578608"/>
            <a:ext cx="82296" cy="82296"/>
          </a:xfrm>
          <a:prstGeom prst="rect">
            <a:avLst/>
          </a:prstGeom>
          <a:solidFill>
            <a:srgbClr val="F59E0B"/>
          </a:solidFill>
          <a:ln w="12700">
            <a:solidFill>
              <a:srgbClr val="F59E0B"/>
            </a:solidFill>
            <a:prstDash val="solid"/>
          </a:ln>
        </p:spPr>
        <p:txBody>
          <a:bodyPr/>
          <a:lstStyle/>
          <a:p>
            <a:endParaRPr lang="en-US"/>
          </a:p>
        </p:txBody>
      </p:sp>
      <p:sp>
        <p:nvSpPr>
          <p:cNvPr id="11" name="item-236"/>
          <p:cNvSpPr txBox="1"/>
          <p:nvPr/>
        </p:nvSpPr>
        <p:spPr>
          <a:xfrm>
            <a:off x="438912" y="2505456"/>
            <a:ext cx="4041648" cy="457200"/>
          </a:xfrm>
          <a:prstGeom prst="rect">
            <a:avLst/>
          </a:prstGeom>
          <a:noFill/>
          <a:ln/>
        </p:spPr>
        <p:txBody>
          <a:bodyPr wrap="square" lIns="0" tIns="0" rIns="0" bIns="0" rtlCol="0" anchor="t"/>
          <a:lstStyle/>
          <a:p>
            <a:pPr marL="0" indent="0">
              <a:spcAft>
                <a:spcPts val="100"/>
              </a:spcAft>
              <a:buNone/>
            </a:pPr>
            <a:r>
              <a:rPr lang="en-US" sz="1200" b="1" dirty="0">
                <a:solidFill>
                  <a:srgbClr val="2D3748"/>
                </a:solidFill>
              </a:rPr>
              <a:t>list / add / update / delete appliances</a:t>
            </a:r>
            <a:endParaRPr lang="en-US" sz="1200" dirty="0"/>
          </a:p>
          <a:p>
            <a:pPr marL="0" indent="0">
              <a:spcAft>
                <a:spcPts val="100"/>
              </a:spcAft>
              <a:buNone/>
            </a:pPr>
            <a:r>
              <a:rPr lang="en-US" sz="1000" dirty="0">
                <a:solidFill>
                  <a:srgbClr val="718096"/>
                </a:solidFill>
              </a:rPr>
              <a:t>Monday's four actions, now on the table</a:t>
            </a:r>
            <a:endParaRPr lang="en-US" sz="1200" dirty="0"/>
          </a:p>
        </p:txBody>
      </p:sp>
      <p:sp>
        <p:nvSpPr>
          <p:cNvPr id="12" name="label-237"/>
          <p:cNvSpPr txBox="1"/>
          <p:nvPr/>
        </p:nvSpPr>
        <p:spPr>
          <a:xfrm>
            <a:off x="4709160" y="685800"/>
            <a:ext cx="4160520" cy="219456"/>
          </a:xfrm>
          <a:prstGeom prst="rect">
            <a:avLst/>
          </a:prstGeom>
          <a:noFill/>
          <a:ln/>
        </p:spPr>
        <p:txBody>
          <a:bodyPr wrap="square" lIns="0" tIns="0" rIns="0" bIns="0" rtlCol="0" anchor="ctr"/>
          <a:lstStyle/>
          <a:p>
            <a:pPr marL="0" indent="0">
              <a:buNone/>
            </a:pPr>
            <a:r>
              <a:rPr lang="en-US" sz="900" b="1" kern="0" spc="150" dirty="0">
                <a:solidFill>
                  <a:srgbClr val="718096"/>
                </a:solidFill>
              </a:rPr>
              <a:t>SUMMARY(23 MARCH) — THE REAL ANSWER</a:t>
            </a:r>
            <a:endParaRPr lang="en-US" sz="900" dirty="0"/>
          </a:p>
        </p:txBody>
      </p:sp>
      <p:graphicFrame>
        <p:nvGraphicFramePr>
          <p:cNvPr id="17" name="table-238"/>
          <p:cNvGraphicFramePr>
            <a:graphicFrameLocks noGrp="1"/>
          </p:cNvGraphicFramePr>
          <p:nvPr>
            <p:extLst>
              <p:ext uri="{D42A27DB-BD31-4B8C-83A1-F6EECF244321}">
                <p14:modId xmlns:p14="http://schemas.microsoft.com/office/powerpoint/2010/main" val="1579011935"/>
              </p:ext>
            </p:extLst>
          </p:nvPr>
        </p:nvGraphicFramePr>
        <p:xfrm>
          <a:off x="4709160" y="941832"/>
          <a:ext cx="4160520" cy="914400"/>
        </p:xfrm>
        <a:graphic>
          <a:graphicData uri="http://schemas.openxmlformats.org/drawingml/2006/table">
            <a:tbl>
              <a:tblPr/>
              <a:tblGrid>
                <a:gridCol w="224028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tblGrid>
              <a:tr h="301752">
                <a:tc>
                  <a:txBody>
                    <a:bodyPr/>
                    <a:lstStyle/>
                    <a:p>
                      <a:pPr marL="0" indent="0">
                        <a:buNone/>
                      </a:pPr>
                      <a:r>
                        <a:rPr lang="en-US" sz="1000" b="1" dirty="0">
                          <a:solidFill>
                            <a:srgbClr val="FFFFFF"/>
                          </a:solidFill>
                        </a:rPr>
                        <a:t>Question</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D3748"/>
                    </a:solidFill>
                  </a:tcPr>
                </a:tc>
                <a:tc>
                  <a:txBody>
                    <a:bodyPr/>
                    <a:lstStyle/>
                    <a:p>
                      <a:pPr marL="0" indent="0">
                        <a:buNone/>
                      </a:pPr>
                      <a:r>
                        <a:rPr lang="en-US" sz="1000" b="1" dirty="0">
                          <a:solidFill>
                            <a:srgbClr val="FFFFFF"/>
                          </a:solidFill>
                        </a:rPr>
                        <a:t>Answer</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D3748"/>
                    </a:solidFill>
                  </a:tcPr>
                </a:tc>
                <a:extLst>
                  <a:ext uri="{0D108BD9-81ED-4DB2-BD59-A6C34878D82A}">
                    <a16:rowId xmlns:a16="http://schemas.microsoft.com/office/drawing/2014/main" val="10000"/>
                  </a:ext>
                </a:extLst>
              </a:tr>
              <a:tr h="301752">
                <a:tc>
                  <a:txBody>
                    <a:bodyPr/>
                    <a:lstStyle/>
                    <a:p>
                      <a:pPr marL="0" indent="0">
                        <a:buNone/>
                      </a:pPr>
                      <a:r>
                        <a:rPr lang="en-US" sz="1000" dirty="0">
                          <a:solidFill>
                            <a:srgbClr val="2D3748"/>
                          </a:solidFill>
                        </a:rPr>
                        <a:t>Highest load of the day</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b="1" dirty="0">
                          <a:solidFill>
                            <a:srgbClr val="2D3748"/>
                          </a:solidFill>
                        </a:rPr>
                        <a:t>859 kW at 13:00</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1752">
                <a:tc>
                  <a:txBody>
                    <a:bodyPr/>
                    <a:lstStyle/>
                    <a:p>
                      <a:pPr marL="0" indent="0">
                        <a:buNone/>
                      </a:pPr>
                      <a:r>
                        <a:rPr lang="en-US" sz="1000" dirty="0">
                          <a:solidFill>
                            <a:srgbClr val="2D3748"/>
                          </a:solidFill>
                        </a:rPr>
                        <a:t>Energy used</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9,351 kWh</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1752">
                <a:tc>
                  <a:txBody>
                    <a:bodyPr/>
                    <a:lstStyle/>
                    <a:p>
                      <a:pPr marL="0" indent="0">
                        <a:buNone/>
                      </a:pPr>
                      <a:r>
                        <a:rPr lang="en-US" sz="1000" dirty="0">
                          <a:solidFill>
                            <a:srgbClr val="2D3748"/>
                          </a:solidFill>
                        </a:rPr>
                        <a:t>Energy from solar</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1,848 kWh</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1752">
                <a:tc>
                  <a:txBody>
                    <a:bodyPr/>
                    <a:lstStyle/>
                    <a:p>
                      <a:pPr marL="0" indent="0">
                        <a:buNone/>
                      </a:pPr>
                      <a:r>
                        <a:rPr lang="en-US" sz="1000" dirty="0">
                          <a:solidFill>
                            <a:srgbClr val="2D3748"/>
                          </a:solidFill>
                        </a:rPr>
                        <a:t>Hottest air</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38.4 °C</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01752">
                <a:tc>
                  <a:txBody>
                    <a:bodyPr/>
                    <a:lstStyle/>
                    <a:p>
                      <a:pPr marL="0" indent="0">
                        <a:buNone/>
                      </a:pPr>
                      <a:r>
                        <a:rPr lang="en-US" sz="1000" dirty="0">
                          <a:solidFill>
                            <a:srgbClr val="2D3748"/>
                          </a:solidFill>
                        </a:rPr>
                        <a:t>Transformer, worst moment</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b="1" dirty="0">
                          <a:solidFill>
                            <a:srgbClr val="B91C1C"/>
                          </a:solidFill>
                        </a:rPr>
                        <a:t>106.4 % at 12:45</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4" name="note-239"/>
          <p:cNvSpPr/>
          <p:nvPr/>
        </p:nvSpPr>
        <p:spPr>
          <a:xfrm>
            <a:off x="274320" y="3154680"/>
            <a:ext cx="8595360" cy="685800"/>
          </a:xfrm>
          <a:prstGeom prst="roundRect">
            <a:avLst>
              <a:gd name="adj" fmla="val 6667"/>
            </a:avLst>
          </a:prstGeom>
          <a:solidFill>
            <a:srgbClr val="FFF8E7"/>
          </a:solidFill>
          <a:ln w="12700">
            <a:solidFill>
              <a:srgbClr val="F6D9A8"/>
            </a:solidFill>
            <a:prstDash val="solid"/>
          </a:ln>
        </p:spPr>
        <p:txBody>
          <a:bodyPr/>
          <a:lstStyle/>
          <a:p>
            <a:endParaRPr lang="en-US"/>
          </a:p>
        </p:txBody>
      </p:sp>
      <p:sp>
        <p:nvSpPr>
          <p:cNvPr id="15" name="note-t-240"/>
          <p:cNvSpPr txBox="1"/>
          <p:nvPr/>
        </p:nvSpPr>
        <p:spPr>
          <a:xfrm>
            <a:off x="411480" y="3200400"/>
            <a:ext cx="8321040" cy="594360"/>
          </a:xfrm>
          <a:prstGeom prst="rect">
            <a:avLst/>
          </a:prstGeom>
          <a:noFill/>
          <a:ln/>
        </p:spPr>
        <p:txBody>
          <a:bodyPr wrap="square" lIns="0" tIns="0" rIns="0" bIns="0" rtlCol="0" anchor="ctr"/>
          <a:lstStyle/>
          <a:p>
            <a:pPr marL="0" indent="0">
              <a:buNone/>
            </a:pPr>
            <a:r>
              <a:rPr lang="en-US" sz="1050" dirty="0">
                <a:solidFill>
                  <a:srgbClr val="2D3748"/>
                </a:solidFill>
              </a:rPr>
              <a:t>Why one place? Tomorrow's dashboard, Friday's AI agent and the MCP server all call these same functions — fix a question once, and every screen gets the fix.</a:t>
            </a:r>
            <a:endParaRPr lang="en-US" sz="1050" dirty="0"/>
          </a:p>
        </p:txBody>
      </p:sp>
      <p:sp>
        <p:nvSpPr>
          <p:cNvPr id="16" name="evolve-241"/>
          <p:cNvSpPr/>
          <p:nvPr/>
        </p:nvSpPr>
        <p:spPr>
          <a:xfrm>
            <a:off x="274320" y="4498848"/>
            <a:ext cx="8595360" cy="384048"/>
          </a:xfrm>
          <a:prstGeom prst="roundRect">
            <a:avLst>
              <a:gd name="adj" fmla="val 11905"/>
            </a:avLst>
          </a:prstGeom>
          <a:solidFill>
            <a:srgbClr val="EEF2FF"/>
          </a:solidFill>
          <a:ln w="12700">
            <a:solidFill>
              <a:srgbClr val="D5DCF5"/>
            </a:solidFill>
            <a:prstDash val="solid"/>
          </a:ln>
        </p:spPr>
        <p:txBody>
          <a:bodyPr/>
          <a:lstStyle/>
          <a:p>
            <a:endParaRPr lang="en-US"/>
          </a:p>
        </p:txBody>
      </p:sp>
      <p:sp>
        <p:nvSpPr>
          <p:cNvPr id="13" name="evolve-t-242"/>
          <p:cNvSpPr txBox="1"/>
          <p:nvPr/>
        </p:nvSpPr>
        <p:spPr>
          <a:xfrm>
            <a:off x="411480" y="4507992"/>
            <a:ext cx="8321040" cy="365760"/>
          </a:xfrm>
          <a:prstGeom prst="rect">
            <a:avLst/>
          </a:prstGeom>
          <a:noFill/>
          <a:ln/>
        </p:spPr>
        <p:txBody>
          <a:bodyPr wrap="square" lIns="0" tIns="0" rIns="0" bIns="0" rtlCol="0" anchor="ctr"/>
          <a:lstStyle/>
          <a:p>
            <a:pPr marL="0" indent="0">
              <a:buNone/>
            </a:pPr>
            <a:r>
              <a:rPr lang="en-US" sz="1050" b="1" dirty="0">
                <a:solidFill>
                  <a:srgbClr val="2D3748"/>
                </a:solidFill>
              </a:rPr>
              <a:t>Ask the API:  </a:t>
            </a:r>
            <a:r>
              <a:rPr lang="en-US" sz="1050" dirty="0">
                <a:solidFill>
                  <a:srgbClr val="718096"/>
                </a:solidFill>
              </a:rPr>
              <a:t>GET /summary?day=2026-03-23 returns exactly this table as JSON</a:t>
            </a:r>
            <a:endParaRPr lang="en-US" sz="1050" dirty="0"/>
          </a:p>
        </p:txBody>
      </p:sp>
      <p:sp>
        <p:nvSpPr>
          <p:cNvPr id="25" name="Slide Number Placeholder 0"/>
          <p:cNvSpPr>
            <a:spLocks noGrp="1"/>
          </p:cNvSpPr>
          <p:nvPr>
            <p:ph type="sldNum" sz="quarter" idx="4294967295"/>
          </p:nvPr>
        </p:nvSpPr>
        <p:spPr>
          <a:xfrm>
            <a:off x="8549640" y="4919472"/>
            <a:ext cx="36576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718096"/>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1097280" y="91440"/>
            <a:ext cx="7772400" cy="347472"/>
          </a:xfrm>
          <a:prstGeom prst="rect">
            <a:avLst/>
          </a:prstGeom>
          <a:noFill/>
          <a:ln/>
        </p:spPr>
        <p:txBody>
          <a:bodyPr wrap="square" lIns="0" tIns="0" rIns="0" bIns="0" rtlCol="0" anchor="ctr"/>
          <a:lstStyle/>
          <a:p>
            <a:pPr marL="0" indent="0" algn="l">
              <a:buNone/>
            </a:pPr>
            <a:r>
              <a:rPr lang="en-US" sz="1300" b="1" dirty="0">
                <a:solidFill>
                  <a:srgbClr val="F59E0B"/>
                </a:solidFill>
              </a:rPr>
              <a:t>THE ENGINEERING ANSWER  ·  Is the transformer overworked?</a:t>
            </a:r>
            <a:endParaRPr lang="en-US" sz="1300" dirty="0"/>
          </a:p>
        </p:txBody>
      </p:sp>
      <p:sp>
        <p:nvSpPr>
          <p:cNvPr id="3" name="label-243"/>
          <p:cNvSpPr txBox="1"/>
          <p:nvPr/>
        </p:nvSpPr>
        <p:spPr>
          <a:xfrm>
            <a:off x="274320" y="685800"/>
            <a:ext cx="8595360" cy="219456"/>
          </a:xfrm>
          <a:prstGeom prst="rect">
            <a:avLst/>
          </a:prstGeom>
          <a:noFill/>
          <a:ln/>
        </p:spPr>
        <p:txBody>
          <a:bodyPr wrap="square" lIns="0" tIns="0" rIns="0" bIns="0" rtlCol="0" anchor="ctr"/>
          <a:lstStyle/>
          <a:p>
            <a:pPr marL="0" indent="0">
              <a:buNone/>
            </a:pPr>
            <a:r>
              <a:rPr lang="en-US" sz="900" b="1" kern="0" spc="150" dirty="0">
                <a:solidFill>
                  <a:srgbClr val="718096"/>
                </a:solidFill>
              </a:rPr>
              <a:t>23 MARCH, 12:45 — WORKED OUT STEP BY STEP</a:t>
            </a:r>
            <a:endParaRPr lang="en-US" sz="900" dirty="0"/>
          </a:p>
        </p:txBody>
      </p:sp>
      <p:sp>
        <p:nvSpPr>
          <p:cNvPr id="4" name="box-244"/>
          <p:cNvSpPr/>
          <p:nvPr/>
        </p:nvSpPr>
        <p:spPr>
          <a:xfrm>
            <a:off x="274320" y="941832"/>
            <a:ext cx="1280160" cy="822960"/>
          </a:xfrm>
          <a:prstGeom prst="roundRect">
            <a:avLst>
              <a:gd name="adj" fmla="val 6667"/>
            </a:avLst>
          </a:prstGeom>
          <a:solidFill>
            <a:srgbClr val="2D3748"/>
          </a:solidFill>
          <a:ln w="12700">
            <a:solidFill>
              <a:srgbClr val="2D3748"/>
            </a:solidFill>
            <a:prstDash val="solid"/>
          </a:ln>
        </p:spPr>
        <p:txBody>
          <a:bodyPr/>
          <a:lstStyle/>
          <a:p>
            <a:endParaRPr lang="en-US"/>
          </a:p>
        </p:txBody>
      </p:sp>
      <p:sp>
        <p:nvSpPr>
          <p:cNvPr id="5" name="box-t-245"/>
          <p:cNvSpPr txBox="1"/>
          <p:nvPr/>
        </p:nvSpPr>
        <p:spPr>
          <a:xfrm>
            <a:off x="274320" y="941832"/>
            <a:ext cx="1280160" cy="822960"/>
          </a:xfrm>
          <a:prstGeom prst="rect">
            <a:avLst/>
          </a:prstGeom>
          <a:noFill/>
          <a:ln/>
        </p:spPr>
        <p:txBody>
          <a:bodyPr wrap="square" lIns="762" tIns="762" rIns="762" bIns="762" rtlCol="0" anchor="ctr"/>
          <a:lstStyle/>
          <a:p>
            <a:pPr marL="0" indent="0" algn="ctr">
              <a:buNone/>
            </a:pPr>
            <a:r>
              <a:rPr lang="en-US" sz="1100" b="1" dirty="0">
                <a:solidFill>
                  <a:srgbClr val="FFFFFF"/>
                </a:solidFill>
              </a:rPr>
              <a:t>Campus needs</a:t>
            </a:r>
            <a:endParaRPr lang="en-US" sz="1100" dirty="0"/>
          </a:p>
          <a:p>
            <a:pPr marL="0" indent="0" algn="ctr">
              <a:buNone/>
            </a:pPr>
            <a:r>
              <a:rPr lang="en-US" sz="950" dirty="0">
                <a:solidFill>
                  <a:srgbClr val="E2E8F0"/>
                </a:solidFill>
              </a:rPr>
              <a:t>854.2 kW</a:t>
            </a:r>
            <a:endParaRPr lang="en-US" sz="1100" dirty="0"/>
          </a:p>
        </p:txBody>
      </p:sp>
      <p:sp>
        <p:nvSpPr>
          <p:cNvPr id="6" name="arrow-246"/>
          <p:cNvSpPr txBox="1"/>
          <p:nvPr/>
        </p:nvSpPr>
        <p:spPr>
          <a:xfrm>
            <a:off x="1554480" y="1170432"/>
            <a:ext cx="320040" cy="365760"/>
          </a:xfrm>
          <a:prstGeom prst="rect">
            <a:avLst/>
          </a:prstGeom>
          <a:noFill/>
          <a:ln/>
        </p:spPr>
        <p:txBody>
          <a:bodyPr wrap="square" lIns="0" tIns="0" rIns="0" bIns="0" rtlCol="0" anchor="ctr"/>
          <a:lstStyle/>
          <a:p>
            <a:pPr marL="0" indent="0" algn="ctr">
              <a:buNone/>
            </a:pPr>
            <a:r>
              <a:rPr lang="en-US" sz="1800" dirty="0">
                <a:solidFill>
                  <a:srgbClr val="718096"/>
                </a:solidFill>
              </a:rPr>
              <a:t>−</a:t>
            </a:r>
            <a:endParaRPr lang="en-US" sz="1800" dirty="0"/>
          </a:p>
        </p:txBody>
      </p:sp>
      <p:sp>
        <p:nvSpPr>
          <p:cNvPr id="7" name="box-247"/>
          <p:cNvSpPr/>
          <p:nvPr/>
        </p:nvSpPr>
        <p:spPr>
          <a:xfrm>
            <a:off x="1874520" y="941832"/>
            <a:ext cx="1280160" cy="822960"/>
          </a:xfrm>
          <a:prstGeom prst="roundRect">
            <a:avLst>
              <a:gd name="adj" fmla="val 6667"/>
            </a:avLst>
          </a:prstGeom>
          <a:solidFill>
            <a:srgbClr val="2D3748"/>
          </a:solidFill>
          <a:ln w="12700">
            <a:solidFill>
              <a:srgbClr val="2D3748"/>
            </a:solidFill>
            <a:prstDash val="solid"/>
          </a:ln>
        </p:spPr>
        <p:txBody>
          <a:bodyPr/>
          <a:lstStyle/>
          <a:p>
            <a:endParaRPr lang="en-US"/>
          </a:p>
        </p:txBody>
      </p:sp>
      <p:sp>
        <p:nvSpPr>
          <p:cNvPr id="8" name="box-t-248"/>
          <p:cNvSpPr txBox="1"/>
          <p:nvPr/>
        </p:nvSpPr>
        <p:spPr>
          <a:xfrm>
            <a:off x="1874520" y="941832"/>
            <a:ext cx="1280160" cy="822960"/>
          </a:xfrm>
          <a:prstGeom prst="rect">
            <a:avLst/>
          </a:prstGeom>
          <a:noFill/>
          <a:ln/>
        </p:spPr>
        <p:txBody>
          <a:bodyPr wrap="square" lIns="762" tIns="762" rIns="762" bIns="762" rtlCol="0" anchor="ctr"/>
          <a:lstStyle/>
          <a:p>
            <a:pPr marL="0" indent="0" algn="ctr">
              <a:buNone/>
            </a:pPr>
            <a:r>
              <a:rPr lang="en-US" sz="1100" b="1" dirty="0">
                <a:solidFill>
                  <a:srgbClr val="FFFFFF"/>
                </a:solidFill>
              </a:rPr>
              <a:t>Solar gives</a:t>
            </a:r>
            <a:endParaRPr lang="en-US" sz="1100" dirty="0"/>
          </a:p>
          <a:p>
            <a:pPr marL="0" indent="0" algn="ctr">
              <a:buNone/>
            </a:pPr>
            <a:r>
              <a:rPr lang="en-US" sz="950" dirty="0">
                <a:solidFill>
                  <a:srgbClr val="E2E8F0"/>
                </a:solidFill>
              </a:rPr>
              <a:t>230.7 kW</a:t>
            </a:r>
            <a:endParaRPr lang="en-US" sz="1100" dirty="0"/>
          </a:p>
        </p:txBody>
      </p:sp>
      <p:sp>
        <p:nvSpPr>
          <p:cNvPr id="9" name="arrow-249"/>
          <p:cNvSpPr txBox="1"/>
          <p:nvPr/>
        </p:nvSpPr>
        <p:spPr>
          <a:xfrm>
            <a:off x="3154680" y="1170432"/>
            <a:ext cx="320040" cy="365760"/>
          </a:xfrm>
          <a:prstGeom prst="rect">
            <a:avLst/>
          </a:prstGeom>
          <a:noFill/>
          <a:ln/>
        </p:spPr>
        <p:txBody>
          <a:bodyPr wrap="square" lIns="0" tIns="0" rIns="0" bIns="0" rtlCol="0" anchor="ctr"/>
          <a:lstStyle/>
          <a:p>
            <a:pPr marL="0" indent="0" algn="ctr">
              <a:buNone/>
            </a:pPr>
            <a:r>
              <a:rPr lang="en-US" sz="1800" dirty="0">
                <a:solidFill>
                  <a:srgbClr val="718096"/>
                </a:solidFill>
              </a:rPr>
              <a:t>=</a:t>
            </a:r>
            <a:endParaRPr lang="en-US" sz="1800" dirty="0"/>
          </a:p>
        </p:txBody>
      </p:sp>
      <p:sp>
        <p:nvSpPr>
          <p:cNvPr id="10" name="box-250"/>
          <p:cNvSpPr/>
          <p:nvPr/>
        </p:nvSpPr>
        <p:spPr>
          <a:xfrm>
            <a:off x="3474720" y="941832"/>
            <a:ext cx="1280160" cy="822960"/>
          </a:xfrm>
          <a:prstGeom prst="roundRect">
            <a:avLst>
              <a:gd name="adj" fmla="val 6667"/>
            </a:avLst>
          </a:prstGeom>
          <a:solidFill>
            <a:srgbClr val="2D3748"/>
          </a:solidFill>
          <a:ln w="12700">
            <a:solidFill>
              <a:srgbClr val="2D3748"/>
            </a:solidFill>
            <a:prstDash val="solid"/>
          </a:ln>
        </p:spPr>
        <p:txBody>
          <a:bodyPr/>
          <a:lstStyle/>
          <a:p>
            <a:endParaRPr lang="en-US"/>
          </a:p>
        </p:txBody>
      </p:sp>
      <p:sp>
        <p:nvSpPr>
          <p:cNvPr id="11" name="box-t-251"/>
          <p:cNvSpPr txBox="1"/>
          <p:nvPr/>
        </p:nvSpPr>
        <p:spPr>
          <a:xfrm>
            <a:off x="3474720" y="941832"/>
            <a:ext cx="1280160" cy="822960"/>
          </a:xfrm>
          <a:prstGeom prst="rect">
            <a:avLst/>
          </a:prstGeom>
          <a:noFill/>
          <a:ln/>
        </p:spPr>
        <p:txBody>
          <a:bodyPr wrap="square" lIns="762" tIns="762" rIns="762" bIns="762" rtlCol="0" anchor="ctr"/>
          <a:lstStyle/>
          <a:p>
            <a:pPr marL="0" indent="0" algn="ctr">
              <a:buNone/>
            </a:pPr>
            <a:r>
              <a:rPr lang="en-US" sz="1100" b="1" dirty="0">
                <a:solidFill>
                  <a:srgbClr val="FFFFFF"/>
                </a:solidFill>
              </a:rPr>
              <a:t>Grid supplies</a:t>
            </a:r>
            <a:endParaRPr lang="en-US" sz="1100" dirty="0"/>
          </a:p>
          <a:p>
            <a:pPr marL="0" indent="0" algn="ctr">
              <a:buNone/>
            </a:pPr>
            <a:r>
              <a:rPr lang="en-US" sz="950" dirty="0">
                <a:solidFill>
                  <a:srgbClr val="E2E8F0"/>
                </a:solidFill>
              </a:rPr>
              <a:t>623.5 kW</a:t>
            </a:r>
            <a:endParaRPr lang="en-US" sz="1100" dirty="0"/>
          </a:p>
        </p:txBody>
      </p:sp>
      <p:sp>
        <p:nvSpPr>
          <p:cNvPr id="12" name="arrow-252"/>
          <p:cNvSpPr txBox="1"/>
          <p:nvPr/>
        </p:nvSpPr>
        <p:spPr>
          <a:xfrm>
            <a:off x="4754880" y="1170432"/>
            <a:ext cx="777240" cy="365760"/>
          </a:xfrm>
          <a:prstGeom prst="rect">
            <a:avLst/>
          </a:prstGeom>
          <a:noFill/>
          <a:ln/>
        </p:spPr>
        <p:txBody>
          <a:bodyPr wrap="square" lIns="0" tIns="0" rIns="0" bIns="0" rtlCol="0" anchor="ctr"/>
          <a:lstStyle/>
          <a:p>
            <a:pPr marL="0" indent="0" algn="ctr">
              <a:buNone/>
            </a:pPr>
            <a:r>
              <a:rPr lang="en-US" sz="1300" dirty="0">
                <a:solidFill>
                  <a:srgbClr val="718096"/>
                </a:solidFill>
              </a:rPr>
              <a:t>÷ 0.93</a:t>
            </a:r>
            <a:endParaRPr lang="en-US" sz="1300" dirty="0"/>
          </a:p>
        </p:txBody>
      </p:sp>
      <p:sp>
        <p:nvSpPr>
          <p:cNvPr id="13" name="box-253"/>
          <p:cNvSpPr/>
          <p:nvPr/>
        </p:nvSpPr>
        <p:spPr>
          <a:xfrm>
            <a:off x="5532120" y="941832"/>
            <a:ext cx="1280160" cy="822960"/>
          </a:xfrm>
          <a:prstGeom prst="roundRect">
            <a:avLst>
              <a:gd name="adj" fmla="val 6667"/>
            </a:avLst>
          </a:prstGeom>
          <a:solidFill>
            <a:srgbClr val="2D3748"/>
          </a:solidFill>
          <a:ln w="12700">
            <a:solidFill>
              <a:srgbClr val="2D3748"/>
            </a:solidFill>
            <a:prstDash val="solid"/>
          </a:ln>
        </p:spPr>
        <p:txBody>
          <a:bodyPr/>
          <a:lstStyle/>
          <a:p>
            <a:endParaRPr lang="en-US"/>
          </a:p>
        </p:txBody>
      </p:sp>
      <p:sp>
        <p:nvSpPr>
          <p:cNvPr id="14" name="box-t-254"/>
          <p:cNvSpPr txBox="1"/>
          <p:nvPr/>
        </p:nvSpPr>
        <p:spPr>
          <a:xfrm>
            <a:off x="5532120" y="941832"/>
            <a:ext cx="1280160" cy="822960"/>
          </a:xfrm>
          <a:prstGeom prst="rect">
            <a:avLst/>
          </a:prstGeom>
          <a:noFill/>
          <a:ln/>
        </p:spPr>
        <p:txBody>
          <a:bodyPr wrap="square" lIns="762" tIns="762" rIns="762" bIns="762" rtlCol="0" anchor="ctr"/>
          <a:lstStyle/>
          <a:p>
            <a:pPr marL="0" indent="0" algn="ctr">
              <a:buNone/>
            </a:pPr>
            <a:r>
              <a:rPr lang="en-US" sz="1100" b="1" dirty="0">
                <a:solidFill>
                  <a:srgbClr val="FFFFFF"/>
                </a:solidFill>
              </a:rPr>
              <a:t>Transformer carries</a:t>
            </a:r>
            <a:endParaRPr lang="en-US" sz="1100" dirty="0"/>
          </a:p>
          <a:p>
            <a:pPr marL="0" indent="0" algn="ctr">
              <a:buNone/>
            </a:pPr>
            <a:r>
              <a:rPr lang="en-US" sz="950" dirty="0">
                <a:solidFill>
                  <a:srgbClr val="E2E8F0"/>
                </a:solidFill>
              </a:rPr>
              <a:t>670.4 kVA</a:t>
            </a:r>
            <a:endParaRPr lang="en-US" sz="1100" dirty="0"/>
          </a:p>
        </p:txBody>
      </p:sp>
      <p:sp>
        <p:nvSpPr>
          <p:cNvPr id="15" name="arrow-255"/>
          <p:cNvSpPr txBox="1"/>
          <p:nvPr/>
        </p:nvSpPr>
        <p:spPr>
          <a:xfrm>
            <a:off x="6812280" y="1170432"/>
            <a:ext cx="777240" cy="365760"/>
          </a:xfrm>
          <a:prstGeom prst="rect">
            <a:avLst/>
          </a:prstGeom>
          <a:noFill/>
          <a:ln/>
        </p:spPr>
        <p:txBody>
          <a:bodyPr wrap="square" lIns="0" tIns="0" rIns="0" bIns="0" rtlCol="0" anchor="ctr"/>
          <a:lstStyle/>
          <a:p>
            <a:pPr marL="0" indent="0" algn="ctr">
              <a:buNone/>
            </a:pPr>
            <a:r>
              <a:rPr lang="en-US" sz="1300" dirty="0">
                <a:solidFill>
                  <a:srgbClr val="718096"/>
                </a:solidFill>
              </a:rPr>
              <a:t>÷ 630</a:t>
            </a:r>
            <a:endParaRPr lang="en-US" sz="1300" dirty="0"/>
          </a:p>
        </p:txBody>
      </p:sp>
      <p:sp>
        <p:nvSpPr>
          <p:cNvPr id="16" name="box-256"/>
          <p:cNvSpPr/>
          <p:nvPr/>
        </p:nvSpPr>
        <p:spPr>
          <a:xfrm>
            <a:off x="7589520" y="941832"/>
            <a:ext cx="1280160" cy="822960"/>
          </a:xfrm>
          <a:prstGeom prst="roundRect">
            <a:avLst>
              <a:gd name="adj" fmla="val 6667"/>
            </a:avLst>
          </a:prstGeom>
          <a:solidFill>
            <a:srgbClr val="B91C1C"/>
          </a:solidFill>
          <a:ln w="12700">
            <a:solidFill>
              <a:srgbClr val="B91C1C"/>
            </a:solidFill>
            <a:prstDash val="solid"/>
          </a:ln>
        </p:spPr>
        <p:txBody>
          <a:bodyPr/>
          <a:lstStyle/>
          <a:p>
            <a:endParaRPr lang="en-US"/>
          </a:p>
        </p:txBody>
      </p:sp>
      <p:sp>
        <p:nvSpPr>
          <p:cNvPr id="17" name="box-t-257"/>
          <p:cNvSpPr txBox="1"/>
          <p:nvPr/>
        </p:nvSpPr>
        <p:spPr>
          <a:xfrm>
            <a:off x="7589520" y="941832"/>
            <a:ext cx="1280160" cy="822960"/>
          </a:xfrm>
          <a:prstGeom prst="rect">
            <a:avLst/>
          </a:prstGeom>
          <a:noFill/>
          <a:ln/>
        </p:spPr>
        <p:txBody>
          <a:bodyPr wrap="square" lIns="762" tIns="762" rIns="762" bIns="762" rtlCol="0" anchor="ctr"/>
          <a:lstStyle/>
          <a:p>
            <a:pPr marL="0" indent="0" algn="ctr">
              <a:buNone/>
            </a:pPr>
            <a:r>
              <a:rPr lang="en-US" sz="1100" b="1" dirty="0">
                <a:solidFill>
                  <a:srgbClr val="FFFFFF"/>
                </a:solidFill>
              </a:rPr>
              <a:t>Loading</a:t>
            </a:r>
            <a:endParaRPr lang="en-US" sz="1100" dirty="0"/>
          </a:p>
          <a:p>
            <a:pPr marL="0" indent="0" algn="ctr">
              <a:buNone/>
            </a:pPr>
            <a:r>
              <a:rPr lang="en-US" sz="950" dirty="0">
                <a:solidFill>
                  <a:srgbClr val="E2E8F0"/>
                </a:solidFill>
              </a:rPr>
              <a:t>106.4 %</a:t>
            </a:r>
            <a:endParaRPr lang="en-US" sz="1100" dirty="0"/>
          </a:p>
        </p:txBody>
      </p:sp>
      <p:sp>
        <p:nvSpPr>
          <p:cNvPr id="18" name="label-258"/>
          <p:cNvSpPr txBox="1"/>
          <p:nvPr/>
        </p:nvSpPr>
        <p:spPr>
          <a:xfrm>
            <a:off x="274320" y="1965960"/>
            <a:ext cx="8595360" cy="219456"/>
          </a:xfrm>
          <a:prstGeom prst="rect">
            <a:avLst/>
          </a:prstGeom>
          <a:noFill/>
          <a:ln/>
        </p:spPr>
        <p:txBody>
          <a:bodyPr wrap="square" lIns="0" tIns="0" rIns="0" bIns="0" rtlCol="0" anchor="ctr"/>
          <a:lstStyle/>
          <a:p>
            <a:pPr marL="0" indent="0">
              <a:buNone/>
            </a:pPr>
            <a:r>
              <a:rPr lang="en-US" sz="900" b="1" kern="0" spc="150" dirty="0">
                <a:solidFill>
                  <a:srgbClr val="718096"/>
                </a:solidFill>
              </a:rPr>
              <a:t>IN PLAIN WORDS</a:t>
            </a:r>
            <a:endParaRPr lang="en-US" sz="900" dirty="0"/>
          </a:p>
        </p:txBody>
      </p:sp>
      <p:sp>
        <p:nvSpPr>
          <p:cNvPr id="19" name="dot-259"/>
          <p:cNvSpPr/>
          <p:nvPr/>
        </p:nvSpPr>
        <p:spPr>
          <a:xfrm>
            <a:off x="274320" y="2295144"/>
            <a:ext cx="82296" cy="82296"/>
          </a:xfrm>
          <a:prstGeom prst="rect">
            <a:avLst/>
          </a:prstGeom>
          <a:solidFill>
            <a:srgbClr val="F59E0B"/>
          </a:solidFill>
          <a:ln w="12700">
            <a:solidFill>
              <a:srgbClr val="F59E0B"/>
            </a:solidFill>
            <a:prstDash val="solid"/>
          </a:ln>
        </p:spPr>
        <p:txBody>
          <a:bodyPr/>
          <a:lstStyle/>
          <a:p>
            <a:endParaRPr lang="en-US"/>
          </a:p>
        </p:txBody>
      </p:sp>
      <p:sp>
        <p:nvSpPr>
          <p:cNvPr id="20" name="item-260"/>
          <p:cNvSpPr txBox="1"/>
          <p:nvPr/>
        </p:nvSpPr>
        <p:spPr>
          <a:xfrm>
            <a:off x="438912" y="2221992"/>
            <a:ext cx="4041648" cy="457200"/>
          </a:xfrm>
          <a:prstGeom prst="rect">
            <a:avLst/>
          </a:prstGeom>
          <a:noFill/>
          <a:ln/>
        </p:spPr>
        <p:txBody>
          <a:bodyPr wrap="square" lIns="0" tIns="0" rIns="0" bIns="0" rtlCol="0" anchor="t"/>
          <a:lstStyle/>
          <a:p>
            <a:pPr marL="0" indent="0">
              <a:spcAft>
                <a:spcPts val="100"/>
              </a:spcAft>
              <a:buNone/>
            </a:pPr>
            <a:r>
              <a:rPr lang="en-US" sz="1200" b="1" dirty="0">
                <a:solidFill>
                  <a:srgbClr val="2D3748"/>
                </a:solidFill>
              </a:rPr>
              <a:t>The transformer is the campus's door to the grid</a:t>
            </a:r>
            <a:endParaRPr lang="en-US" sz="1200" dirty="0"/>
          </a:p>
          <a:p>
            <a:pPr marL="0" indent="0">
              <a:spcAft>
                <a:spcPts val="100"/>
              </a:spcAft>
              <a:buNone/>
            </a:pPr>
            <a:r>
              <a:rPr lang="en-US" sz="1000" dirty="0">
                <a:solidFill>
                  <a:srgbClr val="718096"/>
                </a:solidFill>
              </a:rPr>
              <a:t>TR-MAIN is rated 630 kVA — the most it should carry</a:t>
            </a:r>
            <a:endParaRPr lang="en-US" sz="1200" dirty="0"/>
          </a:p>
        </p:txBody>
      </p:sp>
      <p:sp>
        <p:nvSpPr>
          <p:cNvPr id="21" name="dot-261"/>
          <p:cNvSpPr/>
          <p:nvPr/>
        </p:nvSpPr>
        <p:spPr>
          <a:xfrm>
            <a:off x="274320" y="2843784"/>
            <a:ext cx="82296" cy="82296"/>
          </a:xfrm>
          <a:prstGeom prst="rect">
            <a:avLst/>
          </a:prstGeom>
          <a:solidFill>
            <a:srgbClr val="F59E0B"/>
          </a:solidFill>
          <a:ln w="12700">
            <a:solidFill>
              <a:srgbClr val="F59E0B"/>
            </a:solidFill>
            <a:prstDash val="solid"/>
          </a:ln>
        </p:spPr>
        <p:txBody>
          <a:bodyPr/>
          <a:lstStyle/>
          <a:p>
            <a:endParaRPr lang="en-US"/>
          </a:p>
        </p:txBody>
      </p:sp>
      <p:sp>
        <p:nvSpPr>
          <p:cNvPr id="22" name="item-262"/>
          <p:cNvSpPr txBox="1"/>
          <p:nvPr/>
        </p:nvSpPr>
        <p:spPr>
          <a:xfrm>
            <a:off x="438912" y="2770632"/>
            <a:ext cx="4041648" cy="457200"/>
          </a:xfrm>
          <a:prstGeom prst="rect">
            <a:avLst/>
          </a:prstGeom>
          <a:noFill/>
          <a:ln/>
        </p:spPr>
        <p:txBody>
          <a:bodyPr wrap="square" lIns="0" tIns="0" rIns="0" bIns="0" rtlCol="0" anchor="t"/>
          <a:lstStyle/>
          <a:p>
            <a:pPr marL="0" indent="0">
              <a:spcAft>
                <a:spcPts val="100"/>
              </a:spcAft>
              <a:buNone/>
            </a:pPr>
            <a:r>
              <a:rPr lang="en-US" sz="1200" b="1" dirty="0">
                <a:solidFill>
                  <a:srgbClr val="2D3748"/>
                </a:solidFill>
              </a:rPr>
              <a:t>Solar on campus does part of the job</a:t>
            </a:r>
            <a:endParaRPr lang="en-US" sz="1200" dirty="0"/>
          </a:p>
          <a:p>
            <a:pPr marL="0" indent="0">
              <a:spcAft>
                <a:spcPts val="100"/>
              </a:spcAft>
              <a:buNone/>
            </a:pPr>
            <a:r>
              <a:rPr lang="en-US" sz="1000" dirty="0">
                <a:solidFill>
                  <a:srgbClr val="718096"/>
                </a:solidFill>
              </a:rPr>
              <a:t>so the transformer carries only what solar can't</a:t>
            </a:r>
            <a:endParaRPr lang="en-US" sz="1200" dirty="0"/>
          </a:p>
        </p:txBody>
      </p:sp>
      <p:sp>
        <p:nvSpPr>
          <p:cNvPr id="23" name="dot-263"/>
          <p:cNvSpPr/>
          <p:nvPr/>
        </p:nvSpPr>
        <p:spPr>
          <a:xfrm>
            <a:off x="4663440" y="2295144"/>
            <a:ext cx="82296" cy="82296"/>
          </a:xfrm>
          <a:prstGeom prst="rect">
            <a:avLst/>
          </a:prstGeom>
          <a:solidFill>
            <a:srgbClr val="F59E0B"/>
          </a:solidFill>
          <a:ln w="12700">
            <a:solidFill>
              <a:srgbClr val="F59E0B"/>
            </a:solidFill>
            <a:prstDash val="solid"/>
          </a:ln>
        </p:spPr>
        <p:txBody>
          <a:bodyPr/>
          <a:lstStyle/>
          <a:p>
            <a:endParaRPr lang="en-US"/>
          </a:p>
        </p:txBody>
      </p:sp>
      <p:sp>
        <p:nvSpPr>
          <p:cNvPr id="24" name="item-264"/>
          <p:cNvSpPr txBox="1"/>
          <p:nvPr/>
        </p:nvSpPr>
        <p:spPr>
          <a:xfrm>
            <a:off x="4828032" y="2221992"/>
            <a:ext cx="4041648" cy="457200"/>
          </a:xfrm>
          <a:prstGeom prst="rect">
            <a:avLst/>
          </a:prstGeom>
          <a:noFill/>
          <a:ln/>
        </p:spPr>
        <p:txBody>
          <a:bodyPr wrap="square" lIns="0" tIns="0" rIns="0" bIns="0" rtlCol="0" anchor="t"/>
          <a:lstStyle/>
          <a:p>
            <a:pPr marL="0" indent="0">
              <a:spcAft>
                <a:spcPts val="100"/>
              </a:spcAft>
              <a:buNone/>
            </a:pPr>
            <a:r>
              <a:rPr lang="en-US" sz="1200" b="1" dirty="0">
                <a:solidFill>
                  <a:srgbClr val="2D3748"/>
                </a:solidFill>
              </a:rPr>
              <a:t>Why ÷ 0.93?</a:t>
            </a:r>
            <a:endParaRPr lang="en-US" sz="1200" dirty="0"/>
          </a:p>
          <a:p>
            <a:pPr marL="0" indent="0">
              <a:spcAft>
                <a:spcPts val="100"/>
              </a:spcAft>
              <a:buNone/>
            </a:pPr>
            <a:r>
              <a:rPr lang="en-US" sz="1000" dirty="0">
                <a:solidFill>
                  <a:srgbClr val="718096"/>
                </a:solidFill>
              </a:rPr>
              <a:t>motors draw a little extra current that does no work (power factor 0.93); the transformer must carry it too</a:t>
            </a:r>
            <a:endParaRPr lang="en-US" sz="1200" dirty="0"/>
          </a:p>
        </p:txBody>
      </p:sp>
      <p:sp>
        <p:nvSpPr>
          <p:cNvPr id="25" name="dot-265"/>
          <p:cNvSpPr/>
          <p:nvPr/>
        </p:nvSpPr>
        <p:spPr>
          <a:xfrm>
            <a:off x="4663440" y="2843784"/>
            <a:ext cx="82296" cy="82296"/>
          </a:xfrm>
          <a:prstGeom prst="rect">
            <a:avLst/>
          </a:prstGeom>
          <a:solidFill>
            <a:srgbClr val="F59E0B"/>
          </a:solidFill>
          <a:ln w="12700">
            <a:solidFill>
              <a:srgbClr val="F59E0B"/>
            </a:solidFill>
            <a:prstDash val="solid"/>
          </a:ln>
        </p:spPr>
        <p:txBody>
          <a:bodyPr/>
          <a:lstStyle/>
          <a:p>
            <a:endParaRPr lang="en-US"/>
          </a:p>
        </p:txBody>
      </p:sp>
      <p:sp>
        <p:nvSpPr>
          <p:cNvPr id="26" name="item-266"/>
          <p:cNvSpPr txBox="1"/>
          <p:nvPr/>
        </p:nvSpPr>
        <p:spPr>
          <a:xfrm>
            <a:off x="4828032" y="2770632"/>
            <a:ext cx="4041648" cy="457200"/>
          </a:xfrm>
          <a:prstGeom prst="rect">
            <a:avLst/>
          </a:prstGeom>
          <a:noFill/>
          <a:ln/>
        </p:spPr>
        <p:txBody>
          <a:bodyPr wrap="square" lIns="0" tIns="0" rIns="0" bIns="0" rtlCol="0" anchor="t"/>
          <a:lstStyle/>
          <a:p>
            <a:pPr marL="0" indent="0">
              <a:spcAft>
                <a:spcPts val="100"/>
              </a:spcAft>
              <a:buNone/>
            </a:pPr>
            <a:r>
              <a:rPr lang="en-US" sz="1200" b="1" dirty="0">
                <a:solidFill>
                  <a:srgbClr val="2D3748"/>
                </a:solidFill>
              </a:rPr>
              <a:t>Above 100 % = overloaded</a:t>
            </a:r>
            <a:endParaRPr lang="en-US" sz="1200" dirty="0"/>
          </a:p>
          <a:p>
            <a:pPr marL="0" indent="0">
              <a:spcAft>
                <a:spcPts val="100"/>
              </a:spcAft>
              <a:buNone/>
            </a:pPr>
            <a:r>
              <a:rPr lang="en-US" sz="1000" dirty="0">
                <a:solidFill>
                  <a:srgbClr val="718096"/>
                </a:solidFill>
              </a:rPr>
              <a:t>it runs hotter and ages faster — the engineer needs to know when</a:t>
            </a:r>
            <a:endParaRPr lang="en-US" sz="1200" dirty="0"/>
          </a:p>
        </p:txBody>
      </p:sp>
      <p:sp>
        <p:nvSpPr>
          <p:cNvPr id="27" name="note-267"/>
          <p:cNvSpPr/>
          <p:nvPr/>
        </p:nvSpPr>
        <p:spPr>
          <a:xfrm>
            <a:off x="274320" y="3337560"/>
            <a:ext cx="8595360" cy="868680"/>
          </a:xfrm>
          <a:prstGeom prst="roundRect">
            <a:avLst>
              <a:gd name="adj" fmla="val 5263"/>
            </a:avLst>
          </a:prstGeom>
          <a:solidFill>
            <a:srgbClr val="FFF8E7"/>
          </a:solidFill>
          <a:ln w="12700">
            <a:solidFill>
              <a:srgbClr val="F6D9A8"/>
            </a:solidFill>
            <a:prstDash val="solid"/>
          </a:ln>
        </p:spPr>
        <p:txBody>
          <a:bodyPr/>
          <a:lstStyle/>
          <a:p>
            <a:endParaRPr lang="en-US"/>
          </a:p>
        </p:txBody>
      </p:sp>
      <p:sp>
        <p:nvSpPr>
          <p:cNvPr id="28" name="note-t-268"/>
          <p:cNvSpPr txBox="1"/>
          <p:nvPr/>
        </p:nvSpPr>
        <p:spPr>
          <a:xfrm>
            <a:off x="411480" y="3383280"/>
            <a:ext cx="8321040" cy="777240"/>
          </a:xfrm>
          <a:prstGeom prst="rect">
            <a:avLst/>
          </a:prstGeom>
          <a:noFill/>
          <a:ln/>
        </p:spPr>
        <p:txBody>
          <a:bodyPr wrap="square" lIns="0" tIns="0" rIns="0" bIns="0" rtlCol="0" anchor="ctr"/>
          <a:lstStyle/>
          <a:p>
            <a:pPr marL="0" indent="0">
              <a:buNone/>
            </a:pPr>
            <a:r>
              <a:rPr lang="en-US" sz="1050" dirty="0">
                <a:solidFill>
                  <a:srgbClr val="2D3748"/>
                </a:solidFill>
              </a:rPr>
              <a:t>A simplified estimate for teaching: it assumes solar offsets the load on the same side of the transformer, and a fixed power factor of 0.93 (assumed, not measured). Real loading depends on the wiring, where the meters are, and the measured power factor. summary() repeats this sum for all 96 readings and picks the worst.</a:t>
            </a:r>
            <a:endParaRPr lang="en-US" sz="1050" dirty="0"/>
          </a:p>
        </p:txBody>
      </p:sp>
      <p:sp>
        <p:nvSpPr>
          <p:cNvPr id="29" name="evolve-269"/>
          <p:cNvSpPr/>
          <p:nvPr/>
        </p:nvSpPr>
        <p:spPr>
          <a:xfrm>
            <a:off x="274320" y="4498848"/>
            <a:ext cx="8595360" cy="384048"/>
          </a:xfrm>
          <a:prstGeom prst="roundRect">
            <a:avLst>
              <a:gd name="adj" fmla="val 11905"/>
            </a:avLst>
          </a:prstGeom>
          <a:solidFill>
            <a:srgbClr val="EEF2FF"/>
          </a:solidFill>
          <a:ln w="12700">
            <a:solidFill>
              <a:srgbClr val="D5DCF5"/>
            </a:solidFill>
            <a:prstDash val="solid"/>
          </a:ln>
        </p:spPr>
        <p:txBody>
          <a:bodyPr/>
          <a:lstStyle/>
          <a:p>
            <a:endParaRPr lang="en-US"/>
          </a:p>
        </p:txBody>
      </p:sp>
      <p:sp>
        <p:nvSpPr>
          <p:cNvPr id="30" name="evolve-t-270"/>
          <p:cNvSpPr txBox="1"/>
          <p:nvPr/>
        </p:nvSpPr>
        <p:spPr>
          <a:xfrm>
            <a:off x="411480" y="4507992"/>
            <a:ext cx="8321040" cy="365760"/>
          </a:xfrm>
          <a:prstGeom prst="rect">
            <a:avLst/>
          </a:prstGeom>
          <a:noFill/>
          <a:ln/>
        </p:spPr>
        <p:txBody>
          <a:bodyPr wrap="square" lIns="0" tIns="0" rIns="0" bIns="0" rtlCol="0" anchor="ctr"/>
          <a:lstStyle/>
          <a:p>
            <a:pPr marL="0" indent="0">
              <a:buNone/>
            </a:pPr>
            <a:r>
              <a:rPr lang="en-US" sz="1050" b="1" dirty="0">
                <a:solidFill>
                  <a:srgbClr val="2D3748"/>
                </a:solidFill>
              </a:rPr>
              <a:t>Hot afternoons, little solar:  </a:t>
            </a:r>
            <a:r>
              <a:rPr lang="en-US" sz="1050" dirty="0">
                <a:solidFill>
                  <a:srgbClr val="718096"/>
                </a:solidFill>
              </a:rPr>
              <a:t>that is when the transformer is pushed hardest — and now the database tells us exactly when</a:t>
            </a:r>
            <a:endParaRPr lang="en-US" sz="1050" dirty="0"/>
          </a:p>
        </p:txBody>
      </p:sp>
      <p:sp>
        <p:nvSpPr>
          <p:cNvPr id="31" name="Slide Number Placeholder 0"/>
          <p:cNvSpPr>
            <a:spLocks noGrp="1"/>
          </p:cNvSpPr>
          <p:nvPr>
            <p:ph type="sldNum" sz="quarter" idx="4294967295"/>
          </p:nvPr>
        </p:nvSpPr>
        <p:spPr>
          <a:xfrm>
            <a:off x="8549640" y="4919472"/>
            <a:ext cx="36576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718096"/>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1097280" y="91440"/>
            <a:ext cx="7772400" cy="347472"/>
          </a:xfrm>
          <a:prstGeom prst="rect">
            <a:avLst/>
          </a:prstGeom>
          <a:noFill/>
          <a:ln/>
        </p:spPr>
        <p:txBody>
          <a:bodyPr wrap="square" lIns="0" tIns="0" rIns="0" bIns="0" rtlCol="0" anchor="ctr"/>
          <a:lstStyle/>
          <a:p>
            <a:pPr marL="0" indent="0" algn="l">
              <a:buNone/>
            </a:pPr>
            <a:r>
              <a:rPr lang="en-US" sz="1300" b="1" dirty="0">
                <a:solidFill>
                  <a:srgbClr val="F59E0B"/>
                </a:solidFill>
              </a:rPr>
              <a:t>MONDAY'S LIST, NOW SAFE  ·  Same four buttons, new storage</a:t>
            </a:r>
            <a:endParaRPr lang="en-US" sz="1300" dirty="0"/>
          </a:p>
        </p:txBody>
      </p:sp>
      <p:graphicFrame>
        <p:nvGraphicFramePr>
          <p:cNvPr id="19" name="table-271"/>
          <p:cNvGraphicFramePr>
            <a:graphicFrameLocks noGrp="1"/>
          </p:cNvGraphicFramePr>
          <p:nvPr>
            <p:extLst>
              <p:ext uri="{D42A27DB-BD31-4B8C-83A1-F6EECF244321}">
                <p14:modId xmlns:p14="http://schemas.microsoft.com/office/powerpoint/2010/main" val="1579011935"/>
              </p:ext>
            </p:extLst>
          </p:nvPr>
        </p:nvGraphicFramePr>
        <p:xfrm>
          <a:off x="274320" y="713232"/>
          <a:ext cx="8595360" cy="914400"/>
        </p:xfrm>
        <a:graphic>
          <a:graphicData uri="http://schemas.openxmlformats.org/drawingml/2006/table">
            <a:tbl>
              <a:tblPr/>
              <a:tblGrid>
                <a:gridCol w="201168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3474720">
                  <a:extLst>
                    <a:ext uri="{9D8B030D-6E8A-4147-A177-3AD203B41FA5}">
                      <a16:colId xmlns:a16="http://schemas.microsoft.com/office/drawing/2014/main" val="20002"/>
                    </a:ext>
                  </a:extLst>
                </a:gridCol>
              </a:tblGrid>
              <a:tr h="310896">
                <a:tc>
                  <a:txBody>
                    <a:bodyPr/>
                    <a:lstStyle/>
                    <a:p>
                      <a:pPr marL="0" indent="0">
                        <a:buNone/>
                      </a:pP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D3748"/>
                    </a:solidFill>
                  </a:tcPr>
                </a:tc>
                <a:tc>
                  <a:txBody>
                    <a:bodyPr/>
                    <a:lstStyle/>
                    <a:p>
                      <a:pPr marL="0" indent="0">
                        <a:buNone/>
                      </a:pPr>
                      <a:r>
                        <a:rPr lang="en-US" sz="1000" b="1" dirty="0">
                          <a:solidFill>
                            <a:srgbClr val="FFFFFF"/>
                          </a:solidFill>
                        </a:rPr>
                        <a:t>Monday</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D3748"/>
                    </a:solidFill>
                  </a:tcPr>
                </a:tc>
                <a:tc>
                  <a:txBody>
                    <a:bodyPr/>
                    <a:lstStyle/>
                    <a:p>
                      <a:pPr marL="0" indent="0">
                        <a:buNone/>
                      </a:pPr>
                      <a:r>
                        <a:rPr lang="en-US" sz="1000" b="1" dirty="0">
                          <a:solidFill>
                            <a:srgbClr val="FFFFFF"/>
                          </a:solidFill>
                        </a:rPr>
                        <a:t>Today</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D3748"/>
                    </a:solidFill>
                  </a:tcPr>
                </a:tc>
                <a:extLst>
                  <a:ext uri="{0D108BD9-81ED-4DB2-BD59-A6C34878D82A}">
                    <a16:rowId xmlns:a16="http://schemas.microsoft.com/office/drawing/2014/main" val="10000"/>
                  </a:ext>
                </a:extLst>
              </a:tr>
              <a:tr h="310896">
                <a:tc>
                  <a:txBody>
                    <a:bodyPr/>
                    <a:lstStyle/>
                    <a:p>
                      <a:pPr marL="0" indent="0">
                        <a:buNone/>
                      </a:pPr>
                      <a:r>
                        <a:rPr lang="en-US" sz="1000" b="1" dirty="0">
                          <a:solidFill>
                            <a:srgbClr val="2D3748"/>
                          </a:solidFill>
                        </a:rPr>
                        <a:t>Where the list lives</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a Python dictionary in memory</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F6E56"/>
                          </a:solidFill>
                        </a:rPr>
                        <a:t>the appliances table in energy.db</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000" b="1" dirty="0">
                          <a:solidFill>
                            <a:srgbClr val="2D3748"/>
                          </a:solidFill>
                        </a:rPr>
                        <a:t>Requests</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GET · POST · PUT · DELETE /appliances</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exactly the same — users notice nothing</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000" b="1" dirty="0">
                          <a:solidFill>
                            <a:srgbClr val="2D3748"/>
                          </a:solidFill>
                        </a:rPr>
                        <a:t>After a restart</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B91C1C"/>
                          </a:solidFill>
                        </a:rPr>
                        <a:t>empty</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b="1" dirty="0">
                          <a:solidFill>
                            <a:srgbClr val="0F6E56"/>
                          </a:solidFill>
                        </a:rPr>
                        <a:t>still there</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4" name="code-bg-272"/>
          <p:cNvSpPr/>
          <p:nvPr/>
        </p:nvSpPr>
        <p:spPr>
          <a:xfrm>
            <a:off x="274320" y="2103120"/>
            <a:ext cx="8595360" cy="1783080"/>
          </a:xfrm>
          <a:prstGeom prst="roundRect">
            <a:avLst>
              <a:gd name="adj" fmla="val 3077"/>
            </a:avLst>
          </a:prstGeom>
          <a:solidFill>
            <a:srgbClr val="1A2535"/>
          </a:solidFill>
          <a:ln w="12700">
            <a:solidFill>
              <a:srgbClr val="1A2535"/>
            </a:solidFill>
            <a:prstDash val="solid"/>
          </a:ln>
        </p:spPr>
        <p:txBody>
          <a:bodyPr/>
          <a:lstStyle/>
          <a:p>
            <a:endParaRPr lang="en-US"/>
          </a:p>
        </p:txBody>
      </p:sp>
      <p:sp>
        <p:nvSpPr>
          <p:cNvPr id="5" name="code-title-273"/>
          <p:cNvSpPr txBox="1"/>
          <p:nvPr/>
        </p:nvSpPr>
        <p:spPr>
          <a:xfrm>
            <a:off x="411480" y="2176272"/>
            <a:ext cx="8321040" cy="219456"/>
          </a:xfrm>
          <a:prstGeom prst="rect">
            <a:avLst/>
          </a:prstGeom>
          <a:noFill/>
          <a:ln/>
        </p:spPr>
        <p:txBody>
          <a:bodyPr wrap="square" lIns="0" tIns="0" rIns="0" bIns="0" rtlCol="0" anchor="ctr"/>
          <a:lstStyle/>
          <a:p>
            <a:pPr marL="0" indent="0">
              <a:buNone/>
            </a:pPr>
            <a:r>
              <a:rPr lang="en-US" sz="950" b="1" dirty="0">
                <a:solidFill>
                  <a:srgbClr val="F59E0B"/>
                </a:solidFill>
              </a:rPr>
              <a:t>▶ Real output of 03_appliances_db.py</a:t>
            </a:r>
            <a:endParaRPr lang="en-US" sz="950" dirty="0"/>
          </a:p>
        </p:txBody>
      </p:sp>
      <p:sp>
        <p:nvSpPr>
          <p:cNvPr id="6" name="code-274"/>
          <p:cNvSpPr txBox="1"/>
          <p:nvPr/>
        </p:nvSpPr>
        <p:spPr>
          <a:xfrm>
            <a:off x="411480" y="2432304"/>
            <a:ext cx="8321040" cy="1380744"/>
          </a:xfrm>
          <a:prstGeom prst="rect">
            <a:avLst/>
          </a:prstGeom>
          <a:noFill/>
          <a:ln/>
        </p:spPr>
        <p:txBody>
          <a:bodyPr wrap="square" lIns="0" tIns="0" rIns="0" bIns="0" rtlCol="0" anchor="t"/>
          <a:lstStyle/>
          <a:p>
            <a:pPr marL="0" indent="0">
              <a:lnSpc>
                <a:spcPct val="105000"/>
              </a:lnSpc>
              <a:buNone/>
            </a:pPr>
            <a:r>
              <a:rPr lang="en-US" sz="900" dirty="0">
                <a:solidFill>
                  <a:srgbClr val="E2E8F0"/>
                </a:solidFill>
                <a:latin typeface="Consolas" pitchFamily="34" charset="0"/>
                <a:ea typeface="Consolas" pitchFamily="34" charset="-122"/>
                <a:cs typeface="Consolas" pitchFamily="34" charset="-120"/>
              </a:rPr>
              <a:t>POST   /appliances           -&gt; {'id': 1, 'name': 'Room AC', 'watts': 1500.0, 'hours': 8.0}</a:t>
            </a:r>
            <a:endParaRPr lang="en-US" sz="900" dirty="0"/>
          </a:p>
          <a:p>
            <a:pPr marL="0" indent="0">
              <a:lnSpc>
                <a:spcPct val="105000"/>
              </a:lnSpc>
              <a:buNone/>
            </a:pPr>
            <a:r>
              <a:rPr lang="en-US" sz="900" dirty="0">
                <a:solidFill>
                  <a:srgbClr val="E2E8F0"/>
                </a:solidFill>
                <a:latin typeface="Consolas" pitchFamily="34" charset="0"/>
                <a:ea typeface="Consolas" pitchFamily="34" charset="-122"/>
                <a:cs typeface="Consolas" pitchFamily="34" charset="-120"/>
              </a:rPr>
              <a:t>PUT    /appliances/1         -&gt; {'id': 1, 'name': 'Room AC', 'watts': 1500.0, 'hours': 6.0}</a:t>
            </a:r>
            <a:endParaRPr lang="en-US" sz="900" dirty="0"/>
          </a:p>
          <a:p>
            <a:pPr marL="0" indent="0">
              <a:lnSpc>
                <a:spcPct val="105000"/>
              </a:lnSpc>
              <a:buNone/>
            </a:pPr>
            <a:r>
              <a:rPr lang="en-US" sz="900" dirty="0">
                <a:solidFill>
                  <a:srgbClr val="E2E8F0"/>
                </a:solidFill>
                <a:latin typeface="Consolas" pitchFamily="34" charset="0"/>
                <a:ea typeface="Consolas" pitchFamily="34" charset="-122"/>
                <a:cs typeface="Consolas" pitchFamily="34" charset="-120"/>
              </a:rPr>
              <a:t>GET    /appliances/1/cost    -&gt; {'appliance': 'Room AC', 'units': 9.0, 'cost_rs': 72.0}</a:t>
            </a:r>
            <a:endParaRPr lang="en-US" sz="900" dirty="0"/>
          </a:p>
          <a:p>
            <a:pPr marL="0" indent="0">
              <a:lnSpc>
                <a:spcPct val="105000"/>
              </a:lnSpc>
              <a:buNone/>
            </a:pPr>
            <a:r>
              <a:rPr lang="en-US" sz="900" dirty="0">
                <a:solidFill>
                  <a:srgbClr val="E2E8F0"/>
                </a:solidFill>
                <a:latin typeface="Consolas" pitchFamily="34" charset="0"/>
                <a:ea typeface="Consolas" pitchFamily="34" charset="-122"/>
                <a:cs typeface="Consolas" pitchFamily="34" charset="-120"/>
              </a:rPr>
              <a:t> </a:t>
            </a:r>
            <a:endParaRPr lang="en-US" sz="900" dirty="0"/>
          </a:p>
          <a:p>
            <a:pPr marL="0" indent="0">
              <a:lnSpc>
                <a:spcPct val="105000"/>
              </a:lnSpc>
              <a:buNone/>
            </a:pPr>
            <a:r>
              <a:rPr lang="en-US" sz="900" dirty="0">
                <a:solidFill>
                  <a:srgbClr val="E2E8F0"/>
                </a:solidFill>
                <a:latin typeface="Consolas" pitchFamily="34" charset="0"/>
                <a:ea typeface="Consolas" pitchFamily="34" charset="-122"/>
                <a:cs typeface="Consolas" pitchFamily="34" charset="-120"/>
              </a:rPr>
              <a:t>SQL: SELECT * FROM appliances -&gt; [(1, 'Room AC', 1500.0, 6.0)]     ← really on disk</a:t>
            </a:r>
            <a:endParaRPr lang="en-US" sz="900" dirty="0"/>
          </a:p>
          <a:p>
            <a:pPr marL="0" indent="0">
              <a:lnSpc>
                <a:spcPct val="105000"/>
              </a:lnSpc>
              <a:buNone/>
            </a:pPr>
            <a:r>
              <a:rPr lang="en-US" sz="900" dirty="0">
                <a:solidFill>
                  <a:srgbClr val="E2E8F0"/>
                </a:solidFill>
                <a:latin typeface="Consolas" pitchFamily="34" charset="0"/>
                <a:ea typeface="Consolas" pitchFamily="34" charset="-122"/>
                <a:cs typeface="Consolas" pitchFamily="34" charset="-120"/>
              </a:rPr>
              <a:t>DELETE /appliances/1         -&gt; {'deleted': 1}</a:t>
            </a:r>
            <a:endParaRPr lang="en-US" sz="900" dirty="0"/>
          </a:p>
        </p:txBody>
      </p:sp>
      <p:sp>
        <p:nvSpPr>
          <p:cNvPr id="7" name="lab-275"/>
          <p:cNvSpPr/>
          <p:nvPr/>
        </p:nvSpPr>
        <p:spPr>
          <a:xfrm>
            <a:off x="274320" y="4498848"/>
            <a:ext cx="8595360" cy="384048"/>
          </a:xfrm>
          <a:prstGeom prst="roundRect">
            <a:avLst>
              <a:gd name="adj" fmla="val 11905"/>
            </a:avLst>
          </a:prstGeom>
          <a:solidFill>
            <a:srgbClr val="FFF8E7"/>
          </a:solidFill>
          <a:ln w="12700">
            <a:solidFill>
              <a:srgbClr val="F6D9A8"/>
            </a:solidFill>
            <a:prstDash val="solid"/>
          </a:ln>
        </p:spPr>
        <p:txBody>
          <a:bodyPr/>
          <a:lstStyle/>
          <a:p>
            <a:endParaRPr lang="en-US"/>
          </a:p>
        </p:txBody>
      </p:sp>
      <p:sp>
        <p:nvSpPr>
          <p:cNvPr id="8" name="lab-t-276"/>
          <p:cNvSpPr txBox="1"/>
          <p:nvPr/>
        </p:nvSpPr>
        <p:spPr>
          <a:xfrm>
            <a:off x="411480" y="4507992"/>
            <a:ext cx="8321040" cy="365760"/>
          </a:xfrm>
          <a:prstGeom prst="rect">
            <a:avLst/>
          </a:prstGeom>
          <a:noFill/>
          <a:ln/>
        </p:spPr>
        <p:txBody>
          <a:bodyPr wrap="square" lIns="0" tIns="0" rIns="0" bIns="0" rtlCol="0" anchor="ctr"/>
          <a:lstStyle/>
          <a:p>
            <a:pPr marL="0" indent="0">
              <a:buNone/>
            </a:pPr>
            <a:r>
              <a:rPr lang="en-US" sz="1050" b="1" dirty="0">
                <a:solidFill>
                  <a:srgbClr val="2D3748"/>
                </a:solidFill>
              </a:rPr>
              <a:t>Proof:  </a:t>
            </a:r>
            <a:r>
              <a:rPr lang="en-US" sz="1050" dirty="0">
                <a:solidFill>
                  <a:srgbClr val="2D3748"/>
                </a:solidFill>
              </a:rPr>
              <a:t>the script opens energy.db with plain SQL, not through the API — and finds the row there</a:t>
            </a:r>
            <a:endParaRPr lang="en-US" sz="1050" dirty="0"/>
          </a:p>
        </p:txBody>
      </p:sp>
      <p:sp>
        <p:nvSpPr>
          <p:cNvPr id="25" name="Slide Number Placeholder 0"/>
          <p:cNvSpPr>
            <a:spLocks noGrp="1"/>
          </p:cNvSpPr>
          <p:nvPr>
            <p:ph type="sldNum" sz="quarter" idx="4294967295"/>
          </p:nvPr>
        </p:nvSpPr>
        <p:spPr>
          <a:xfrm>
            <a:off x="8549640" y="4919472"/>
            <a:ext cx="36576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718096"/>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1097280" y="91440"/>
            <a:ext cx="7772400" cy="347472"/>
          </a:xfrm>
          <a:prstGeom prst="rect">
            <a:avLst/>
          </a:prstGeom>
          <a:noFill/>
          <a:ln/>
        </p:spPr>
        <p:txBody>
          <a:bodyPr wrap="square" lIns="0" tIns="0" rIns="0" bIns="0" rtlCol="0" anchor="ctr"/>
          <a:lstStyle/>
          <a:p>
            <a:pPr marL="0" indent="0" algn="l">
              <a:buNone/>
            </a:pPr>
            <a:r>
              <a:rPr lang="en-US" sz="1300" b="1" dirty="0">
                <a:solidFill>
                  <a:srgbClr val="F59E0B"/>
                </a:solidFill>
              </a:rPr>
              <a:t>TRY IT YOURSELF  ·  Run these in the day2_tue_database/code folder</a:t>
            </a:r>
            <a:endParaRPr lang="en-US" sz="1300" dirty="0"/>
          </a:p>
        </p:txBody>
      </p:sp>
      <p:graphicFrame>
        <p:nvGraphicFramePr>
          <p:cNvPr id="20" name="table-277"/>
          <p:cNvGraphicFramePr>
            <a:graphicFrameLocks noGrp="1"/>
          </p:cNvGraphicFramePr>
          <p:nvPr>
            <p:extLst>
              <p:ext uri="{D42A27DB-BD31-4B8C-83A1-F6EECF244321}">
                <p14:modId xmlns:p14="http://schemas.microsoft.com/office/powerpoint/2010/main" val="1579011935"/>
              </p:ext>
            </p:extLst>
          </p:nvPr>
        </p:nvGraphicFramePr>
        <p:xfrm>
          <a:off x="274320" y="713232"/>
          <a:ext cx="4846320" cy="914400"/>
        </p:xfrm>
        <a:graphic>
          <a:graphicData uri="http://schemas.openxmlformats.org/drawingml/2006/table">
            <a:tbl>
              <a:tblPr/>
              <a:tblGrid>
                <a:gridCol w="2148840">
                  <a:extLst>
                    <a:ext uri="{9D8B030D-6E8A-4147-A177-3AD203B41FA5}">
                      <a16:colId xmlns:a16="http://schemas.microsoft.com/office/drawing/2014/main" val="20000"/>
                    </a:ext>
                  </a:extLst>
                </a:gridCol>
                <a:gridCol w="2697480">
                  <a:extLst>
                    <a:ext uri="{9D8B030D-6E8A-4147-A177-3AD203B41FA5}">
                      <a16:colId xmlns:a16="http://schemas.microsoft.com/office/drawing/2014/main" val="20001"/>
                    </a:ext>
                  </a:extLst>
                </a:gridCol>
              </a:tblGrid>
              <a:tr h="384048">
                <a:tc>
                  <a:txBody>
                    <a:bodyPr/>
                    <a:lstStyle/>
                    <a:p>
                      <a:pPr marL="0" indent="0">
                        <a:buNone/>
                      </a:pPr>
                      <a:r>
                        <a:rPr lang="en-US" sz="1000" b="1" dirty="0">
                          <a:solidFill>
                            <a:srgbClr val="FFFFFF"/>
                          </a:solidFill>
                        </a:rPr>
                        <a:t>Type this</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D3748"/>
                    </a:solidFill>
                  </a:tcPr>
                </a:tc>
                <a:tc>
                  <a:txBody>
                    <a:bodyPr/>
                    <a:lstStyle/>
                    <a:p>
                      <a:pPr marL="0" indent="0">
                        <a:buNone/>
                      </a:pPr>
                      <a:r>
                        <a:rPr lang="en-US" sz="1000" b="1" dirty="0">
                          <a:solidFill>
                            <a:srgbClr val="FFFFFF"/>
                          </a:solidFill>
                        </a:rPr>
                        <a:t>You will see</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D3748"/>
                    </a:solidFill>
                  </a:tcPr>
                </a:tc>
                <a:extLst>
                  <a:ext uri="{0D108BD9-81ED-4DB2-BD59-A6C34878D82A}">
                    <a16:rowId xmlns:a16="http://schemas.microsoft.com/office/drawing/2014/main" val="10000"/>
                  </a:ext>
                </a:extLst>
              </a:tr>
              <a:tr h="384048">
                <a:tc>
                  <a:txBody>
                    <a:bodyPr/>
                    <a:lstStyle/>
                    <a:p>
                      <a:pPr marL="0" indent="0">
                        <a:buNone/>
                      </a:pPr>
                      <a:r>
                        <a:rPr lang="en-US" sz="900" dirty="0">
                          <a:solidFill>
                            <a:srgbClr val="2D3748"/>
                          </a:solidFill>
                          <a:latin typeface="Consolas" pitchFamily="34" charset="0"/>
                          <a:ea typeface="Consolas" pitchFamily="34" charset="-122"/>
                          <a:cs typeface="Consolas" pitchFamily="34" charset="-120"/>
                        </a:rPr>
                        <a:t>python 01_sql_basics.py</a:t>
                      </a:r>
                      <a:endParaRPr lang="en-US" sz="900" dirty="0">
                        <a:latin typeface="Consolas" charset="0"/>
                        <a:ea typeface="Consolas" charset="0"/>
                        <a:cs typeface="Consolas" charset="0"/>
                      </a:endParaRPr>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SQL in four sentences — the poor-power-factor feeders</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900" dirty="0">
                          <a:solidFill>
                            <a:srgbClr val="2D3748"/>
                          </a:solidFill>
                          <a:latin typeface="Consolas" pitchFamily="34" charset="0"/>
                          <a:ea typeface="Consolas" pitchFamily="34" charset="-122"/>
                          <a:cs typeface="Consolas" pitchFamily="34" charset="-120"/>
                        </a:rPr>
                        <a:t>python 02_load_readings.py</a:t>
                      </a:r>
                      <a:endParaRPr lang="en-US" sz="900" dirty="0">
                        <a:latin typeface="Consolas" charset="0"/>
                        <a:ea typeface="Consolas" charset="0"/>
                        <a:cs typeface="Consolas" charset="0"/>
                      </a:endParaRPr>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Loaded 5,664 readings … and energy.db appears</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900" dirty="0">
                          <a:solidFill>
                            <a:srgbClr val="2D3748"/>
                          </a:solidFill>
                          <a:latin typeface="Consolas" pitchFamily="34" charset="0"/>
                          <a:ea typeface="Consolas" pitchFamily="34" charset="-122"/>
                          <a:cs typeface="Consolas" pitchFamily="34" charset="-120"/>
                        </a:rPr>
                        <a:t>uvicorn app:app --reload</a:t>
                      </a:r>
                      <a:endParaRPr lang="en-US" sz="900" dirty="0">
                        <a:latin typeface="Consolas" charset="0"/>
                        <a:ea typeface="Consolas" charset="0"/>
                        <a:cs typeface="Consolas" charset="0"/>
                      </a:endParaRPr>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the API starts on http://127.0.0.1:8000</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buNone/>
                      </a:pPr>
                      <a:r>
                        <a:rPr lang="en-US" sz="900" dirty="0">
                          <a:solidFill>
                            <a:srgbClr val="2D3748"/>
                          </a:solidFill>
                          <a:latin typeface="Consolas" pitchFamily="34" charset="0"/>
                          <a:ea typeface="Consolas" pitchFamily="34" charset="-122"/>
                          <a:cs typeface="Consolas" pitchFamily="34" charset="-120"/>
                        </a:rPr>
                        <a:t>open /docs  →  GET /summary</a:t>
                      </a:r>
                      <a:endParaRPr lang="en-US" sz="900" dirty="0">
                        <a:latin typeface="Consolas" charset="0"/>
                        <a:ea typeface="Consolas" charset="0"/>
                        <a:cs typeface="Consolas" charset="0"/>
                      </a:endParaRPr>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Try it out, day = 2026-03-23 → the report card</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buNone/>
                      </a:pPr>
                      <a:r>
                        <a:rPr lang="en-US" sz="900" dirty="0">
                          <a:solidFill>
                            <a:srgbClr val="2D3748"/>
                          </a:solidFill>
                          <a:latin typeface="Consolas" pitchFamily="34" charset="0"/>
                          <a:ea typeface="Consolas" pitchFamily="34" charset="-122"/>
                          <a:cs typeface="Consolas" pitchFamily="34" charset="-120"/>
                        </a:rPr>
                        <a:t>python 03_appliances_db.py</a:t>
                      </a:r>
                      <a:endParaRPr lang="en-US" sz="900" dirty="0">
                        <a:latin typeface="Consolas" charset="0"/>
                        <a:ea typeface="Consolas" charset="0"/>
                        <a:cs typeface="Consolas" charset="0"/>
                      </a:endParaRPr>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Monday's list saved, changed, read from disk, removed</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4048">
                <a:tc>
                  <a:txBody>
                    <a:bodyPr/>
                    <a:lstStyle/>
                    <a:p>
                      <a:pPr marL="0" indent="0">
                        <a:buNone/>
                      </a:pPr>
                      <a:r>
                        <a:rPr lang="en-US" sz="900" dirty="0">
                          <a:solidFill>
                            <a:srgbClr val="2D3748"/>
                          </a:solidFill>
                          <a:latin typeface="Consolas" pitchFamily="34" charset="0"/>
                          <a:ea typeface="Consolas" pitchFamily="34" charset="-122"/>
                          <a:cs typeface="Consolas" pitchFamily="34" charset="-120"/>
                        </a:rPr>
                        <a:t>/summary?day=2026-02-30</a:t>
                      </a:r>
                      <a:endParaRPr lang="en-US" sz="900" dirty="0">
                        <a:latin typeface="Consolas" charset="0"/>
                        <a:ea typeface="Consolas" charset="0"/>
                        <a:cs typeface="Consolas" charset="0"/>
                      </a:endParaRPr>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422 — “day value is outside expected range”: bad input is refused, with a reason</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pic>
        <p:nvPicPr>
          <p:cNvPr id="4" name="swagger" descr="/Users/vijayreddy/github/Interns/mgit/v1/assets/img/screens/day2_swagger.png"/>
          <p:cNvPicPr>
            <a:picLocks noChangeAspect="1"/>
          </p:cNvPicPr>
          <p:nvPr/>
        </p:nvPicPr>
        <p:blipFill>
          <a:blip r:embed="rId3"/>
          <a:stretch>
            <a:fillRect/>
          </a:stretch>
        </p:blipFill>
        <p:spPr>
          <a:xfrm>
            <a:off x="5349240" y="713232"/>
            <a:ext cx="3520440" cy="2478024"/>
          </a:xfrm>
          <a:prstGeom prst="rect">
            <a:avLst/>
          </a:prstGeom>
        </p:spPr>
      </p:pic>
      <p:sp>
        <p:nvSpPr>
          <p:cNvPr id="5" name="swagger-cap"/>
          <p:cNvSpPr txBox="1"/>
          <p:nvPr/>
        </p:nvSpPr>
        <p:spPr>
          <a:xfrm>
            <a:off x="5349240" y="3218688"/>
            <a:ext cx="3520440" cy="365760"/>
          </a:xfrm>
          <a:prstGeom prst="rect">
            <a:avLst/>
          </a:prstGeom>
          <a:noFill/>
          <a:ln/>
        </p:spPr>
        <p:txBody>
          <a:bodyPr wrap="square" lIns="0" tIns="0" rIns="0" bIns="0" rtlCol="0" anchor="ctr"/>
          <a:lstStyle/>
          <a:p>
            <a:pPr marL="0" indent="0">
              <a:buNone/>
            </a:pPr>
            <a:r>
              <a:rPr lang="en-US" sz="900" i="1" dirty="0">
                <a:solidFill>
                  <a:srgbClr val="718096"/>
                </a:solidFill>
              </a:rPr>
              <a:t>/docs now lists the database endpoints: /history, /readings, /summary, /appliances</a:t>
            </a:r>
            <a:endParaRPr lang="en-US" sz="900" dirty="0"/>
          </a:p>
        </p:txBody>
      </p:sp>
      <p:sp>
        <p:nvSpPr>
          <p:cNvPr id="6" name="lab-278"/>
          <p:cNvSpPr/>
          <p:nvPr/>
        </p:nvSpPr>
        <p:spPr>
          <a:xfrm>
            <a:off x="274320" y="4498848"/>
            <a:ext cx="8595360" cy="384048"/>
          </a:xfrm>
          <a:prstGeom prst="roundRect">
            <a:avLst>
              <a:gd name="adj" fmla="val 11905"/>
            </a:avLst>
          </a:prstGeom>
          <a:solidFill>
            <a:srgbClr val="FFF8E7"/>
          </a:solidFill>
          <a:ln w="12700">
            <a:solidFill>
              <a:srgbClr val="F6D9A8"/>
            </a:solidFill>
            <a:prstDash val="solid"/>
          </a:ln>
        </p:spPr>
        <p:txBody>
          <a:bodyPr/>
          <a:lstStyle/>
          <a:p>
            <a:endParaRPr lang="en-US"/>
          </a:p>
        </p:txBody>
      </p:sp>
      <p:sp>
        <p:nvSpPr>
          <p:cNvPr id="7" name="lab-t-279"/>
          <p:cNvSpPr txBox="1"/>
          <p:nvPr/>
        </p:nvSpPr>
        <p:spPr>
          <a:xfrm>
            <a:off x="411480" y="4507992"/>
            <a:ext cx="8321040" cy="365760"/>
          </a:xfrm>
          <a:prstGeom prst="rect">
            <a:avLst/>
          </a:prstGeom>
          <a:noFill/>
          <a:ln/>
        </p:spPr>
        <p:txBody>
          <a:bodyPr wrap="square" lIns="0" tIns="0" rIns="0" bIns="0" rtlCol="0" anchor="ctr"/>
          <a:lstStyle/>
          <a:p>
            <a:pPr marL="0" indent="0">
              <a:buNone/>
            </a:pPr>
            <a:r>
              <a:rPr lang="en-US" sz="1050" b="1" dirty="0">
                <a:solidFill>
                  <a:srgbClr val="2D3748"/>
                </a:solidFill>
              </a:rPr>
              <a:t>Task:  </a:t>
            </a:r>
            <a:r>
              <a:rPr lang="en-US" sz="1050" dirty="0">
                <a:solidFill>
                  <a:srgbClr val="2D3748"/>
                </a:solidFill>
              </a:rPr>
              <a:t>today's task on the Day 2 page — find the five worst days for the transformer</a:t>
            </a:r>
            <a:endParaRPr lang="en-US" sz="1050" dirty="0"/>
          </a:p>
        </p:txBody>
      </p:sp>
      <p:sp>
        <p:nvSpPr>
          <p:cNvPr id="25" name="Slide Number Placeholder 0"/>
          <p:cNvSpPr>
            <a:spLocks noGrp="1"/>
          </p:cNvSpPr>
          <p:nvPr>
            <p:ph type="sldNum" sz="quarter" idx="4294967295"/>
          </p:nvPr>
        </p:nvSpPr>
        <p:spPr>
          <a:xfrm>
            <a:off x="8549640" y="4919472"/>
            <a:ext cx="36576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718096"/>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1097280" y="91440"/>
            <a:ext cx="7772400" cy="347472"/>
          </a:xfrm>
          <a:prstGeom prst="rect">
            <a:avLst/>
          </a:prstGeom>
          <a:noFill/>
          <a:ln/>
        </p:spPr>
        <p:txBody>
          <a:bodyPr wrap="square" lIns="0" tIns="0" rIns="0" bIns="0" rtlCol="0" anchor="ctr"/>
          <a:lstStyle/>
          <a:p>
            <a:pPr marL="0" indent="0" algn="l">
              <a:buNone/>
            </a:pPr>
            <a:r>
              <a:rPr lang="en-US" sz="1300" b="1" dirty="0">
                <a:solidFill>
                  <a:srgbClr val="F59E0B"/>
                </a:solidFill>
              </a:rPr>
              <a:t>EXTRA  ·  From one file to a database server: SQLite → PostgreSQL</a:t>
            </a:r>
            <a:endParaRPr lang="en-US" sz="1300" dirty="0"/>
          </a:p>
        </p:txBody>
      </p:sp>
      <p:graphicFrame>
        <p:nvGraphicFramePr>
          <p:cNvPr id="21" name="table-280"/>
          <p:cNvGraphicFramePr>
            <a:graphicFrameLocks noGrp="1"/>
          </p:cNvGraphicFramePr>
          <p:nvPr>
            <p:extLst>
              <p:ext uri="{D42A27DB-BD31-4B8C-83A1-F6EECF244321}">
                <p14:modId xmlns:p14="http://schemas.microsoft.com/office/powerpoint/2010/main" val="1579011935"/>
              </p:ext>
            </p:extLst>
          </p:nvPr>
        </p:nvGraphicFramePr>
        <p:xfrm>
          <a:off x="274320" y="713232"/>
          <a:ext cx="8595360" cy="914400"/>
        </p:xfrm>
        <a:graphic>
          <a:graphicData uri="http://schemas.openxmlformats.org/drawingml/2006/table">
            <a:tbl>
              <a:tblPr/>
              <a:tblGrid>
                <a:gridCol w="219456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3474720">
                  <a:extLst>
                    <a:ext uri="{9D8B030D-6E8A-4147-A177-3AD203B41FA5}">
                      <a16:colId xmlns:a16="http://schemas.microsoft.com/office/drawing/2014/main" val="20002"/>
                    </a:ext>
                  </a:extLst>
                </a:gridCol>
              </a:tblGrid>
              <a:tr h="365760">
                <a:tc>
                  <a:txBody>
                    <a:bodyPr/>
                    <a:lstStyle/>
                    <a:p>
                      <a:pPr marL="0" indent="0">
                        <a:buNone/>
                      </a:pP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D3748"/>
                    </a:solidFill>
                  </a:tcPr>
                </a:tc>
                <a:tc>
                  <a:txBody>
                    <a:bodyPr/>
                    <a:lstStyle/>
                    <a:p>
                      <a:pPr marL="0" indent="0">
                        <a:buNone/>
                      </a:pPr>
                      <a:r>
                        <a:rPr lang="en-US" sz="1000" b="1" dirty="0">
                          <a:solidFill>
                            <a:srgbClr val="FFFFFF"/>
                          </a:solidFill>
                        </a:rPr>
                        <a:t>SQLite — until now</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D3748"/>
                    </a:solidFill>
                  </a:tcPr>
                </a:tc>
                <a:tc>
                  <a:txBody>
                    <a:bodyPr/>
                    <a:lstStyle/>
                    <a:p>
                      <a:pPr marL="0" indent="0">
                        <a:buNone/>
                      </a:pPr>
                      <a:r>
                        <a:rPr lang="en-US" sz="1000" b="1" dirty="0">
                          <a:solidFill>
                            <a:srgbClr val="FFFFFF"/>
                          </a:solidFill>
                        </a:rPr>
                        <a:t>PostgreSQL — this step</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D3748"/>
                    </a:solidFill>
                  </a:tcPr>
                </a:tc>
                <a:extLst>
                  <a:ext uri="{0D108BD9-81ED-4DB2-BD59-A6C34878D82A}">
                    <a16:rowId xmlns:a16="http://schemas.microsoft.com/office/drawing/2014/main" val="10000"/>
                  </a:ext>
                </a:extLst>
              </a:tr>
              <a:tr h="365760">
                <a:tc>
                  <a:txBody>
                    <a:bodyPr/>
                    <a:lstStyle/>
                    <a:p>
                      <a:pPr marL="0" indent="0">
                        <a:buNone/>
                      </a:pPr>
                      <a:r>
                        <a:rPr lang="en-US" sz="1000" b="1" dirty="0">
                          <a:solidFill>
                            <a:srgbClr val="2D3748"/>
                          </a:solidFill>
                        </a:rPr>
                        <a:t>Where the data is</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code/energy.db — one file</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a server: a Docker container on localhost:5432</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buNone/>
                      </a:pPr>
                      <a:r>
                        <a:rPr lang="en-US" sz="1000" b="1" dirty="0">
                          <a:solidFill>
                            <a:srgbClr val="2D3748"/>
                          </a:solidFill>
                        </a:rPr>
                        <a:t>What you install</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nothing — built into Python</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Docker Desktop + the psycopg driver</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buNone/>
                      </a:pPr>
                      <a:r>
                        <a:rPr lang="en-US" sz="1000" b="1" dirty="0">
                          <a:solidFill>
                            <a:srgbClr val="2D3748"/>
                          </a:solidFill>
                        </a:rPr>
                        <a:t>Who can use it</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one program writes at a time</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many users and programs at once</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buNone/>
                      </a:pPr>
                      <a:r>
                        <a:rPr lang="en-US" sz="1000" b="1" dirty="0">
                          <a:solidFill>
                            <a:srgbClr val="2D3748"/>
                          </a:solidFill>
                        </a:rPr>
                        <a:t>Used for</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learning, prototypes, phone apps</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websites, company systems, plant data</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5760">
                <a:tc>
                  <a:txBody>
                    <a:bodyPr/>
                    <a:lstStyle/>
                    <a:p>
                      <a:pPr marL="0" indent="0">
                        <a:buNone/>
                      </a:pPr>
                      <a:r>
                        <a:rPr lang="en-US" sz="1000" b="1" dirty="0">
                          <a:solidFill>
                            <a:srgbClr val="2D3748"/>
                          </a:solidFill>
                        </a:rPr>
                        <a:t>What changes in our code</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b="1" dirty="0">
                          <a:solidFill>
                            <a:srgbClr val="0F6E56"/>
                          </a:solidFill>
                        </a:rPr>
                        <a:t>only DATABASE_URL — tables, queries, API stay the same</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4" name="code-bg-281"/>
          <p:cNvSpPr/>
          <p:nvPr/>
        </p:nvSpPr>
        <p:spPr>
          <a:xfrm>
            <a:off x="274320" y="3108960"/>
            <a:ext cx="8595360" cy="777240"/>
          </a:xfrm>
          <a:prstGeom prst="roundRect">
            <a:avLst>
              <a:gd name="adj" fmla="val 7059"/>
            </a:avLst>
          </a:prstGeom>
          <a:solidFill>
            <a:srgbClr val="1A2535"/>
          </a:solidFill>
          <a:ln w="12700">
            <a:solidFill>
              <a:srgbClr val="1A2535"/>
            </a:solidFill>
            <a:prstDash val="solid"/>
          </a:ln>
        </p:spPr>
        <p:txBody>
          <a:bodyPr/>
          <a:lstStyle/>
          <a:p>
            <a:endParaRPr lang="en-US"/>
          </a:p>
        </p:txBody>
      </p:sp>
      <p:sp>
        <p:nvSpPr>
          <p:cNvPr id="5" name="code-title-282"/>
          <p:cNvSpPr txBox="1"/>
          <p:nvPr/>
        </p:nvSpPr>
        <p:spPr>
          <a:xfrm>
            <a:off x="411480" y="3182112"/>
            <a:ext cx="8321040" cy="219456"/>
          </a:xfrm>
          <a:prstGeom prst="rect">
            <a:avLst/>
          </a:prstGeom>
          <a:noFill/>
          <a:ln/>
        </p:spPr>
        <p:txBody>
          <a:bodyPr wrap="square" lIns="0" tIns="0" rIns="0" bIns="0" rtlCol="0" anchor="ctr"/>
          <a:lstStyle/>
          <a:p>
            <a:pPr marL="0" indent="0">
              <a:buNone/>
            </a:pPr>
            <a:r>
              <a:rPr lang="en-US" sz="950" b="1" dirty="0">
                <a:solidFill>
                  <a:srgbClr val="F59E0B"/>
                </a:solidFill>
              </a:rPr>
              <a:t>db.py — the one line that decides</a:t>
            </a:r>
            <a:endParaRPr lang="en-US" sz="950" dirty="0"/>
          </a:p>
        </p:txBody>
      </p:sp>
      <p:sp>
        <p:nvSpPr>
          <p:cNvPr id="6" name="code-283"/>
          <p:cNvSpPr txBox="1"/>
          <p:nvPr/>
        </p:nvSpPr>
        <p:spPr>
          <a:xfrm>
            <a:off x="411480" y="3438144"/>
            <a:ext cx="8321040" cy="374904"/>
          </a:xfrm>
          <a:prstGeom prst="rect">
            <a:avLst/>
          </a:prstGeom>
          <a:noFill/>
          <a:ln/>
        </p:spPr>
        <p:txBody>
          <a:bodyPr wrap="square" lIns="0" tIns="0" rIns="0" bIns="0" rtlCol="0" anchor="t"/>
          <a:lstStyle/>
          <a:p>
            <a:pPr marL="0" indent="0">
              <a:lnSpc>
                <a:spcPct val="105000"/>
              </a:lnSpc>
              <a:buNone/>
            </a:pPr>
            <a:r>
              <a:rPr lang="en-US" sz="1000" dirty="0">
                <a:solidFill>
                  <a:srgbClr val="E2E8F0"/>
                </a:solidFill>
                <a:latin typeface="Consolas" pitchFamily="34" charset="0"/>
                <a:ea typeface="Consolas" pitchFamily="34" charset="-122"/>
                <a:cs typeface="Consolas" pitchFamily="34" charset="-120"/>
              </a:rPr>
              <a:t>DATABASE_URL = os.environ.get("DATABASE_URL", f"sqlite:///{DB_FILE}")   # SQLite unless you say otherwise</a:t>
            </a:r>
            <a:endParaRPr lang="en-US" sz="1000" dirty="0"/>
          </a:p>
        </p:txBody>
      </p:sp>
      <p:sp>
        <p:nvSpPr>
          <p:cNvPr id="7" name="evolve-284"/>
          <p:cNvSpPr/>
          <p:nvPr/>
        </p:nvSpPr>
        <p:spPr>
          <a:xfrm>
            <a:off x="274320" y="4498848"/>
            <a:ext cx="8595360" cy="384048"/>
          </a:xfrm>
          <a:prstGeom prst="roundRect">
            <a:avLst>
              <a:gd name="adj" fmla="val 11905"/>
            </a:avLst>
          </a:prstGeom>
          <a:solidFill>
            <a:srgbClr val="EEF2FF"/>
          </a:solidFill>
          <a:ln w="12700">
            <a:solidFill>
              <a:srgbClr val="D5DCF5"/>
            </a:solidFill>
            <a:prstDash val="solid"/>
          </a:ln>
        </p:spPr>
        <p:txBody>
          <a:bodyPr/>
          <a:lstStyle/>
          <a:p>
            <a:endParaRPr lang="en-US"/>
          </a:p>
        </p:txBody>
      </p:sp>
      <p:sp>
        <p:nvSpPr>
          <p:cNvPr id="8" name="evolve-t-285"/>
          <p:cNvSpPr txBox="1"/>
          <p:nvPr/>
        </p:nvSpPr>
        <p:spPr>
          <a:xfrm>
            <a:off x="411480" y="4507992"/>
            <a:ext cx="8321040" cy="365760"/>
          </a:xfrm>
          <a:prstGeom prst="rect">
            <a:avLst/>
          </a:prstGeom>
          <a:noFill/>
          <a:ln/>
        </p:spPr>
        <p:txBody>
          <a:bodyPr wrap="square" lIns="0" tIns="0" rIns="0" bIns="0" rtlCol="0" anchor="ctr"/>
          <a:lstStyle/>
          <a:p>
            <a:pPr marL="0" indent="0">
              <a:buNone/>
            </a:pPr>
            <a:r>
              <a:rPr lang="en-US" sz="1050" b="1" dirty="0">
                <a:solidFill>
                  <a:srgbClr val="2D3748"/>
                </a:solidFill>
              </a:rPr>
              <a:t>The db.py promise, kept:  </a:t>
            </a:r>
            <a:r>
              <a:rPr lang="en-US" sz="1050" dirty="0">
                <a:solidFill>
                  <a:srgbClr val="718096"/>
                </a:solidFill>
              </a:rPr>
              <a:t>same classes, same queries — a different database behind them</a:t>
            </a:r>
            <a:endParaRPr lang="en-US" sz="1050" dirty="0"/>
          </a:p>
        </p:txBody>
      </p:sp>
      <p:sp>
        <p:nvSpPr>
          <p:cNvPr id="25" name="Slide Number Placeholder 0"/>
          <p:cNvSpPr>
            <a:spLocks noGrp="1"/>
          </p:cNvSpPr>
          <p:nvPr>
            <p:ph type="sldNum" sz="quarter" idx="4294967295"/>
          </p:nvPr>
        </p:nvSpPr>
        <p:spPr>
          <a:xfrm>
            <a:off x="8549640" y="4919472"/>
            <a:ext cx="36576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718096"/>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1097280" y="91440"/>
            <a:ext cx="7772400" cy="347472"/>
          </a:xfrm>
          <a:prstGeom prst="rect">
            <a:avLst/>
          </a:prstGeom>
          <a:noFill/>
          <a:ln/>
        </p:spPr>
        <p:txBody>
          <a:bodyPr wrap="square" lIns="0" tIns="0" rIns="0" bIns="0" rtlCol="0" anchor="ctr"/>
          <a:lstStyle/>
          <a:p>
            <a:pPr marL="0" indent="0" algn="l">
              <a:buNone/>
            </a:pPr>
            <a:r>
              <a:rPr lang="en-US" sz="1300" b="1" dirty="0">
                <a:solidFill>
                  <a:srgbClr val="F59E0B"/>
                </a:solidFill>
              </a:rPr>
              <a:t>POSTGRESQL IN DOCKER  ·  One command, one server on localhost:5432</a:t>
            </a:r>
            <a:endParaRPr lang="en-US" sz="1300" dirty="0"/>
          </a:p>
        </p:txBody>
      </p:sp>
      <p:sp>
        <p:nvSpPr>
          <p:cNvPr id="3" name="box-286"/>
          <p:cNvSpPr/>
          <p:nvPr/>
        </p:nvSpPr>
        <p:spPr>
          <a:xfrm>
            <a:off x="274320" y="777240"/>
            <a:ext cx="2103120" cy="914400"/>
          </a:xfrm>
          <a:prstGeom prst="roundRect">
            <a:avLst>
              <a:gd name="adj" fmla="val 6000"/>
            </a:avLst>
          </a:prstGeom>
          <a:solidFill>
            <a:srgbClr val="2D3748"/>
          </a:solidFill>
          <a:ln w="12700">
            <a:solidFill>
              <a:srgbClr val="2D3748"/>
            </a:solidFill>
            <a:prstDash val="solid"/>
          </a:ln>
        </p:spPr>
        <p:txBody>
          <a:bodyPr/>
          <a:lstStyle/>
          <a:p>
            <a:endParaRPr lang="en-US"/>
          </a:p>
        </p:txBody>
      </p:sp>
      <p:sp>
        <p:nvSpPr>
          <p:cNvPr id="4" name="box-t-287"/>
          <p:cNvSpPr txBox="1"/>
          <p:nvPr/>
        </p:nvSpPr>
        <p:spPr>
          <a:xfrm>
            <a:off x="274320" y="777240"/>
            <a:ext cx="2103120" cy="914400"/>
          </a:xfrm>
          <a:prstGeom prst="rect">
            <a:avLst/>
          </a:prstGeom>
          <a:noFill/>
          <a:ln/>
        </p:spPr>
        <p:txBody>
          <a:bodyPr wrap="square" lIns="762" tIns="762" rIns="762" bIns="762" rtlCol="0" anchor="ctr"/>
          <a:lstStyle/>
          <a:p>
            <a:pPr marL="0" indent="0" algn="ctr">
              <a:buNone/>
            </a:pPr>
            <a:r>
              <a:rPr lang="en-US" sz="1200" b="1" dirty="0">
                <a:solidFill>
                  <a:srgbClr val="FFFFFF"/>
                </a:solidFill>
              </a:rPr>
              <a:t>Your laptop</a:t>
            </a:r>
            <a:endParaRPr lang="en-US" sz="1200" dirty="0"/>
          </a:p>
          <a:p>
            <a:pPr marL="0" indent="0" algn="ctr">
              <a:buNone/>
            </a:pPr>
            <a:r>
              <a:rPr lang="en-US" sz="950" dirty="0">
                <a:solidFill>
                  <a:srgbClr val="E2E8F0"/>
                </a:solidFill>
              </a:rPr>
              <a:t>Python, uvicorn, your code</a:t>
            </a:r>
            <a:endParaRPr lang="en-US" sz="1200" dirty="0"/>
          </a:p>
        </p:txBody>
      </p:sp>
      <p:sp>
        <p:nvSpPr>
          <p:cNvPr id="5" name="arrow-288"/>
          <p:cNvSpPr txBox="1"/>
          <p:nvPr/>
        </p:nvSpPr>
        <p:spPr>
          <a:xfrm>
            <a:off x="2395728" y="1051560"/>
            <a:ext cx="548640" cy="365760"/>
          </a:xfrm>
          <a:prstGeom prst="rect">
            <a:avLst/>
          </a:prstGeom>
          <a:noFill/>
          <a:ln/>
        </p:spPr>
        <p:txBody>
          <a:bodyPr wrap="square" lIns="0" tIns="0" rIns="0" bIns="0" rtlCol="0" anchor="ctr"/>
          <a:lstStyle/>
          <a:p>
            <a:pPr marL="0" indent="0" algn="ctr">
              <a:buNone/>
            </a:pPr>
            <a:r>
              <a:rPr lang="en-US" sz="1200" dirty="0">
                <a:solidFill>
                  <a:srgbClr val="718096"/>
                </a:solidFill>
              </a:rPr>
              <a:t>→ 5432</a:t>
            </a:r>
            <a:endParaRPr lang="en-US" sz="1200" dirty="0"/>
          </a:p>
        </p:txBody>
      </p:sp>
      <p:sp>
        <p:nvSpPr>
          <p:cNvPr id="6" name="box-289"/>
          <p:cNvSpPr/>
          <p:nvPr/>
        </p:nvSpPr>
        <p:spPr>
          <a:xfrm>
            <a:off x="2971800" y="777240"/>
            <a:ext cx="2743200" cy="914400"/>
          </a:xfrm>
          <a:prstGeom prst="roundRect">
            <a:avLst>
              <a:gd name="adj" fmla="val 6000"/>
            </a:avLst>
          </a:prstGeom>
          <a:solidFill>
            <a:srgbClr val="F59E0B"/>
          </a:solidFill>
          <a:ln w="12700">
            <a:solidFill>
              <a:srgbClr val="F59E0B"/>
            </a:solidFill>
            <a:prstDash val="solid"/>
          </a:ln>
        </p:spPr>
        <p:txBody>
          <a:bodyPr/>
          <a:lstStyle/>
          <a:p>
            <a:endParaRPr lang="en-US"/>
          </a:p>
        </p:txBody>
      </p:sp>
      <p:sp>
        <p:nvSpPr>
          <p:cNvPr id="7" name="box-t-290"/>
          <p:cNvSpPr txBox="1"/>
          <p:nvPr/>
        </p:nvSpPr>
        <p:spPr>
          <a:xfrm>
            <a:off x="2971800" y="777240"/>
            <a:ext cx="2743200" cy="914400"/>
          </a:xfrm>
          <a:prstGeom prst="rect">
            <a:avLst/>
          </a:prstGeom>
          <a:noFill/>
          <a:ln/>
        </p:spPr>
        <p:txBody>
          <a:bodyPr wrap="square" lIns="762" tIns="762" rIns="762" bIns="762" rtlCol="0" anchor="ctr"/>
          <a:lstStyle/>
          <a:p>
            <a:pPr marL="0" indent="0" algn="ctr">
              <a:buNone/>
            </a:pPr>
            <a:r>
              <a:rPr lang="en-US" sz="1200" b="1" dirty="0">
                <a:solidFill>
                  <a:srgbClr val="1A2535"/>
                </a:solidFill>
              </a:rPr>
              <a:t>Docker container</a:t>
            </a:r>
            <a:endParaRPr lang="en-US" sz="1200" dirty="0"/>
          </a:p>
          <a:p>
            <a:pPr marL="0" indent="0" algn="ctr">
              <a:buNone/>
            </a:pPr>
            <a:r>
              <a:rPr lang="en-US" sz="950" dirty="0">
                <a:solidFill>
                  <a:srgbClr val="1A2535"/>
                </a:solidFill>
              </a:rPr>
              <a:t>mgit-postgres  ·  postgres:16-alpine</a:t>
            </a:r>
            <a:endParaRPr lang="en-US" sz="1200" dirty="0"/>
          </a:p>
        </p:txBody>
      </p:sp>
      <p:sp>
        <p:nvSpPr>
          <p:cNvPr id="8" name="arrow-291"/>
          <p:cNvSpPr txBox="1"/>
          <p:nvPr/>
        </p:nvSpPr>
        <p:spPr>
          <a:xfrm>
            <a:off x="5733288" y="1051560"/>
            <a:ext cx="365760" cy="365760"/>
          </a:xfrm>
          <a:prstGeom prst="rect">
            <a:avLst/>
          </a:prstGeom>
          <a:noFill/>
          <a:ln/>
        </p:spPr>
        <p:txBody>
          <a:bodyPr wrap="square" lIns="0" tIns="0" rIns="0" bIns="0" rtlCol="0" anchor="ctr"/>
          <a:lstStyle/>
          <a:p>
            <a:pPr marL="0" indent="0" algn="ctr">
              <a:buNone/>
            </a:pPr>
            <a:r>
              <a:rPr lang="en-US" sz="1800" dirty="0">
                <a:solidFill>
                  <a:srgbClr val="718096"/>
                </a:solidFill>
              </a:rPr>
              <a:t>→</a:t>
            </a:r>
            <a:endParaRPr lang="en-US" sz="1800" dirty="0"/>
          </a:p>
        </p:txBody>
      </p:sp>
      <p:sp>
        <p:nvSpPr>
          <p:cNvPr id="9" name="box-292"/>
          <p:cNvSpPr/>
          <p:nvPr/>
        </p:nvSpPr>
        <p:spPr>
          <a:xfrm>
            <a:off x="6126480" y="777240"/>
            <a:ext cx="2743200" cy="914400"/>
          </a:xfrm>
          <a:prstGeom prst="roundRect">
            <a:avLst>
              <a:gd name="adj" fmla="val 6000"/>
            </a:avLst>
          </a:prstGeom>
          <a:solidFill>
            <a:srgbClr val="0F6E56"/>
          </a:solidFill>
          <a:ln w="12700">
            <a:solidFill>
              <a:srgbClr val="0F6E56"/>
            </a:solidFill>
            <a:prstDash val="solid"/>
          </a:ln>
        </p:spPr>
        <p:txBody>
          <a:bodyPr/>
          <a:lstStyle/>
          <a:p>
            <a:endParaRPr lang="en-US"/>
          </a:p>
        </p:txBody>
      </p:sp>
      <p:sp>
        <p:nvSpPr>
          <p:cNvPr id="10" name="box-t-293"/>
          <p:cNvSpPr txBox="1"/>
          <p:nvPr/>
        </p:nvSpPr>
        <p:spPr>
          <a:xfrm>
            <a:off x="6126480" y="777240"/>
            <a:ext cx="2743200" cy="914400"/>
          </a:xfrm>
          <a:prstGeom prst="rect">
            <a:avLst/>
          </a:prstGeom>
          <a:noFill/>
          <a:ln/>
        </p:spPr>
        <p:txBody>
          <a:bodyPr wrap="square" lIns="762" tIns="762" rIns="762" bIns="762" rtlCol="0" anchor="ctr"/>
          <a:lstStyle/>
          <a:p>
            <a:pPr marL="0" indent="0" algn="ctr">
              <a:buNone/>
            </a:pPr>
            <a:r>
              <a:rPr lang="en-US" sz="1200" b="1" dirty="0">
                <a:solidFill>
                  <a:srgbClr val="FFFFFF"/>
                </a:solidFill>
              </a:rPr>
              <a:t>Database: energy</a:t>
            </a:r>
            <a:endParaRPr lang="en-US" sz="1200" dirty="0"/>
          </a:p>
          <a:p>
            <a:pPr marL="0" indent="0" algn="ctr">
              <a:buNone/>
            </a:pPr>
            <a:r>
              <a:rPr lang="en-US" sz="950" dirty="0">
                <a:solidFill>
                  <a:srgbClr val="E2E8F0"/>
                </a:solidFill>
              </a:rPr>
              <a:t>user mgit · 3 tables · data kept in a volume</a:t>
            </a:r>
            <a:endParaRPr lang="en-US" sz="1200" dirty="0"/>
          </a:p>
        </p:txBody>
      </p:sp>
      <p:sp>
        <p:nvSpPr>
          <p:cNvPr id="11" name="code-bg-294"/>
          <p:cNvSpPr/>
          <p:nvPr/>
        </p:nvSpPr>
        <p:spPr>
          <a:xfrm>
            <a:off x="274320" y="1874520"/>
            <a:ext cx="4663440" cy="1234440"/>
          </a:xfrm>
          <a:prstGeom prst="roundRect">
            <a:avLst>
              <a:gd name="adj" fmla="val 4444"/>
            </a:avLst>
          </a:prstGeom>
          <a:solidFill>
            <a:srgbClr val="1A2535"/>
          </a:solidFill>
          <a:ln w="12700">
            <a:solidFill>
              <a:srgbClr val="1A2535"/>
            </a:solidFill>
            <a:prstDash val="solid"/>
          </a:ln>
        </p:spPr>
        <p:txBody>
          <a:bodyPr/>
          <a:lstStyle/>
          <a:p>
            <a:endParaRPr lang="en-US"/>
          </a:p>
        </p:txBody>
      </p:sp>
      <p:sp>
        <p:nvSpPr>
          <p:cNvPr id="12" name="code-title-295"/>
          <p:cNvSpPr txBox="1"/>
          <p:nvPr/>
        </p:nvSpPr>
        <p:spPr>
          <a:xfrm>
            <a:off x="411480" y="1947672"/>
            <a:ext cx="4389120" cy="219456"/>
          </a:xfrm>
          <a:prstGeom prst="rect">
            <a:avLst/>
          </a:prstGeom>
          <a:noFill/>
          <a:ln/>
        </p:spPr>
        <p:txBody>
          <a:bodyPr wrap="square" lIns="0" tIns="0" rIns="0" bIns="0" rtlCol="0" anchor="ctr"/>
          <a:lstStyle/>
          <a:p>
            <a:pPr marL="0" indent="0">
              <a:buNone/>
            </a:pPr>
            <a:r>
              <a:rPr lang="en-US" sz="950" b="1" dirty="0">
                <a:solidFill>
                  <a:srgbClr val="F59E0B"/>
                </a:solidFill>
              </a:rPr>
              <a:t>Start it — in day2_tue_database/postgres</a:t>
            </a:r>
            <a:endParaRPr lang="en-US" sz="950" dirty="0"/>
          </a:p>
        </p:txBody>
      </p:sp>
      <p:sp>
        <p:nvSpPr>
          <p:cNvPr id="13" name="code-296"/>
          <p:cNvSpPr txBox="1"/>
          <p:nvPr/>
        </p:nvSpPr>
        <p:spPr>
          <a:xfrm>
            <a:off x="411480" y="2203704"/>
            <a:ext cx="4389120" cy="832104"/>
          </a:xfrm>
          <a:prstGeom prst="rect">
            <a:avLst/>
          </a:prstGeom>
          <a:noFill/>
          <a:ln/>
        </p:spPr>
        <p:txBody>
          <a:bodyPr wrap="square" lIns="0" tIns="0" rIns="0" bIns="0" rtlCol="0" anchor="t"/>
          <a:lstStyle/>
          <a:p>
            <a:pPr marL="0" indent="0">
              <a:lnSpc>
                <a:spcPct val="105000"/>
              </a:lnSpc>
              <a:buNone/>
            </a:pPr>
            <a:r>
              <a:rPr lang="en-US" sz="950" dirty="0">
                <a:solidFill>
                  <a:srgbClr val="E2E8F0"/>
                </a:solidFill>
                <a:latin typeface="Consolas" pitchFamily="34" charset="0"/>
                <a:ea typeface="Consolas" pitchFamily="34" charset="-122"/>
                <a:cs typeface="Consolas" pitchFamily="34" charset="-120"/>
              </a:rPr>
              <a:t>cp .env.example .env        # put your own password in .env</a:t>
            </a:r>
            <a:endParaRPr lang="en-US" sz="950" dirty="0"/>
          </a:p>
          <a:p>
            <a:pPr marL="0" indent="0">
              <a:lnSpc>
                <a:spcPct val="105000"/>
              </a:lnSpc>
              <a:buNone/>
            </a:pPr>
            <a:r>
              <a:rPr lang="en-US" sz="950" dirty="0">
                <a:solidFill>
                  <a:srgbClr val="E2E8F0"/>
                </a:solidFill>
                <a:latin typeface="Consolas" pitchFamily="34" charset="0"/>
                <a:ea typeface="Consolas" pitchFamily="34" charset="-122"/>
                <a:cs typeface="Consolas" pitchFamily="34" charset="-120"/>
              </a:rPr>
              <a:t>docker compose up -d        # first time: download, then start</a:t>
            </a:r>
            <a:endParaRPr lang="en-US" sz="950" dirty="0"/>
          </a:p>
          <a:p>
            <a:pPr marL="0" indent="0">
              <a:lnSpc>
                <a:spcPct val="105000"/>
              </a:lnSpc>
              <a:buNone/>
            </a:pPr>
            <a:r>
              <a:rPr lang="en-US" sz="950" dirty="0">
                <a:solidFill>
                  <a:srgbClr val="E2E8F0"/>
                </a:solidFill>
                <a:latin typeface="Consolas" pitchFamily="34" charset="0"/>
                <a:ea typeface="Consolas" pitchFamily="34" charset="-122"/>
                <a:cs typeface="Consolas" pitchFamily="34" charset="-120"/>
              </a:rPr>
              <a:t>docker compose ps           # STATUS: healthy</a:t>
            </a:r>
            <a:endParaRPr lang="en-US" sz="950" dirty="0"/>
          </a:p>
        </p:txBody>
      </p:sp>
      <p:sp>
        <p:nvSpPr>
          <p:cNvPr id="14" name="label-297"/>
          <p:cNvSpPr txBox="1"/>
          <p:nvPr/>
        </p:nvSpPr>
        <p:spPr>
          <a:xfrm>
            <a:off x="5120640" y="1874520"/>
            <a:ext cx="3749040" cy="219456"/>
          </a:xfrm>
          <a:prstGeom prst="rect">
            <a:avLst/>
          </a:prstGeom>
          <a:noFill/>
          <a:ln/>
        </p:spPr>
        <p:txBody>
          <a:bodyPr wrap="square" lIns="0" tIns="0" rIns="0" bIns="0" rtlCol="0" anchor="ctr"/>
          <a:lstStyle/>
          <a:p>
            <a:pPr marL="0" indent="0">
              <a:buNone/>
            </a:pPr>
            <a:r>
              <a:rPr lang="en-US" sz="900" b="1" kern="0" spc="150" dirty="0">
                <a:solidFill>
                  <a:srgbClr val="718096"/>
                </a:solidFill>
              </a:rPr>
              <a:t>THE ADDRESS, PIECE BY PIECE</a:t>
            </a:r>
            <a:endParaRPr lang="en-US" sz="900" dirty="0"/>
          </a:p>
        </p:txBody>
      </p:sp>
      <p:graphicFrame>
        <p:nvGraphicFramePr>
          <p:cNvPr id="22" name="table-298"/>
          <p:cNvGraphicFramePr>
            <a:graphicFrameLocks noGrp="1"/>
          </p:cNvGraphicFramePr>
          <p:nvPr>
            <p:extLst>
              <p:ext uri="{D42A27DB-BD31-4B8C-83A1-F6EECF244321}">
                <p14:modId xmlns:p14="http://schemas.microsoft.com/office/powerpoint/2010/main" val="1579011935"/>
              </p:ext>
            </p:extLst>
          </p:nvPr>
        </p:nvGraphicFramePr>
        <p:xfrm>
          <a:off x="5120640" y="2130552"/>
          <a:ext cx="3749040" cy="914400"/>
        </p:xfrm>
        <a:graphic>
          <a:graphicData uri="http://schemas.openxmlformats.org/drawingml/2006/table">
            <a:tbl>
              <a:tblPr/>
              <a:tblGrid>
                <a:gridCol w="173736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tblGrid>
              <a:tr h="246888">
                <a:tc>
                  <a:txBody>
                    <a:bodyPr/>
                    <a:lstStyle/>
                    <a:p>
                      <a:pPr marL="0" indent="0">
                        <a:buNone/>
                      </a:pPr>
                      <a:r>
                        <a:rPr lang="en-US" sz="900" dirty="0">
                          <a:solidFill>
                            <a:srgbClr val="2D3748"/>
                          </a:solidFill>
                          <a:latin typeface="Consolas" pitchFamily="34" charset="0"/>
                          <a:ea typeface="Consolas" pitchFamily="34" charset="-122"/>
                          <a:cs typeface="Consolas" pitchFamily="34" charset="-120"/>
                        </a:rPr>
                        <a:t>postgresql+psycopg</a:t>
                      </a:r>
                      <a:endParaRPr lang="en-US" sz="900" dirty="0">
                        <a:latin typeface="Consolas" charset="0"/>
                        <a:ea typeface="Consolas" charset="0"/>
                        <a:cs typeface="Consolas" charset="0"/>
                      </a:endParaRPr>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kind of database + driver</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246888">
                <a:tc>
                  <a:txBody>
                    <a:bodyPr/>
                    <a:lstStyle/>
                    <a:p>
                      <a:pPr marL="0" indent="0">
                        <a:buNone/>
                      </a:pPr>
                      <a:r>
                        <a:rPr lang="en-US" sz="900" dirty="0">
                          <a:solidFill>
                            <a:srgbClr val="2D3748"/>
                          </a:solidFill>
                          <a:latin typeface="Consolas" pitchFamily="34" charset="0"/>
                          <a:ea typeface="Consolas" pitchFamily="34" charset="-122"/>
                          <a:cs typeface="Consolas" pitchFamily="34" charset="-120"/>
                        </a:rPr>
                        <a:t>mgit:YOUR_PASSWORD</a:t>
                      </a:r>
                      <a:endParaRPr lang="en-US" sz="900" dirty="0">
                        <a:latin typeface="Consolas" charset="0"/>
                        <a:ea typeface="Consolas" charset="0"/>
                        <a:cs typeface="Consolas" charset="0"/>
                      </a:endParaRPr>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user and password (from .env)</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46888">
                <a:tc>
                  <a:txBody>
                    <a:bodyPr/>
                    <a:lstStyle/>
                    <a:p>
                      <a:pPr marL="0" indent="0">
                        <a:buNone/>
                      </a:pPr>
                      <a:r>
                        <a:rPr lang="en-US" sz="900" dirty="0">
                          <a:solidFill>
                            <a:srgbClr val="2D3748"/>
                          </a:solidFill>
                          <a:latin typeface="Consolas" pitchFamily="34" charset="0"/>
                          <a:ea typeface="Consolas" pitchFamily="34" charset="-122"/>
                          <a:cs typeface="Consolas" pitchFamily="34" charset="-120"/>
                        </a:rPr>
                        <a:t>@localhost:5432</a:t>
                      </a:r>
                      <a:endParaRPr lang="en-US" sz="900" dirty="0">
                        <a:latin typeface="Consolas" charset="0"/>
                        <a:ea typeface="Consolas" charset="0"/>
                        <a:cs typeface="Consolas" charset="0"/>
                      </a:endParaRPr>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where the server listens</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46888">
                <a:tc>
                  <a:txBody>
                    <a:bodyPr/>
                    <a:lstStyle/>
                    <a:p>
                      <a:pPr marL="0" indent="0">
                        <a:buNone/>
                      </a:pPr>
                      <a:r>
                        <a:rPr lang="en-US" sz="900" dirty="0">
                          <a:solidFill>
                            <a:srgbClr val="2D3748"/>
                          </a:solidFill>
                          <a:latin typeface="Consolas" pitchFamily="34" charset="0"/>
                          <a:ea typeface="Consolas" pitchFamily="34" charset="-122"/>
                          <a:cs typeface="Consolas" pitchFamily="34" charset="-120"/>
                        </a:rPr>
                        <a:t>/energy</a:t>
                      </a:r>
                      <a:endParaRPr lang="en-US" sz="900" dirty="0">
                        <a:latin typeface="Consolas" charset="0"/>
                        <a:ea typeface="Consolas" charset="0"/>
                        <a:cs typeface="Consolas" charset="0"/>
                      </a:endParaRPr>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which database</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6" name="note-299"/>
          <p:cNvSpPr/>
          <p:nvPr/>
        </p:nvSpPr>
        <p:spPr>
          <a:xfrm>
            <a:off x="274320" y="3291840"/>
            <a:ext cx="8595360" cy="594360"/>
          </a:xfrm>
          <a:prstGeom prst="roundRect">
            <a:avLst>
              <a:gd name="adj" fmla="val 7692"/>
            </a:avLst>
          </a:prstGeom>
          <a:solidFill>
            <a:srgbClr val="FEF3C7"/>
          </a:solidFill>
          <a:ln w="12700">
            <a:solidFill>
              <a:srgbClr val="F6D9A8"/>
            </a:solidFill>
            <a:prstDash val="solid"/>
          </a:ln>
        </p:spPr>
        <p:txBody>
          <a:bodyPr/>
          <a:lstStyle/>
          <a:p>
            <a:endParaRPr lang="en-US"/>
          </a:p>
        </p:txBody>
      </p:sp>
      <p:sp>
        <p:nvSpPr>
          <p:cNvPr id="17" name="note-t-300"/>
          <p:cNvSpPr txBox="1"/>
          <p:nvPr/>
        </p:nvSpPr>
        <p:spPr>
          <a:xfrm>
            <a:off x="411480" y="3337560"/>
            <a:ext cx="8321040" cy="502920"/>
          </a:xfrm>
          <a:prstGeom prst="rect">
            <a:avLst/>
          </a:prstGeom>
          <a:noFill/>
          <a:ln/>
        </p:spPr>
        <p:txBody>
          <a:bodyPr wrap="square" lIns="0" tIns="0" rIns="0" bIns="0" rtlCol="0" anchor="ctr"/>
          <a:lstStyle/>
          <a:p>
            <a:pPr marL="0" indent="0">
              <a:buNone/>
            </a:pPr>
            <a:r>
              <a:rPr lang="en-US" sz="1050" dirty="0">
                <a:solidFill>
                  <a:srgbClr val="2D3748"/>
                </a:solidFill>
              </a:rPr>
              <a:t>Safe by design: the password lives only in .env (never in code, never shared), and the port is bound to 127.0.0.1 — nobody else on the Wi-Fi can reach it.</a:t>
            </a:r>
            <a:endParaRPr lang="en-US" sz="1050" dirty="0"/>
          </a:p>
        </p:txBody>
      </p:sp>
      <p:sp>
        <p:nvSpPr>
          <p:cNvPr id="18" name="lab-301"/>
          <p:cNvSpPr/>
          <p:nvPr/>
        </p:nvSpPr>
        <p:spPr>
          <a:xfrm>
            <a:off x="274320" y="4498848"/>
            <a:ext cx="8595360" cy="384048"/>
          </a:xfrm>
          <a:prstGeom prst="roundRect">
            <a:avLst>
              <a:gd name="adj" fmla="val 11905"/>
            </a:avLst>
          </a:prstGeom>
          <a:solidFill>
            <a:srgbClr val="FFF8E7"/>
          </a:solidFill>
          <a:ln w="12700">
            <a:solidFill>
              <a:srgbClr val="F6D9A8"/>
            </a:solidFill>
            <a:prstDash val="solid"/>
          </a:ln>
        </p:spPr>
        <p:txBody>
          <a:bodyPr/>
          <a:lstStyle/>
          <a:p>
            <a:endParaRPr lang="en-US"/>
          </a:p>
        </p:txBody>
      </p:sp>
      <p:sp>
        <p:nvSpPr>
          <p:cNvPr id="19" name="lab-t-302"/>
          <p:cNvSpPr txBox="1"/>
          <p:nvPr/>
        </p:nvSpPr>
        <p:spPr>
          <a:xfrm>
            <a:off x="411480" y="4507992"/>
            <a:ext cx="8321040" cy="365760"/>
          </a:xfrm>
          <a:prstGeom prst="rect">
            <a:avLst/>
          </a:prstGeom>
          <a:noFill/>
          <a:ln/>
        </p:spPr>
        <p:txBody>
          <a:bodyPr wrap="square" lIns="0" tIns="0" rIns="0" bIns="0" rtlCol="0" anchor="ctr"/>
          <a:lstStyle/>
          <a:p>
            <a:pPr marL="0" indent="0">
              <a:buNone/>
            </a:pPr>
            <a:r>
              <a:rPr lang="en-US" sz="1050" b="1" dirty="0">
                <a:solidFill>
                  <a:srgbClr val="2D3748"/>
                </a:solidFill>
              </a:rPr>
              <a:t>Stop it:  </a:t>
            </a:r>
            <a:r>
              <a:rPr lang="en-US" sz="1050" dirty="0">
                <a:solidFill>
                  <a:srgbClr val="2D3748"/>
                </a:solidFill>
              </a:rPr>
              <a:t>docker compose down — data kept  ·  docker compose down -v — data deleted</a:t>
            </a:r>
            <a:endParaRPr lang="en-US" sz="1050" dirty="0"/>
          </a:p>
        </p:txBody>
      </p:sp>
      <p:sp>
        <p:nvSpPr>
          <p:cNvPr id="25" name="Slide Number Placeholder 0"/>
          <p:cNvSpPr>
            <a:spLocks noGrp="1"/>
          </p:cNvSpPr>
          <p:nvPr>
            <p:ph type="sldNum" sz="quarter" idx="4294967295"/>
          </p:nvPr>
        </p:nvSpPr>
        <p:spPr>
          <a:xfrm>
            <a:off x="8549640" y="4919472"/>
            <a:ext cx="36576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718096"/>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1097280" y="91440"/>
            <a:ext cx="7772400" cy="347472"/>
          </a:xfrm>
          <a:prstGeom prst="rect">
            <a:avLst/>
          </a:prstGeom>
          <a:noFill/>
          <a:ln/>
        </p:spPr>
        <p:txBody>
          <a:bodyPr wrap="square" lIns="0" tIns="0" rIns="0" bIns="0" rtlCol="0" anchor="ctr"/>
          <a:lstStyle/>
          <a:p>
            <a:pPr marL="0" indent="0" algn="l">
              <a:buNone/>
            </a:pPr>
            <a:r>
              <a:rPr lang="en-US" sz="1300" b="1" dirty="0">
                <a:solidFill>
                  <a:srgbClr val="F59E0B"/>
                </a:solidFill>
              </a:rPr>
              <a:t>MOVING THE DATA  ·  migrate_sqlite_to_postgres.py</a:t>
            </a:r>
            <a:endParaRPr lang="en-US" sz="1300" dirty="0"/>
          </a:p>
        </p:txBody>
      </p:sp>
      <p:sp>
        <p:nvSpPr>
          <p:cNvPr id="3" name="num-303"/>
          <p:cNvSpPr/>
          <p:nvPr/>
        </p:nvSpPr>
        <p:spPr>
          <a:xfrm>
            <a:off x="274320" y="768096"/>
            <a:ext cx="292608" cy="292608"/>
          </a:xfrm>
          <a:prstGeom prst="ellipse">
            <a:avLst/>
          </a:prstGeom>
          <a:solidFill>
            <a:srgbClr val="F59E0B"/>
          </a:solidFill>
          <a:ln w="12700">
            <a:solidFill>
              <a:srgbClr val="F59E0B"/>
            </a:solidFill>
            <a:prstDash val="solid"/>
          </a:ln>
        </p:spPr>
        <p:txBody>
          <a:bodyPr/>
          <a:lstStyle/>
          <a:p>
            <a:endParaRPr lang="en-US"/>
          </a:p>
        </p:txBody>
      </p:sp>
      <p:sp>
        <p:nvSpPr>
          <p:cNvPr id="4" name="num-t-304"/>
          <p:cNvSpPr txBox="1"/>
          <p:nvPr/>
        </p:nvSpPr>
        <p:spPr>
          <a:xfrm>
            <a:off x="274320" y="768096"/>
            <a:ext cx="292608" cy="292608"/>
          </a:xfrm>
          <a:prstGeom prst="rect">
            <a:avLst/>
          </a:prstGeom>
          <a:noFill/>
          <a:ln/>
        </p:spPr>
        <p:txBody>
          <a:bodyPr wrap="square" lIns="0" tIns="0" rIns="0" bIns="0" rtlCol="0" anchor="ctr"/>
          <a:lstStyle/>
          <a:p>
            <a:pPr marL="0" indent="0" algn="ctr">
              <a:buNone/>
            </a:pPr>
            <a:r>
              <a:rPr lang="en-US" sz="1300" b="1" dirty="0">
                <a:solidFill>
                  <a:srgbClr val="1A2535"/>
                </a:solidFill>
              </a:rPr>
              <a:t>1</a:t>
            </a:r>
            <a:endParaRPr lang="en-US" sz="1300" dirty="0"/>
          </a:p>
        </p:txBody>
      </p:sp>
      <p:sp>
        <p:nvSpPr>
          <p:cNvPr id="5" name="pg-step-305"/>
          <p:cNvSpPr txBox="1"/>
          <p:nvPr/>
        </p:nvSpPr>
        <p:spPr>
          <a:xfrm>
            <a:off x="658368" y="731520"/>
            <a:ext cx="4206240" cy="502920"/>
          </a:xfrm>
          <a:prstGeom prst="rect">
            <a:avLst/>
          </a:prstGeom>
          <a:noFill/>
          <a:ln/>
        </p:spPr>
        <p:txBody>
          <a:bodyPr wrap="square" lIns="0" tIns="0" rIns="0" bIns="0" rtlCol="0" anchor="t"/>
          <a:lstStyle/>
          <a:p>
            <a:pPr marL="0" indent="0">
              <a:buNone/>
            </a:pPr>
            <a:r>
              <a:rPr lang="en-US" sz="1150" b="1" dirty="0">
                <a:solidFill>
                  <a:srgbClr val="2D3748"/>
                </a:solidFill>
              </a:rPr>
              <a:t>Install the driver</a:t>
            </a:r>
            <a:endParaRPr lang="en-US" sz="1150" dirty="0"/>
          </a:p>
          <a:p>
            <a:pPr marL="0" indent="0">
              <a:buNone/>
            </a:pPr>
            <a:r>
              <a:rPr lang="en-US" sz="850" dirty="0">
                <a:solidFill>
                  <a:srgbClr val="718096"/>
                </a:solidFill>
                <a:latin typeface="Consolas" pitchFamily="34" charset="0"/>
                <a:ea typeface="Consolas" pitchFamily="34" charset="-122"/>
                <a:cs typeface="Consolas" pitchFamily="34" charset="-120"/>
              </a:rPr>
              <a:t>pip install -r requirements.txt</a:t>
            </a:r>
            <a:endParaRPr lang="en-US" sz="1150" dirty="0"/>
          </a:p>
        </p:txBody>
      </p:sp>
      <p:sp>
        <p:nvSpPr>
          <p:cNvPr id="6" name="num-306"/>
          <p:cNvSpPr/>
          <p:nvPr/>
        </p:nvSpPr>
        <p:spPr>
          <a:xfrm>
            <a:off x="274320" y="1316736"/>
            <a:ext cx="292608" cy="292608"/>
          </a:xfrm>
          <a:prstGeom prst="ellipse">
            <a:avLst/>
          </a:prstGeom>
          <a:solidFill>
            <a:srgbClr val="F59E0B"/>
          </a:solidFill>
          <a:ln w="12700">
            <a:solidFill>
              <a:srgbClr val="F59E0B"/>
            </a:solidFill>
            <a:prstDash val="solid"/>
          </a:ln>
        </p:spPr>
        <p:txBody>
          <a:bodyPr/>
          <a:lstStyle/>
          <a:p>
            <a:endParaRPr lang="en-US"/>
          </a:p>
        </p:txBody>
      </p:sp>
      <p:sp>
        <p:nvSpPr>
          <p:cNvPr id="7" name="num-t-307"/>
          <p:cNvSpPr txBox="1"/>
          <p:nvPr/>
        </p:nvSpPr>
        <p:spPr>
          <a:xfrm>
            <a:off x="274320" y="1316736"/>
            <a:ext cx="292608" cy="292608"/>
          </a:xfrm>
          <a:prstGeom prst="rect">
            <a:avLst/>
          </a:prstGeom>
          <a:noFill/>
          <a:ln/>
        </p:spPr>
        <p:txBody>
          <a:bodyPr wrap="square" lIns="0" tIns="0" rIns="0" bIns="0" rtlCol="0" anchor="ctr"/>
          <a:lstStyle/>
          <a:p>
            <a:pPr marL="0" indent="0" algn="ctr">
              <a:buNone/>
            </a:pPr>
            <a:r>
              <a:rPr lang="en-US" sz="1300" b="1" dirty="0">
                <a:solidFill>
                  <a:srgbClr val="1A2535"/>
                </a:solidFill>
              </a:rPr>
              <a:t>2</a:t>
            </a:r>
            <a:endParaRPr lang="en-US" sz="1300" dirty="0"/>
          </a:p>
        </p:txBody>
      </p:sp>
      <p:sp>
        <p:nvSpPr>
          <p:cNvPr id="8" name="pg-step-308"/>
          <p:cNvSpPr txBox="1"/>
          <p:nvPr/>
        </p:nvSpPr>
        <p:spPr>
          <a:xfrm>
            <a:off x="658368" y="1280160"/>
            <a:ext cx="4206240" cy="502920"/>
          </a:xfrm>
          <a:prstGeom prst="rect">
            <a:avLst/>
          </a:prstGeom>
          <a:noFill/>
          <a:ln/>
        </p:spPr>
        <p:txBody>
          <a:bodyPr wrap="square" lIns="0" tIns="0" rIns="0" bIns="0" rtlCol="0" anchor="t"/>
          <a:lstStyle/>
          <a:p>
            <a:pPr marL="0" indent="0">
              <a:buNone/>
            </a:pPr>
            <a:r>
              <a:rPr lang="en-US" sz="1150" b="1" dirty="0">
                <a:solidFill>
                  <a:srgbClr val="2D3748"/>
                </a:solidFill>
              </a:rPr>
              <a:t>Point Python at PostgreSQL</a:t>
            </a:r>
            <a:endParaRPr lang="en-US" sz="1150" dirty="0"/>
          </a:p>
          <a:p>
            <a:pPr marL="0" indent="0">
              <a:buNone/>
            </a:pPr>
            <a:r>
              <a:rPr lang="en-US" sz="850" dirty="0">
                <a:solidFill>
                  <a:srgbClr val="718096"/>
                </a:solidFill>
                <a:latin typeface="Consolas" pitchFamily="34" charset="0"/>
                <a:ea typeface="Consolas" pitchFamily="34" charset="-122"/>
                <a:cs typeface="Consolas" pitchFamily="34" charset="-120"/>
              </a:rPr>
              <a:t>export DATABASE_URL="postgresql+psycopg://…/energy"</a:t>
            </a:r>
            <a:endParaRPr lang="en-US" sz="1150" dirty="0"/>
          </a:p>
        </p:txBody>
      </p:sp>
      <p:sp>
        <p:nvSpPr>
          <p:cNvPr id="9" name="num-309"/>
          <p:cNvSpPr/>
          <p:nvPr/>
        </p:nvSpPr>
        <p:spPr>
          <a:xfrm>
            <a:off x="274320" y="1865376"/>
            <a:ext cx="292608" cy="292608"/>
          </a:xfrm>
          <a:prstGeom prst="ellipse">
            <a:avLst/>
          </a:prstGeom>
          <a:solidFill>
            <a:srgbClr val="F59E0B"/>
          </a:solidFill>
          <a:ln w="12700">
            <a:solidFill>
              <a:srgbClr val="F59E0B"/>
            </a:solidFill>
            <a:prstDash val="solid"/>
          </a:ln>
        </p:spPr>
        <p:txBody>
          <a:bodyPr/>
          <a:lstStyle/>
          <a:p>
            <a:endParaRPr lang="en-US"/>
          </a:p>
        </p:txBody>
      </p:sp>
      <p:sp>
        <p:nvSpPr>
          <p:cNvPr id="10" name="num-t-310"/>
          <p:cNvSpPr txBox="1"/>
          <p:nvPr/>
        </p:nvSpPr>
        <p:spPr>
          <a:xfrm>
            <a:off x="274320" y="1865376"/>
            <a:ext cx="292608" cy="292608"/>
          </a:xfrm>
          <a:prstGeom prst="rect">
            <a:avLst/>
          </a:prstGeom>
          <a:noFill/>
          <a:ln/>
        </p:spPr>
        <p:txBody>
          <a:bodyPr wrap="square" lIns="0" tIns="0" rIns="0" bIns="0" rtlCol="0" anchor="ctr"/>
          <a:lstStyle/>
          <a:p>
            <a:pPr marL="0" indent="0" algn="ctr">
              <a:buNone/>
            </a:pPr>
            <a:r>
              <a:rPr lang="en-US" sz="1300" b="1" dirty="0">
                <a:solidFill>
                  <a:srgbClr val="1A2535"/>
                </a:solidFill>
              </a:rPr>
              <a:t>3</a:t>
            </a:r>
            <a:endParaRPr lang="en-US" sz="1300" dirty="0"/>
          </a:p>
        </p:txBody>
      </p:sp>
      <p:sp>
        <p:nvSpPr>
          <p:cNvPr id="11" name="pg-step-311"/>
          <p:cNvSpPr txBox="1"/>
          <p:nvPr/>
        </p:nvSpPr>
        <p:spPr>
          <a:xfrm>
            <a:off x="658368" y="1828800"/>
            <a:ext cx="4206240" cy="502920"/>
          </a:xfrm>
          <a:prstGeom prst="rect">
            <a:avLst/>
          </a:prstGeom>
          <a:noFill/>
          <a:ln/>
        </p:spPr>
        <p:txBody>
          <a:bodyPr wrap="square" lIns="0" tIns="0" rIns="0" bIns="0" rtlCol="0" anchor="t"/>
          <a:lstStyle/>
          <a:p>
            <a:pPr marL="0" indent="0">
              <a:buNone/>
            </a:pPr>
            <a:r>
              <a:rPr lang="en-US" sz="1150" b="1" dirty="0">
                <a:solidFill>
                  <a:srgbClr val="2D3748"/>
                </a:solidFill>
              </a:rPr>
              <a:t>Copy all three tables</a:t>
            </a:r>
            <a:endParaRPr lang="en-US" sz="1150" dirty="0"/>
          </a:p>
          <a:p>
            <a:pPr marL="0" indent="0">
              <a:buNone/>
            </a:pPr>
            <a:r>
              <a:rPr lang="en-US" sz="850" dirty="0">
                <a:solidFill>
                  <a:srgbClr val="718096"/>
                </a:solidFill>
                <a:latin typeface="Consolas" pitchFamily="34" charset="0"/>
                <a:ea typeface="Consolas" pitchFamily="34" charset="-122"/>
                <a:cs typeface="Consolas" pitchFamily="34" charset="-120"/>
              </a:rPr>
              <a:t>python migrate_sqlite_to_postgres.py</a:t>
            </a:r>
            <a:endParaRPr lang="en-US" sz="1150" dirty="0"/>
          </a:p>
        </p:txBody>
      </p:sp>
      <p:sp>
        <p:nvSpPr>
          <p:cNvPr id="12" name="num-312"/>
          <p:cNvSpPr/>
          <p:nvPr/>
        </p:nvSpPr>
        <p:spPr>
          <a:xfrm>
            <a:off x="274320" y="2414016"/>
            <a:ext cx="292608" cy="292608"/>
          </a:xfrm>
          <a:prstGeom prst="ellipse">
            <a:avLst/>
          </a:prstGeom>
          <a:solidFill>
            <a:srgbClr val="F59E0B"/>
          </a:solidFill>
          <a:ln w="12700">
            <a:solidFill>
              <a:srgbClr val="F59E0B"/>
            </a:solidFill>
            <a:prstDash val="solid"/>
          </a:ln>
        </p:spPr>
        <p:txBody>
          <a:bodyPr/>
          <a:lstStyle/>
          <a:p>
            <a:endParaRPr lang="en-US"/>
          </a:p>
        </p:txBody>
      </p:sp>
      <p:sp>
        <p:nvSpPr>
          <p:cNvPr id="13" name="num-t-313"/>
          <p:cNvSpPr txBox="1"/>
          <p:nvPr/>
        </p:nvSpPr>
        <p:spPr>
          <a:xfrm>
            <a:off x="274320" y="2414016"/>
            <a:ext cx="292608" cy="292608"/>
          </a:xfrm>
          <a:prstGeom prst="rect">
            <a:avLst/>
          </a:prstGeom>
          <a:noFill/>
          <a:ln/>
        </p:spPr>
        <p:txBody>
          <a:bodyPr wrap="square" lIns="0" tIns="0" rIns="0" bIns="0" rtlCol="0" anchor="ctr"/>
          <a:lstStyle/>
          <a:p>
            <a:pPr marL="0" indent="0" algn="ctr">
              <a:buNone/>
            </a:pPr>
            <a:r>
              <a:rPr lang="en-US" sz="1300" b="1" dirty="0">
                <a:solidFill>
                  <a:srgbClr val="1A2535"/>
                </a:solidFill>
              </a:rPr>
              <a:t>4</a:t>
            </a:r>
            <a:endParaRPr lang="en-US" sz="1300" dirty="0"/>
          </a:p>
        </p:txBody>
      </p:sp>
      <p:sp>
        <p:nvSpPr>
          <p:cNvPr id="14" name="pg-step-314"/>
          <p:cNvSpPr txBox="1"/>
          <p:nvPr/>
        </p:nvSpPr>
        <p:spPr>
          <a:xfrm>
            <a:off x="658368" y="2377440"/>
            <a:ext cx="4206240" cy="502920"/>
          </a:xfrm>
          <a:prstGeom prst="rect">
            <a:avLst/>
          </a:prstGeom>
          <a:noFill/>
          <a:ln/>
        </p:spPr>
        <p:txBody>
          <a:bodyPr wrap="square" lIns="0" tIns="0" rIns="0" bIns="0" rtlCol="0" anchor="t"/>
          <a:lstStyle/>
          <a:p>
            <a:pPr marL="0" indent="0">
              <a:buNone/>
            </a:pPr>
            <a:r>
              <a:rPr lang="en-US" sz="1150" b="1" dirty="0">
                <a:solidFill>
                  <a:srgbClr val="2D3748"/>
                </a:solidFill>
              </a:rPr>
              <a:t>Run the same app</a:t>
            </a:r>
            <a:endParaRPr lang="en-US" sz="1150" dirty="0"/>
          </a:p>
          <a:p>
            <a:pPr marL="0" indent="0">
              <a:buNone/>
            </a:pPr>
            <a:r>
              <a:rPr lang="en-US" sz="850" dirty="0">
                <a:solidFill>
                  <a:srgbClr val="718096"/>
                </a:solidFill>
                <a:latin typeface="Consolas" pitchFamily="34" charset="0"/>
                <a:ea typeface="Consolas" pitchFamily="34" charset="-122"/>
                <a:cs typeface="Consolas" pitchFamily="34" charset="-120"/>
              </a:rPr>
              <a:t>cd ../code  ·  python test_api.py  ·  uvicorn app:app --reload</a:t>
            </a:r>
            <a:endParaRPr lang="en-US" sz="1150" dirty="0"/>
          </a:p>
        </p:txBody>
      </p:sp>
      <p:sp>
        <p:nvSpPr>
          <p:cNvPr id="15" name="code-bg-315"/>
          <p:cNvSpPr/>
          <p:nvPr/>
        </p:nvSpPr>
        <p:spPr>
          <a:xfrm>
            <a:off x="5029200" y="731520"/>
            <a:ext cx="3840480" cy="1280160"/>
          </a:xfrm>
          <a:prstGeom prst="roundRect">
            <a:avLst>
              <a:gd name="adj" fmla="val 4286"/>
            </a:avLst>
          </a:prstGeom>
          <a:solidFill>
            <a:srgbClr val="1A2535"/>
          </a:solidFill>
          <a:ln w="12700">
            <a:solidFill>
              <a:srgbClr val="1A2535"/>
            </a:solidFill>
            <a:prstDash val="solid"/>
          </a:ln>
        </p:spPr>
        <p:txBody>
          <a:bodyPr/>
          <a:lstStyle/>
          <a:p>
            <a:endParaRPr lang="en-US"/>
          </a:p>
        </p:txBody>
      </p:sp>
      <p:sp>
        <p:nvSpPr>
          <p:cNvPr id="16" name="code-title-316"/>
          <p:cNvSpPr txBox="1"/>
          <p:nvPr/>
        </p:nvSpPr>
        <p:spPr>
          <a:xfrm>
            <a:off x="5166360" y="804672"/>
            <a:ext cx="3566160" cy="219456"/>
          </a:xfrm>
          <a:prstGeom prst="rect">
            <a:avLst/>
          </a:prstGeom>
          <a:noFill/>
          <a:ln/>
        </p:spPr>
        <p:txBody>
          <a:bodyPr wrap="square" lIns="0" tIns="0" rIns="0" bIns="0" rtlCol="0" anchor="ctr"/>
          <a:lstStyle/>
          <a:p>
            <a:pPr marL="0" indent="0">
              <a:buNone/>
            </a:pPr>
            <a:r>
              <a:rPr lang="en-US" sz="950" b="1" dirty="0">
                <a:solidFill>
                  <a:srgbClr val="F59E0B"/>
                </a:solidFill>
              </a:rPr>
              <a:t>▶ Real output</a:t>
            </a:r>
            <a:endParaRPr lang="en-US" sz="950" dirty="0"/>
          </a:p>
        </p:txBody>
      </p:sp>
      <p:sp>
        <p:nvSpPr>
          <p:cNvPr id="17" name="code-317"/>
          <p:cNvSpPr txBox="1"/>
          <p:nvPr/>
        </p:nvSpPr>
        <p:spPr>
          <a:xfrm>
            <a:off x="5166360" y="1060704"/>
            <a:ext cx="3566160" cy="877824"/>
          </a:xfrm>
          <a:prstGeom prst="rect">
            <a:avLst/>
          </a:prstGeom>
          <a:noFill/>
          <a:ln/>
        </p:spPr>
        <p:txBody>
          <a:bodyPr wrap="square" lIns="0" tIns="0" rIns="0" bIns="0" rtlCol="0" anchor="t"/>
          <a:lstStyle/>
          <a:p>
            <a:pPr marL="0" indent="0">
              <a:lnSpc>
                <a:spcPct val="105000"/>
              </a:lnSpc>
              <a:buNone/>
            </a:pPr>
            <a:r>
              <a:rPr lang="en-US" sz="950" dirty="0">
                <a:solidFill>
                  <a:srgbClr val="E2E8F0"/>
                </a:solidFill>
                <a:latin typeface="Consolas" pitchFamily="34" charset="0"/>
                <a:ea typeface="Consolas" pitchFamily="34" charset="-122"/>
                <a:cs typeface="Consolas" pitchFamily="34" charset="-120"/>
              </a:rPr>
              <a:t>table           SQLite  PostgreSQL</a:t>
            </a:r>
            <a:endParaRPr lang="en-US" sz="950" dirty="0"/>
          </a:p>
          <a:p>
            <a:pPr marL="0" indent="0">
              <a:lnSpc>
                <a:spcPct val="105000"/>
              </a:lnSpc>
              <a:buNone/>
            </a:pPr>
            <a:r>
              <a:rPr lang="en-US" sz="950" dirty="0">
                <a:solidFill>
                  <a:srgbClr val="E2E8F0"/>
                </a:solidFill>
                <a:latin typeface="Consolas" pitchFamily="34" charset="0"/>
                <a:ea typeface="Consolas" pitchFamily="34" charset="-122"/>
                <a:cs typeface="Consolas" pitchFamily="34" charset="-120"/>
              </a:rPr>
              <a:t>readings         5,664       5,664   ✓</a:t>
            </a:r>
            <a:endParaRPr lang="en-US" sz="950" dirty="0"/>
          </a:p>
          <a:p>
            <a:pPr marL="0" indent="0">
              <a:lnSpc>
                <a:spcPct val="105000"/>
              </a:lnSpc>
              <a:buNone/>
            </a:pPr>
            <a:r>
              <a:rPr lang="en-US" sz="950" dirty="0">
                <a:solidFill>
                  <a:srgbClr val="E2E8F0"/>
                </a:solidFill>
                <a:latin typeface="Consolas" pitchFamily="34" charset="0"/>
                <a:ea typeface="Consolas" pitchFamily="34" charset="-122"/>
                <a:cs typeface="Consolas" pitchFamily="34" charset="-120"/>
              </a:rPr>
              <a:t>calculations         2           2   ✓</a:t>
            </a:r>
            <a:endParaRPr lang="en-US" sz="950" dirty="0"/>
          </a:p>
          <a:p>
            <a:pPr marL="0" indent="0">
              <a:lnSpc>
                <a:spcPct val="105000"/>
              </a:lnSpc>
              <a:buNone/>
            </a:pPr>
            <a:r>
              <a:rPr lang="en-US" sz="950" dirty="0">
                <a:solidFill>
                  <a:srgbClr val="E2E8F0"/>
                </a:solidFill>
                <a:latin typeface="Consolas" pitchFamily="34" charset="0"/>
                <a:ea typeface="Consolas" pitchFamily="34" charset="-122"/>
                <a:cs typeface="Consolas" pitchFamily="34" charset="-120"/>
              </a:rPr>
              <a:t>appliances           2           2   ✓</a:t>
            </a:r>
            <a:endParaRPr lang="en-US" sz="950" dirty="0"/>
          </a:p>
        </p:txBody>
      </p:sp>
      <p:sp>
        <p:nvSpPr>
          <p:cNvPr id="18" name="code-bg-318"/>
          <p:cNvSpPr/>
          <p:nvPr/>
        </p:nvSpPr>
        <p:spPr>
          <a:xfrm>
            <a:off x="5029200" y="2148840"/>
            <a:ext cx="3840480" cy="1143000"/>
          </a:xfrm>
          <a:prstGeom prst="roundRect">
            <a:avLst>
              <a:gd name="adj" fmla="val 4800"/>
            </a:avLst>
          </a:prstGeom>
          <a:solidFill>
            <a:srgbClr val="1A2535"/>
          </a:solidFill>
          <a:ln w="12700">
            <a:solidFill>
              <a:srgbClr val="1A2535"/>
            </a:solidFill>
            <a:prstDash val="solid"/>
          </a:ln>
        </p:spPr>
        <p:txBody>
          <a:bodyPr/>
          <a:lstStyle/>
          <a:p>
            <a:endParaRPr lang="en-US"/>
          </a:p>
        </p:txBody>
      </p:sp>
      <p:sp>
        <p:nvSpPr>
          <p:cNvPr id="19" name="code-title-319"/>
          <p:cNvSpPr txBox="1"/>
          <p:nvPr/>
        </p:nvSpPr>
        <p:spPr>
          <a:xfrm>
            <a:off x="5166360" y="2221992"/>
            <a:ext cx="3566160" cy="219456"/>
          </a:xfrm>
          <a:prstGeom prst="rect">
            <a:avLst/>
          </a:prstGeom>
          <a:noFill/>
          <a:ln/>
        </p:spPr>
        <p:txBody>
          <a:bodyPr wrap="square" lIns="0" tIns="0" rIns="0" bIns="0" rtlCol="0" anchor="ctr"/>
          <a:lstStyle/>
          <a:p>
            <a:pPr marL="0" indent="0">
              <a:buNone/>
            </a:pPr>
            <a:r>
              <a:rPr lang="en-US" sz="950" b="1" dirty="0">
                <a:solidFill>
                  <a:srgbClr val="F59E0B"/>
                </a:solidFill>
              </a:rPr>
              <a:t>▶ test_api.py on PostgreSQL — same answers</a:t>
            </a:r>
            <a:endParaRPr lang="en-US" sz="950" dirty="0"/>
          </a:p>
        </p:txBody>
      </p:sp>
      <p:sp>
        <p:nvSpPr>
          <p:cNvPr id="20" name="code-320"/>
          <p:cNvSpPr txBox="1"/>
          <p:nvPr/>
        </p:nvSpPr>
        <p:spPr>
          <a:xfrm>
            <a:off x="5166360" y="2478024"/>
            <a:ext cx="3566160" cy="740664"/>
          </a:xfrm>
          <a:prstGeom prst="rect">
            <a:avLst/>
          </a:prstGeom>
          <a:noFill/>
          <a:ln/>
        </p:spPr>
        <p:txBody>
          <a:bodyPr wrap="square" lIns="0" tIns="0" rIns="0" bIns="0" rtlCol="0" anchor="t"/>
          <a:lstStyle/>
          <a:p>
            <a:pPr marL="0" indent="0">
              <a:lnSpc>
                <a:spcPct val="105000"/>
              </a:lnSpc>
              <a:buNone/>
            </a:pPr>
            <a:r>
              <a:rPr lang="en-US" sz="950" dirty="0">
                <a:solidFill>
                  <a:srgbClr val="E2E8F0"/>
                </a:solidFill>
                <a:latin typeface="Consolas" pitchFamily="34" charset="0"/>
                <a:ea typeface="Consolas" pitchFamily="34" charset="-122"/>
                <a:cs typeface="Consolas" pitchFamily="34" charset="-120"/>
              </a:rPr>
              <a:t>peak_load_kw: 859.0 at 13:00</a:t>
            </a:r>
            <a:endParaRPr lang="en-US" sz="950" dirty="0"/>
          </a:p>
          <a:p>
            <a:pPr marL="0" indent="0">
              <a:lnSpc>
                <a:spcPct val="105000"/>
              </a:lnSpc>
              <a:buNone/>
            </a:pPr>
            <a:r>
              <a:rPr lang="en-US" sz="950" dirty="0">
                <a:solidFill>
                  <a:srgbClr val="E2E8F0"/>
                </a:solidFill>
                <a:latin typeface="Consolas" pitchFamily="34" charset="0"/>
                <a:ea typeface="Consolas" pitchFamily="34" charset="-122"/>
                <a:cs typeface="Consolas" pitchFamily="34" charset="-120"/>
              </a:rPr>
              <a:t>peak_loading_pct: 106.4 at 12:45</a:t>
            </a:r>
            <a:endParaRPr lang="en-US" sz="950" dirty="0"/>
          </a:p>
          <a:p>
            <a:pPr marL="0" indent="0">
              <a:lnSpc>
                <a:spcPct val="105000"/>
              </a:lnSpc>
              <a:buNone/>
            </a:pPr>
            <a:r>
              <a:rPr lang="en-US" sz="950" dirty="0">
                <a:solidFill>
                  <a:srgbClr val="E2E8F0"/>
                </a:solidFill>
                <a:latin typeface="Consolas" pitchFamily="34" charset="0"/>
                <a:ea typeface="Consolas" pitchFamily="34" charset="-122"/>
                <a:cs typeface="Consolas" pitchFamily="34" charset="-120"/>
              </a:rPr>
              <a:t>/summary?day=2026-05-01 -&gt; 404</a:t>
            </a:r>
            <a:endParaRPr lang="en-US" sz="950" dirty="0"/>
          </a:p>
        </p:txBody>
      </p:sp>
      <p:sp>
        <p:nvSpPr>
          <p:cNvPr id="21" name="note-321"/>
          <p:cNvSpPr/>
          <p:nvPr/>
        </p:nvSpPr>
        <p:spPr>
          <a:xfrm>
            <a:off x="274320" y="3017520"/>
            <a:ext cx="4572000" cy="1188720"/>
          </a:xfrm>
          <a:prstGeom prst="roundRect">
            <a:avLst>
              <a:gd name="adj" fmla="val 3846"/>
            </a:avLst>
          </a:prstGeom>
          <a:solidFill>
            <a:srgbClr val="FFF8E7"/>
          </a:solidFill>
          <a:ln w="12700">
            <a:solidFill>
              <a:srgbClr val="F6D9A8"/>
            </a:solidFill>
            <a:prstDash val="solid"/>
          </a:ln>
        </p:spPr>
        <p:txBody>
          <a:bodyPr/>
          <a:lstStyle/>
          <a:p>
            <a:endParaRPr lang="en-US"/>
          </a:p>
        </p:txBody>
      </p:sp>
      <p:sp>
        <p:nvSpPr>
          <p:cNvPr id="22" name="note-t-322"/>
          <p:cNvSpPr txBox="1"/>
          <p:nvPr/>
        </p:nvSpPr>
        <p:spPr>
          <a:xfrm>
            <a:off x="411480" y="3063240"/>
            <a:ext cx="4297680" cy="1097280"/>
          </a:xfrm>
          <a:prstGeom prst="rect">
            <a:avLst/>
          </a:prstGeom>
          <a:noFill/>
          <a:ln/>
        </p:spPr>
        <p:txBody>
          <a:bodyPr wrap="square" lIns="0" tIns="0" rIns="0" bIns="0" rtlCol="0" anchor="ctr"/>
          <a:lstStyle/>
          <a:p>
            <a:pPr marL="0" indent="0">
              <a:buNone/>
            </a:pPr>
            <a:r>
              <a:rPr lang="en-US" sz="1000" dirty="0">
                <a:solidFill>
                  <a:srgbClr val="2D3748"/>
                </a:solidFill>
              </a:rPr>
              <a:t>The script uses the same classes as the app, copies everything in one transaction (all or nothing), and sets the id counters to continue after the copied rows. Safe to run again.</a:t>
            </a:r>
            <a:endParaRPr lang="en-US" sz="1000" dirty="0"/>
          </a:p>
        </p:txBody>
      </p:sp>
      <p:sp>
        <p:nvSpPr>
          <p:cNvPr id="23" name="lab-323"/>
          <p:cNvSpPr/>
          <p:nvPr/>
        </p:nvSpPr>
        <p:spPr>
          <a:xfrm>
            <a:off x="274320" y="4498848"/>
            <a:ext cx="8595360" cy="384048"/>
          </a:xfrm>
          <a:prstGeom prst="roundRect">
            <a:avLst>
              <a:gd name="adj" fmla="val 11905"/>
            </a:avLst>
          </a:prstGeom>
          <a:solidFill>
            <a:srgbClr val="FFF8E7"/>
          </a:solidFill>
          <a:ln w="12700">
            <a:solidFill>
              <a:srgbClr val="F6D9A8"/>
            </a:solidFill>
            <a:prstDash val="solid"/>
          </a:ln>
        </p:spPr>
        <p:txBody>
          <a:bodyPr/>
          <a:lstStyle/>
          <a:p>
            <a:endParaRPr lang="en-US"/>
          </a:p>
        </p:txBody>
      </p:sp>
      <p:sp>
        <p:nvSpPr>
          <p:cNvPr id="24" name="lab-t-324"/>
          <p:cNvSpPr txBox="1"/>
          <p:nvPr/>
        </p:nvSpPr>
        <p:spPr>
          <a:xfrm>
            <a:off x="411480" y="4507992"/>
            <a:ext cx="8321040" cy="365760"/>
          </a:xfrm>
          <a:prstGeom prst="rect">
            <a:avLst/>
          </a:prstGeom>
          <a:noFill/>
          <a:ln/>
        </p:spPr>
        <p:txBody>
          <a:bodyPr wrap="square" lIns="0" tIns="0" rIns="0" bIns="0" rtlCol="0" anchor="ctr"/>
          <a:lstStyle/>
          <a:p>
            <a:pPr marL="0" indent="0">
              <a:buNone/>
            </a:pPr>
            <a:r>
              <a:rPr lang="en-US" sz="1050" b="1" dirty="0">
                <a:solidFill>
                  <a:srgbClr val="2D3748"/>
                </a:solidFill>
              </a:rPr>
              <a:t>Look inside:  </a:t>
            </a:r>
            <a:r>
              <a:rPr lang="en-US" sz="1050" dirty="0">
                <a:solidFill>
                  <a:srgbClr val="2D3748"/>
                </a:solidFill>
              </a:rPr>
              <a:t>docker exec -it mgit-postgres psql -U mgit -d energy -c "SELECT COUNT(*) FROM readings;"  →  5664</a:t>
            </a:r>
            <a:endParaRPr lang="en-US" sz="1050" dirty="0"/>
          </a:p>
        </p:txBody>
      </p:sp>
      <p:sp>
        <p:nvSpPr>
          <p:cNvPr id="25" name="Slide Number Placeholder 0"/>
          <p:cNvSpPr>
            <a:spLocks noGrp="1"/>
          </p:cNvSpPr>
          <p:nvPr>
            <p:ph type="sldNum" sz="quarter" idx="4294967295"/>
          </p:nvPr>
        </p:nvSpPr>
        <p:spPr>
          <a:xfrm>
            <a:off x="8549640" y="4919472"/>
            <a:ext cx="36576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718096"/>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1097280" y="91440"/>
            <a:ext cx="7772400" cy="347472"/>
          </a:xfrm>
          <a:prstGeom prst="rect">
            <a:avLst/>
          </a:prstGeom>
          <a:noFill/>
          <a:ln/>
        </p:spPr>
        <p:txBody>
          <a:bodyPr wrap="square" lIns="0" tIns="0" rIns="0" bIns="0" rtlCol="0" anchor="ctr"/>
          <a:lstStyle/>
          <a:p>
            <a:pPr marL="0" indent="0" algn="l">
              <a:buNone/>
            </a:pPr>
            <a:r>
              <a:rPr lang="en-US" sz="1300" b="1" dirty="0">
                <a:solidFill>
                  <a:srgbClr val="F59E0B"/>
                </a:solidFill>
              </a:rPr>
              <a:t>YOUR TURN  ·  Convert the remaining days to PostgreSQL</a:t>
            </a:r>
            <a:endParaRPr lang="en-US" sz="1300" dirty="0"/>
          </a:p>
        </p:txBody>
      </p:sp>
      <p:sp>
        <p:nvSpPr>
          <p:cNvPr id="3" name="code-bg-325"/>
          <p:cNvSpPr/>
          <p:nvPr/>
        </p:nvSpPr>
        <p:spPr>
          <a:xfrm>
            <a:off x="274320" y="713232"/>
            <a:ext cx="8595360" cy="868680"/>
          </a:xfrm>
          <a:prstGeom prst="roundRect">
            <a:avLst>
              <a:gd name="adj" fmla="val 6316"/>
            </a:avLst>
          </a:prstGeom>
          <a:solidFill>
            <a:srgbClr val="1A2535"/>
          </a:solidFill>
          <a:ln w="12700">
            <a:solidFill>
              <a:srgbClr val="1A2535"/>
            </a:solidFill>
            <a:prstDash val="solid"/>
          </a:ln>
        </p:spPr>
        <p:txBody>
          <a:bodyPr/>
          <a:lstStyle/>
          <a:p>
            <a:endParaRPr lang="en-US"/>
          </a:p>
        </p:txBody>
      </p:sp>
      <p:sp>
        <p:nvSpPr>
          <p:cNvPr id="4" name="code-title-326"/>
          <p:cNvSpPr txBox="1"/>
          <p:nvPr/>
        </p:nvSpPr>
        <p:spPr>
          <a:xfrm>
            <a:off x="411480" y="786384"/>
            <a:ext cx="8321040" cy="219456"/>
          </a:xfrm>
          <a:prstGeom prst="rect">
            <a:avLst/>
          </a:prstGeom>
          <a:noFill/>
          <a:ln/>
        </p:spPr>
        <p:txBody>
          <a:bodyPr wrap="square" lIns="0" tIns="0" rIns="0" bIns="0" rtlCol="0" anchor="ctr"/>
          <a:lstStyle/>
          <a:p>
            <a:pPr marL="0" indent="0">
              <a:buNone/>
            </a:pPr>
            <a:r>
              <a:rPr lang="en-US" sz="950" b="1" dirty="0">
                <a:solidFill>
                  <a:srgbClr val="F59E0B"/>
                </a:solidFill>
              </a:rPr>
              <a:t>The same two-line change in every db.py</a:t>
            </a:r>
            <a:endParaRPr lang="en-US" sz="950" dirty="0"/>
          </a:p>
        </p:txBody>
      </p:sp>
      <p:sp>
        <p:nvSpPr>
          <p:cNvPr id="5" name="code-327"/>
          <p:cNvSpPr txBox="1"/>
          <p:nvPr/>
        </p:nvSpPr>
        <p:spPr>
          <a:xfrm>
            <a:off x="411480" y="1042416"/>
            <a:ext cx="8321040" cy="466344"/>
          </a:xfrm>
          <a:prstGeom prst="rect">
            <a:avLst/>
          </a:prstGeom>
          <a:noFill/>
          <a:ln/>
        </p:spPr>
        <p:txBody>
          <a:bodyPr wrap="square" lIns="0" tIns="0" rIns="0" bIns="0" rtlCol="0" anchor="t"/>
          <a:lstStyle/>
          <a:p>
            <a:pPr marL="0" indent="0">
              <a:lnSpc>
                <a:spcPct val="105000"/>
              </a:lnSpc>
              <a:buNone/>
            </a:pPr>
            <a:r>
              <a:rPr lang="en-US" sz="950" dirty="0">
                <a:solidFill>
                  <a:srgbClr val="E2E8F0"/>
                </a:solidFill>
                <a:latin typeface="Consolas" pitchFamily="34" charset="0"/>
                <a:ea typeface="Consolas" pitchFamily="34" charset="-122"/>
                <a:cs typeface="Consolas" pitchFamily="34" charset="-120"/>
              </a:rPr>
              <a:t>import os                                                                  # 1. add at the top</a:t>
            </a:r>
            <a:endParaRPr lang="en-US" sz="950" dirty="0"/>
          </a:p>
          <a:p>
            <a:pPr marL="0" indent="0">
              <a:lnSpc>
                <a:spcPct val="105000"/>
              </a:lnSpc>
              <a:buNone/>
            </a:pPr>
            <a:r>
              <a:rPr lang="en-US" sz="950" dirty="0">
                <a:solidFill>
                  <a:srgbClr val="E2E8F0"/>
                </a:solidFill>
                <a:latin typeface="Consolas" pitchFamily="34" charset="0"/>
                <a:ea typeface="Consolas" pitchFamily="34" charset="-122"/>
                <a:cs typeface="Consolas" pitchFamily="34" charset="-120"/>
              </a:rPr>
              <a:t>DATABASE_URL = os.environ.get("DATABASE_URL", f"sqlite:///{DB_FILE}")      # 2. replace the line</a:t>
            </a:r>
            <a:endParaRPr lang="en-US" sz="950" dirty="0"/>
          </a:p>
        </p:txBody>
      </p:sp>
      <p:graphicFrame>
        <p:nvGraphicFramePr>
          <p:cNvPr id="24" name="table-328"/>
          <p:cNvGraphicFramePr>
            <a:graphicFrameLocks noGrp="1"/>
          </p:cNvGraphicFramePr>
          <p:nvPr>
            <p:extLst>
              <p:ext uri="{D42A27DB-BD31-4B8C-83A1-F6EECF244321}">
                <p14:modId xmlns:p14="http://schemas.microsoft.com/office/powerpoint/2010/main" val="1579011935"/>
              </p:ext>
            </p:extLst>
          </p:nvPr>
        </p:nvGraphicFramePr>
        <p:xfrm>
          <a:off x="274320" y="1737360"/>
          <a:ext cx="8595360" cy="914400"/>
        </p:xfrm>
        <a:graphic>
          <a:graphicData uri="http://schemas.openxmlformats.org/drawingml/2006/table">
            <a:tbl>
              <a:tblPr/>
              <a:tblGrid>
                <a:gridCol w="2011680">
                  <a:extLst>
                    <a:ext uri="{9D8B030D-6E8A-4147-A177-3AD203B41FA5}">
                      <a16:colId xmlns:a16="http://schemas.microsoft.com/office/drawing/2014/main" val="20000"/>
                    </a:ext>
                  </a:extLst>
                </a:gridCol>
                <a:gridCol w="374904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tblGrid>
              <a:tr h="329184">
                <a:tc>
                  <a:txBody>
                    <a:bodyPr/>
                    <a:lstStyle/>
                    <a:p>
                      <a:pPr marL="0" indent="0">
                        <a:buNone/>
                      </a:pPr>
                      <a:r>
                        <a:rPr lang="en-US" sz="1000" b="1" dirty="0">
                          <a:solidFill>
                            <a:srgbClr val="FFFFFF"/>
                          </a:solidFill>
                        </a:rPr>
                        <a:t>Convert</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D3748"/>
                    </a:solidFill>
                  </a:tcPr>
                </a:tc>
                <a:tc>
                  <a:txBody>
                    <a:bodyPr/>
                    <a:lstStyle/>
                    <a:p>
                      <a:pPr marL="0" indent="0">
                        <a:buNone/>
                      </a:pPr>
                      <a:r>
                        <a:rPr lang="en-US" sz="1000" b="1" dirty="0">
                          <a:solidFill>
                            <a:srgbClr val="FFFFFF"/>
                          </a:solidFill>
                        </a:rPr>
                        <a:t>File</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D3748"/>
                    </a:solidFill>
                  </a:tcPr>
                </a:tc>
                <a:tc>
                  <a:txBody>
                    <a:bodyPr/>
                    <a:lstStyle/>
                    <a:p>
                      <a:pPr marL="0" indent="0">
                        <a:buNone/>
                      </a:pPr>
                      <a:r>
                        <a:rPr lang="en-US" sz="1000" b="1" dirty="0">
                          <a:solidFill>
                            <a:srgbClr val="FFFFFF"/>
                          </a:solidFill>
                        </a:rPr>
                        <a:t>Check it with</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D3748"/>
                    </a:solidFill>
                  </a:tcPr>
                </a:tc>
                <a:extLst>
                  <a:ext uri="{0D108BD9-81ED-4DB2-BD59-A6C34878D82A}">
                    <a16:rowId xmlns:a16="http://schemas.microsoft.com/office/drawing/2014/main" val="10000"/>
                  </a:ext>
                </a:extLst>
              </a:tr>
              <a:tr h="329184">
                <a:tc>
                  <a:txBody>
                    <a:bodyPr/>
                    <a:lstStyle/>
                    <a:p>
                      <a:pPr marL="0" indent="0">
                        <a:buNone/>
                      </a:pPr>
                      <a:r>
                        <a:rPr lang="en-US" sz="1000" dirty="0">
                          <a:solidFill>
                            <a:srgbClr val="2D3748"/>
                          </a:solidFill>
                        </a:rPr>
                        <a:t>Day 3 — dashboard</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2D3748"/>
                          </a:solidFill>
                          <a:latin typeface="Consolas" pitchFamily="34" charset="0"/>
                          <a:ea typeface="Consolas" pitchFamily="34" charset="-122"/>
                          <a:cs typeface="Consolas" pitchFamily="34" charset="-120"/>
                        </a:rPr>
                        <a:t>day3_wed_ui/code/db.py</a:t>
                      </a:r>
                      <a:endParaRPr lang="en-US" sz="900" dirty="0">
                        <a:latin typeface="Consolas" charset="0"/>
                        <a:ea typeface="Consolas" charset="0"/>
                        <a:cs typeface="Consolas" charset="0"/>
                      </a:endParaRPr>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the API + the Streamlit dashboard show the same numbers</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buNone/>
                      </a:pPr>
                      <a:r>
                        <a:rPr lang="en-US" sz="1000" dirty="0">
                          <a:solidFill>
                            <a:srgbClr val="2D3748"/>
                          </a:solidFill>
                        </a:rPr>
                        <a:t>Day 4 — LLM</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2D3748"/>
                          </a:solidFill>
                          <a:latin typeface="Consolas" pitchFamily="34" charset="0"/>
                          <a:ea typeface="Consolas" pitchFamily="34" charset="-122"/>
                          <a:cs typeface="Consolas" pitchFamily="34" charset="-120"/>
                        </a:rPr>
                        <a:t>day4_thu_llm/code/db.py</a:t>
                      </a:r>
                      <a:endParaRPr lang="en-US" sz="900" dirty="0">
                        <a:latin typeface="Consolas" charset="0"/>
                        <a:ea typeface="Consolas" charset="0"/>
                        <a:cs typeface="Consolas" charset="0"/>
                      </a:endParaRPr>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the LLM answers from PostgreSQL data</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9184">
                <a:tc>
                  <a:txBody>
                    <a:bodyPr/>
                    <a:lstStyle/>
                    <a:p>
                      <a:pPr marL="0" indent="0">
                        <a:buNone/>
                      </a:pPr>
                      <a:r>
                        <a:rPr lang="en-US" sz="1000" dirty="0">
                          <a:solidFill>
                            <a:srgbClr val="2D3748"/>
                          </a:solidFill>
                        </a:rPr>
                        <a:t>Day 5 — agent</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2D3748"/>
                          </a:solidFill>
                          <a:latin typeface="Consolas" pitchFamily="34" charset="0"/>
                          <a:ea typeface="Consolas" pitchFamily="34" charset="-122"/>
                          <a:cs typeface="Consolas" pitchFamily="34" charset="-120"/>
                        </a:rPr>
                        <a:t>day5_fri_agent/code/db.py</a:t>
                      </a:r>
                      <a:endParaRPr lang="en-US" sz="900" dirty="0">
                        <a:latin typeface="Consolas" charset="0"/>
                        <a:ea typeface="Consolas" charset="0"/>
                        <a:cs typeface="Consolas" charset="0"/>
                      </a:endParaRPr>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the agent's tools return the same peak days</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buNone/>
                      </a:pPr>
                      <a:r>
                        <a:rPr lang="en-US" sz="1000" dirty="0">
                          <a:solidFill>
                            <a:srgbClr val="2D3748"/>
                          </a:solidFill>
                        </a:rPr>
                        <a:t>Day 5 — MCP server</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2D3748"/>
                          </a:solidFill>
                          <a:latin typeface="Consolas" pitchFamily="34" charset="0"/>
                          <a:ea typeface="Consolas" pitchFamily="34" charset="-122"/>
                          <a:cs typeface="Consolas" pitchFamily="34" charset="-120"/>
                        </a:rPr>
                        <a:t>day5_fri_agent/mcp/code/db.py</a:t>
                      </a:r>
                      <a:endParaRPr lang="en-US" sz="900" dirty="0">
                        <a:latin typeface="Consolas" charset="0"/>
                        <a:ea typeface="Consolas" charset="0"/>
                        <a:cs typeface="Consolas" charset="0"/>
                      </a:endParaRPr>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an MCP client gets the same summary</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29184">
                <a:tc>
                  <a:txBody>
                    <a:bodyPr/>
                    <a:lstStyle/>
                    <a:p>
                      <a:pPr marL="0" indent="0">
                        <a:buNone/>
                      </a:pPr>
                      <a:r>
                        <a:rPr lang="en-US" sz="1000" dirty="0">
                          <a:solidFill>
                            <a:srgbClr val="2D3748"/>
                          </a:solidFill>
                        </a:rPr>
                        <a:t>Bonus — digital twin</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2D3748"/>
                          </a:solidFill>
                          <a:latin typeface="Consolas" pitchFamily="34" charset="0"/>
                          <a:ea typeface="Consolas" pitchFamily="34" charset="-122"/>
                          <a:cs typeface="Consolas" pitchFamily="34" charset="-120"/>
                        </a:rPr>
                        <a:t>bonus_twin_capstone/2_digital_twin/code/db.py</a:t>
                      </a:r>
                      <a:endParaRPr lang="en-US" sz="900" dirty="0">
                        <a:latin typeface="Consolas" charset="0"/>
                        <a:ea typeface="Consolas" charset="0"/>
                        <a:cs typeface="Consolas" charset="0"/>
                      </a:endParaRPr>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the twin's temperatures match the page</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lab-329"/>
          <p:cNvSpPr/>
          <p:nvPr/>
        </p:nvSpPr>
        <p:spPr>
          <a:xfrm>
            <a:off x="274320" y="4498848"/>
            <a:ext cx="8595360" cy="384048"/>
          </a:xfrm>
          <a:prstGeom prst="roundRect">
            <a:avLst>
              <a:gd name="adj" fmla="val 11905"/>
            </a:avLst>
          </a:prstGeom>
          <a:solidFill>
            <a:srgbClr val="FFF8E7"/>
          </a:solidFill>
          <a:ln w="12700">
            <a:solidFill>
              <a:srgbClr val="F6D9A8"/>
            </a:solidFill>
            <a:prstDash val="solid"/>
          </a:ln>
        </p:spPr>
        <p:txBody>
          <a:bodyPr/>
          <a:lstStyle/>
          <a:p>
            <a:endParaRPr lang="en-US"/>
          </a:p>
        </p:txBody>
      </p:sp>
      <p:sp>
        <p:nvSpPr>
          <p:cNvPr id="8" name="lab-t-330"/>
          <p:cNvSpPr txBox="1"/>
          <p:nvPr/>
        </p:nvSpPr>
        <p:spPr>
          <a:xfrm>
            <a:off x="411480" y="4507992"/>
            <a:ext cx="8321040" cy="365760"/>
          </a:xfrm>
          <a:prstGeom prst="rect">
            <a:avLst/>
          </a:prstGeom>
          <a:noFill/>
          <a:ln/>
        </p:spPr>
        <p:txBody>
          <a:bodyPr wrap="square" lIns="0" tIns="0" rIns="0" bIns="0" rtlCol="0" anchor="ctr"/>
          <a:lstStyle/>
          <a:p>
            <a:pPr marL="0" indent="0">
              <a:buNone/>
            </a:pPr>
            <a:r>
              <a:rPr lang="en-US" sz="1050" b="1" dirty="0">
                <a:solidFill>
                  <a:srgbClr val="2D3748"/>
                </a:solidFill>
              </a:rPr>
              <a:t>Done when:  </a:t>
            </a:r>
            <a:r>
              <a:rPr lang="en-US" sz="1050" dirty="0">
                <a:solidFill>
                  <a:srgbClr val="2D3748"/>
                </a:solidFill>
              </a:rPr>
              <a:t>every day runs with DATABASE_URL set AND after unset DATABASE_URL — and psql shows all their calculations in one shared table</a:t>
            </a:r>
            <a:endParaRPr lang="en-US" sz="1050" dirty="0"/>
          </a:p>
        </p:txBody>
      </p:sp>
      <p:sp>
        <p:nvSpPr>
          <p:cNvPr id="25" name="Slide Number Placeholder 0"/>
          <p:cNvSpPr>
            <a:spLocks noGrp="1"/>
          </p:cNvSpPr>
          <p:nvPr>
            <p:ph type="sldNum" sz="quarter" idx="4294967295"/>
          </p:nvPr>
        </p:nvSpPr>
        <p:spPr>
          <a:xfrm>
            <a:off x="8549640" y="4919472"/>
            <a:ext cx="36576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718096"/>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1097280" y="91440"/>
            <a:ext cx="7772400" cy="347472"/>
          </a:xfrm>
          <a:prstGeom prst="rect">
            <a:avLst/>
          </a:prstGeom>
          <a:noFill/>
          <a:ln/>
        </p:spPr>
        <p:txBody>
          <a:bodyPr wrap="square" lIns="0" tIns="0" rIns="0" bIns="0" rtlCol="0" anchor="ctr"/>
          <a:lstStyle/>
          <a:p>
            <a:pPr marL="0" indent="0" algn="l">
              <a:buNone/>
            </a:pPr>
            <a:r>
              <a:rPr lang="en-US" sz="1300" b="1" dirty="0">
                <a:solidFill>
                  <a:srgbClr val="F59E0B"/>
                </a:solidFill>
              </a:rPr>
              <a:t>KEY WORDS  ·  One line each</a:t>
            </a:r>
            <a:endParaRPr lang="en-US" sz="1300" dirty="0"/>
          </a:p>
        </p:txBody>
      </p:sp>
      <p:graphicFrame>
        <p:nvGraphicFramePr>
          <p:cNvPr id="25" name="table-331"/>
          <p:cNvGraphicFramePr>
            <a:graphicFrameLocks noGrp="1"/>
          </p:cNvGraphicFramePr>
          <p:nvPr>
            <p:extLst>
              <p:ext uri="{D42A27DB-BD31-4B8C-83A1-F6EECF244321}">
                <p14:modId xmlns:p14="http://schemas.microsoft.com/office/powerpoint/2010/main" val="1579011935"/>
              </p:ext>
            </p:extLst>
          </p:nvPr>
        </p:nvGraphicFramePr>
        <p:xfrm>
          <a:off x="274320" y="713232"/>
          <a:ext cx="8595360" cy="914400"/>
        </p:xfrm>
        <a:graphic>
          <a:graphicData uri="http://schemas.openxmlformats.org/drawingml/2006/table">
            <a:tbl>
              <a:tblPr/>
              <a:tblGrid>
                <a:gridCol w="146304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2834640">
                  <a:extLst>
                    <a:ext uri="{9D8B030D-6E8A-4147-A177-3AD203B41FA5}">
                      <a16:colId xmlns:a16="http://schemas.microsoft.com/office/drawing/2014/main" val="20003"/>
                    </a:ext>
                  </a:extLst>
                </a:gridCol>
              </a:tblGrid>
              <a:tr h="384048">
                <a:tc>
                  <a:txBody>
                    <a:bodyPr/>
                    <a:lstStyle/>
                    <a:p>
                      <a:pPr marL="0" indent="0">
                        <a:buNone/>
                      </a:pPr>
                      <a:r>
                        <a:rPr lang="en-US" sz="1000" b="1" dirty="0">
                          <a:solidFill>
                            <a:srgbClr val="FFFFFF"/>
                          </a:solidFill>
                        </a:rPr>
                        <a:t>Word</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D3748"/>
                    </a:solidFill>
                  </a:tcPr>
                </a:tc>
                <a:tc>
                  <a:txBody>
                    <a:bodyPr/>
                    <a:lstStyle/>
                    <a:p>
                      <a:pPr marL="0" indent="0">
                        <a:buNone/>
                      </a:pPr>
                      <a:r>
                        <a:rPr lang="en-US" sz="1000" b="1" dirty="0">
                          <a:solidFill>
                            <a:srgbClr val="FFFFFF"/>
                          </a:solidFill>
                        </a:rPr>
                        <a:t>Meaning</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D3748"/>
                    </a:solidFill>
                  </a:tcPr>
                </a:tc>
                <a:tc>
                  <a:txBody>
                    <a:bodyPr/>
                    <a:lstStyle/>
                    <a:p>
                      <a:pPr marL="0" indent="0">
                        <a:buNone/>
                      </a:pPr>
                      <a:r>
                        <a:rPr lang="en-US" sz="1000" b="1" dirty="0">
                          <a:solidFill>
                            <a:srgbClr val="FFFFFF"/>
                          </a:solidFill>
                        </a:rPr>
                        <a:t>Word</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D3748"/>
                    </a:solidFill>
                  </a:tcPr>
                </a:tc>
                <a:tc>
                  <a:txBody>
                    <a:bodyPr/>
                    <a:lstStyle/>
                    <a:p>
                      <a:pPr marL="0" indent="0">
                        <a:buNone/>
                      </a:pPr>
                      <a:r>
                        <a:rPr lang="en-US" sz="1000" b="1" dirty="0">
                          <a:solidFill>
                            <a:srgbClr val="FFFFFF"/>
                          </a:solidFill>
                        </a:rPr>
                        <a:t>Meaning</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D3748"/>
                    </a:solidFill>
                  </a:tcPr>
                </a:tc>
                <a:extLst>
                  <a:ext uri="{0D108BD9-81ED-4DB2-BD59-A6C34878D82A}">
                    <a16:rowId xmlns:a16="http://schemas.microsoft.com/office/drawing/2014/main" val="10000"/>
                  </a:ext>
                </a:extLst>
              </a:tr>
              <a:tr h="384048">
                <a:tc>
                  <a:txBody>
                    <a:bodyPr/>
                    <a:lstStyle/>
                    <a:p>
                      <a:pPr marL="0" indent="0">
                        <a:buNone/>
                      </a:pPr>
                      <a:r>
                        <a:rPr lang="en-US" sz="1000" b="1" dirty="0">
                          <a:solidFill>
                            <a:srgbClr val="2D3748"/>
                          </a:solidFill>
                        </a:rPr>
                        <a:t>Database</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organised data on disk that you can ask questions</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b="1" dirty="0">
                          <a:solidFill>
                            <a:srgbClr val="2D3748"/>
                          </a:solidFill>
                        </a:rPr>
                        <a:t>ORM / SQLAlchemy</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Python classes ↔ tables, SQL written for you</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000" b="1" dirty="0">
                          <a:solidFill>
                            <a:srgbClr val="2D3748"/>
                          </a:solidFill>
                        </a:rPr>
                        <a:t>Table</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one sheet for one kind of thing</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b="1" dirty="0">
                          <a:solidFill>
                            <a:srgbClr val="2D3748"/>
                          </a:solidFill>
                        </a:rPr>
                        <a:t>Session</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one piece of work with the database</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1000" b="1" dirty="0">
                          <a:solidFill>
                            <a:srgbClr val="2D3748"/>
                          </a:solidFill>
                        </a:rPr>
                        <a:t>Row / column</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one record / one detail</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b="1" dirty="0">
                          <a:solidFill>
                            <a:srgbClr val="2D3748"/>
                          </a:solidFill>
                        </a:rPr>
                        <a:t>Commit</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save — all of it or none of it</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buNone/>
                      </a:pPr>
                      <a:r>
                        <a:rPr lang="en-US" sz="1000" b="1" dirty="0">
                          <a:solidFill>
                            <a:srgbClr val="2D3748"/>
                          </a:solidFill>
                        </a:rPr>
                        <a:t>Primary key</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the value that is never repeated</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b="1" dirty="0">
                          <a:solidFill>
                            <a:srgbClr val="2D3748"/>
                          </a:solidFill>
                        </a:rPr>
                        <a:t>Query</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a question to the database</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buNone/>
                      </a:pPr>
                      <a:r>
                        <a:rPr lang="en-US" sz="1000" b="1" dirty="0">
                          <a:solidFill>
                            <a:srgbClr val="2D3748"/>
                          </a:solidFill>
                        </a:rPr>
                        <a:t>SQL</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the language for asking: SELECT … WHERE …</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b="1" dirty="0">
                          <a:solidFill>
                            <a:srgbClr val="2D3748"/>
                          </a:solidFill>
                        </a:rPr>
                        <a:t>CSV</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plain-text table, one line per row</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4048">
                <a:tc>
                  <a:txBody>
                    <a:bodyPr/>
                    <a:lstStyle/>
                    <a:p>
                      <a:pPr marL="0" indent="0">
                        <a:buNone/>
                      </a:pPr>
                      <a:r>
                        <a:rPr lang="en-US" sz="1000" b="1" dirty="0">
                          <a:solidFill>
                            <a:srgbClr val="2D3748"/>
                          </a:solidFill>
                        </a:rPr>
                        <a:t>SQLite</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a whole database in one file — energy.db</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b="1" dirty="0">
                          <a:solidFill>
                            <a:srgbClr val="2D3748"/>
                          </a:solidFill>
                        </a:rPr>
                        <a:t>JSON column</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rPr>
                        <a:t>a whole dictionary in one cell</a:t>
                      </a:r>
                      <a:endParaRPr lang="en-US" sz="1000" dirty="0"/>
                    </a:p>
                  </a:txBody>
                  <a:tcPr marL="45720" marR="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4" name="evolve-332"/>
          <p:cNvSpPr/>
          <p:nvPr/>
        </p:nvSpPr>
        <p:spPr>
          <a:xfrm>
            <a:off x="274320" y="4498848"/>
            <a:ext cx="8595360" cy="384048"/>
          </a:xfrm>
          <a:prstGeom prst="roundRect">
            <a:avLst>
              <a:gd name="adj" fmla="val 11905"/>
            </a:avLst>
          </a:prstGeom>
          <a:solidFill>
            <a:srgbClr val="EEF2FF"/>
          </a:solidFill>
          <a:ln w="12700">
            <a:solidFill>
              <a:srgbClr val="D5DCF5"/>
            </a:solidFill>
            <a:prstDash val="solid"/>
          </a:ln>
        </p:spPr>
        <p:txBody>
          <a:bodyPr/>
          <a:lstStyle/>
          <a:p>
            <a:endParaRPr lang="en-US"/>
          </a:p>
        </p:txBody>
      </p:sp>
      <p:sp>
        <p:nvSpPr>
          <p:cNvPr id="5" name="evolve-t-333"/>
          <p:cNvSpPr txBox="1"/>
          <p:nvPr/>
        </p:nvSpPr>
        <p:spPr>
          <a:xfrm>
            <a:off x="411480" y="4507992"/>
            <a:ext cx="8321040" cy="365760"/>
          </a:xfrm>
          <a:prstGeom prst="rect">
            <a:avLst/>
          </a:prstGeom>
          <a:noFill/>
          <a:ln/>
        </p:spPr>
        <p:txBody>
          <a:bodyPr wrap="square" lIns="0" tIns="0" rIns="0" bIns="0" rtlCol="0" anchor="ctr"/>
          <a:lstStyle/>
          <a:p>
            <a:pPr marL="0" indent="0">
              <a:buNone/>
            </a:pPr>
            <a:r>
              <a:rPr lang="en-US" sz="1050" b="1" dirty="0">
                <a:solidFill>
                  <a:srgbClr val="2D3748"/>
                </a:solidFill>
              </a:rPr>
              <a:t>The thread:  </a:t>
            </a:r>
            <a:r>
              <a:rPr lang="en-US" sz="1050" dirty="0">
                <a:solidFill>
                  <a:srgbClr val="718096"/>
                </a:solidFill>
              </a:rPr>
              <a:t>a CSV  →  a database  →  questions as functions  →  an API that answers and remembers</a:t>
            </a:r>
            <a:endParaRPr lang="en-US" sz="1050" dirty="0"/>
          </a:p>
        </p:txBody>
      </p:sp>
      <p:sp>
        <p:nvSpPr>
          <p:cNvPr id="3" name="Slide Number Placeholder 0"/>
          <p:cNvSpPr>
            <a:spLocks noGrp="1"/>
          </p:cNvSpPr>
          <p:nvPr>
            <p:ph type="sldNum" sz="quarter" idx="4294967295"/>
          </p:nvPr>
        </p:nvSpPr>
        <p:spPr>
          <a:xfrm>
            <a:off x="8549640" y="4919472"/>
            <a:ext cx="36576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718096"/>
                </a:solidFil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1097280" y="91440"/>
            <a:ext cx="7772400" cy="347472"/>
          </a:xfrm>
          <a:prstGeom prst="rect">
            <a:avLst/>
          </a:prstGeom>
          <a:noFill/>
          <a:ln/>
        </p:spPr>
        <p:txBody>
          <a:bodyPr wrap="square" lIns="0" tIns="0" rIns="0" bIns="0" rtlCol="0" anchor="ctr"/>
          <a:lstStyle/>
          <a:p>
            <a:pPr marL="0" indent="0" algn="l">
              <a:buNone/>
            </a:pPr>
            <a:r>
              <a:rPr lang="en-US" sz="1300" b="1" dirty="0">
                <a:solidFill>
                  <a:srgbClr val="F59E0B"/>
                </a:solidFill>
              </a:rPr>
              <a:t>CHECK YOURSELF  ·  Five questions</a:t>
            </a:r>
            <a:endParaRPr lang="en-US" sz="1300" dirty="0"/>
          </a:p>
        </p:txBody>
      </p:sp>
      <p:sp>
        <p:nvSpPr>
          <p:cNvPr id="3" name="num-334"/>
          <p:cNvSpPr/>
          <p:nvPr/>
        </p:nvSpPr>
        <p:spPr>
          <a:xfrm>
            <a:off x="274320" y="749808"/>
            <a:ext cx="329184" cy="329184"/>
          </a:xfrm>
          <a:prstGeom prst="ellipse">
            <a:avLst/>
          </a:prstGeom>
          <a:solidFill>
            <a:srgbClr val="F59E0B"/>
          </a:solidFill>
          <a:ln w="12700">
            <a:solidFill>
              <a:srgbClr val="F59E0B"/>
            </a:solidFill>
            <a:prstDash val="solid"/>
          </a:ln>
        </p:spPr>
        <p:txBody>
          <a:bodyPr/>
          <a:lstStyle/>
          <a:p>
            <a:endParaRPr lang="en-US"/>
          </a:p>
        </p:txBody>
      </p:sp>
      <p:sp>
        <p:nvSpPr>
          <p:cNvPr id="4" name="num-t-335"/>
          <p:cNvSpPr txBox="1"/>
          <p:nvPr/>
        </p:nvSpPr>
        <p:spPr>
          <a:xfrm>
            <a:off x="274320" y="749808"/>
            <a:ext cx="329184" cy="329184"/>
          </a:xfrm>
          <a:prstGeom prst="rect">
            <a:avLst/>
          </a:prstGeom>
          <a:noFill/>
          <a:ln/>
        </p:spPr>
        <p:txBody>
          <a:bodyPr wrap="square" lIns="0" tIns="0" rIns="0" bIns="0" rtlCol="0" anchor="ctr"/>
          <a:lstStyle/>
          <a:p>
            <a:pPr marL="0" indent="0" algn="ctr">
              <a:buNone/>
            </a:pPr>
            <a:r>
              <a:rPr lang="en-US" sz="1300" b="1" dirty="0">
                <a:solidFill>
                  <a:srgbClr val="1A2535"/>
                </a:solidFill>
              </a:rPr>
              <a:t>1</a:t>
            </a:r>
            <a:endParaRPr lang="en-US" sz="1300" dirty="0"/>
          </a:p>
        </p:txBody>
      </p:sp>
      <p:sp>
        <p:nvSpPr>
          <p:cNvPr id="5" name="q-336"/>
          <p:cNvSpPr txBox="1"/>
          <p:nvPr/>
        </p:nvSpPr>
        <p:spPr>
          <a:xfrm>
            <a:off x="731520" y="749808"/>
            <a:ext cx="8138160" cy="329184"/>
          </a:xfrm>
          <a:prstGeom prst="rect">
            <a:avLst/>
          </a:prstGeom>
          <a:noFill/>
          <a:ln/>
        </p:spPr>
        <p:txBody>
          <a:bodyPr wrap="square" lIns="0" tIns="0" rIns="0" bIns="0" rtlCol="0" anchor="ctr"/>
          <a:lstStyle/>
          <a:p>
            <a:pPr marL="0" indent="0">
              <a:buNone/>
            </a:pPr>
            <a:r>
              <a:rPr lang="en-US" sz="1300" dirty="0">
                <a:solidFill>
                  <a:srgbClr val="2D3748"/>
                </a:solidFill>
              </a:rPr>
              <a:t>Why did Monday's appliance list disappear when the server stopped?</a:t>
            </a:r>
            <a:endParaRPr lang="en-US" sz="1300" dirty="0"/>
          </a:p>
        </p:txBody>
      </p:sp>
      <p:sp>
        <p:nvSpPr>
          <p:cNvPr id="6" name="num-337"/>
          <p:cNvSpPr/>
          <p:nvPr/>
        </p:nvSpPr>
        <p:spPr>
          <a:xfrm>
            <a:off x="274320" y="1463040"/>
            <a:ext cx="329184" cy="329184"/>
          </a:xfrm>
          <a:prstGeom prst="ellipse">
            <a:avLst/>
          </a:prstGeom>
          <a:solidFill>
            <a:srgbClr val="F59E0B"/>
          </a:solidFill>
          <a:ln w="12700">
            <a:solidFill>
              <a:srgbClr val="F59E0B"/>
            </a:solidFill>
            <a:prstDash val="solid"/>
          </a:ln>
        </p:spPr>
        <p:txBody>
          <a:bodyPr/>
          <a:lstStyle/>
          <a:p>
            <a:endParaRPr lang="en-US"/>
          </a:p>
        </p:txBody>
      </p:sp>
      <p:sp>
        <p:nvSpPr>
          <p:cNvPr id="7" name="num-t-338"/>
          <p:cNvSpPr txBox="1"/>
          <p:nvPr/>
        </p:nvSpPr>
        <p:spPr>
          <a:xfrm>
            <a:off x="274320" y="1463040"/>
            <a:ext cx="329184" cy="329184"/>
          </a:xfrm>
          <a:prstGeom prst="rect">
            <a:avLst/>
          </a:prstGeom>
          <a:noFill/>
          <a:ln/>
        </p:spPr>
        <p:txBody>
          <a:bodyPr wrap="square" lIns="0" tIns="0" rIns="0" bIns="0" rtlCol="0" anchor="ctr"/>
          <a:lstStyle/>
          <a:p>
            <a:pPr marL="0" indent="0" algn="ctr">
              <a:buNone/>
            </a:pPr>
            <a:r>
              <a:rPr lang="en-US" sz="1300" b="1" dirty="0">
                <a:solidFill>
                  <a:srgbClr val="1A2535"/>
                </a:solidFill>
              </a:rPr>
              <a:t>2</a:t>
            </a:r>
            <a:endParaRPr lang="en-US" sz="1300" dirty="0"/>
          </a:p>
        </p:txBody>
      </p:sp>
      <p:sp>
        <p:nvSpPr>
          <p:cNvPr id="8" name="q-339"/>
          <p:cNvSpPr txBox="1"/>
          <p:nvPr/>
        </p:nvSpPr>
        <p:spPr>
          <a:xfrm>
            <a:off x="731520" y="1463040"/>
            <a:ext cx="8138160" cy="329184"/>
          </a:xfrm>
          <a:prstGeom prst="rect">
            <a:avLst/>
          </a:prstGeom>
          <a:noFill/>
          <a:ln/>
        </p:spPr>
        <p:txBody>
          <a:bodyPr wrap="square" lIns="0" tIns="0" rIns="0" bIns="0" rtlCol="0" anchor="ctr"/>
          <a:lstStyle/>
          <a:p>
            <a:pPr marL="0" indent="0">
              <a:buNone/>
            </a:pPr>
            <a:r>
              <a:rPr lang="en-US" sz="1300" dirty="0">
                <a:solidFill>
                  <a:srgbClr val="2D3748"/>
                </a:solidFill>
              </a:rPr>
              <a:t>Which table gets a new row when someone calls /bill?</a:t>
            </a:r>
            <a:endParaRPr lang="en-US" sz="1300" dirty="0"/>
          </a:p>
        </p:txBody>
      </p:sp>
      <p:sp>
        <p:nvSpPr>
          <p:cNvPr id="9" name="num-340"/>
          <p:cNvSpPr/>
          <p:nvPr/>
        </p:nvSpPr>
        <p:spPr>
          <a:xfrm>
            <a:off x="274320" y="2176272"/>
            <a:ext cx="329184" cy="329184"/>
          </a:xfrm>
          <a:prstGeom prst="ellipse">
            <a:avLst/>
          </a:prstGeom>
          <a:solidFill>
            <a:srgbClr val="F59E0B"/>
          </a:solidFill>
          <a:ln w="12700">
            <a:solidFill>
              <a:srgbClr val="F59E0B"/>
            </a:solidFill>
            <a:prstDash val="solid"/>
          </a:ln>
        </p:spPr>
        <p:txBody>
          <a:bodyPr/>
          <a:lstStyle/>
          <a:p>
            <a:endParaRPr lang="en-US"/>
          </a:p>
        </p:txBody>
      </p:sp>
      <p:sp>
        <p:nvSpPr>
          <p:cNvPr id="10" name="num-t-341"/>
          <p:cNvSpPr txBox="1"/>
          <p:nvPr/>
        </p:nvSpPr>
        <p:spPr>
          <a:xfrm>
            <a:off x="274320" y="2176272"/>
            <a:ext cx="329184" cy="329184"/>
          </a:xfrm>
          <a:prstGeom prst="rect">
            <a:avLst/>
          </a:prstGeom>
          <a:noFill/>
          <a:ln/>
        </p:spPr>
        <p:txBody>
          <a:bodyPr wrap="square" lIns="0" tIns="0" rIns="0" bIns="0" rtlCol="0" anchor="ctr"/>
          <a:lstStyle/>
          <a:p>
            <a:pPr marL="0" indent="0" algn="ctr">
              <a:buNone/>
            </a:pPr>
            <a:r>
              <a:rPr lang="en-US" sz="1300" b="1" dirty="0">
                <a:solidFill>
                  <a:srgbClr val="1A2535"/>
                </a:solidFill>
              </a:rPr>
              <a:t>3</a:t>
            </a:r>
            <a:endParaRPr lang="en-US" sz="1300" dirty="0"/>
          </a:p>
        </p:txBody>
      </p:sp>
      <p:sp>
        <p:nvSpPr>
          <p:cNvPr id="11" name="q-342"/>
          <p:cNvSpPr txBox="1"/>
          <p:nvPr/>
        </p:nvSpPr>
        <p:spPr>
          <a:xfrm>
            <a:off x="731520" y="2176272"/>
            <a:ext cx="8138160" cy="329184"/>
          </a:xfrm>
          <a:prstGeom prst="rect">
            <a:avLst/>
          </a:prstGeom>
          <a:noFill/>
          <a:ln/>
        </p:spPr>
        <p:txBody>
          <a:bodyPr wrap="square" lIns="0" tIns="0" rIns="0" bIns="0" rtlCol="0" anchor="ctr"/>
          <a:lstStyle/>
          <a:p>
            <a:pPr marL="0" indent="0">
              <a:buNone/>
            </a:pPr>
            <a:r>
              <a:rPr lang="en-US" sz="1300" dirty="0">
                <a:solidFill>
                  <a:srgbClr val="2D3748"/>
                </a:solidFill>
              </a:rPr>
              <a:t>What happens if you run 02_load_readings.py twice?</a:t>
            </a:r>
            <a:endParaRPr lang="en-US" sz="1300" dirty="0"/>
          </a:p>
        </p:txBody>
      </p:sp>
      <p:sp>
        <p:nvSpPr>
          <p:cNvPr id="12" name="num-343"/>
          <p:cNvSpPr/>
          <p:nvPr/>
        </p:nvSpPr>
        <p:spPr>
          <a:xfrm>
            <a:off x="274320" y="2889504"/>
            <a:ext cx="329184" cy="329184"/>
          </a:xfrm>
          <a:prstGeom prst="ellipse">
            <a:avLst/>
          </a:prstGeom>
          <a:solidFill>
            <a:srgbClr val="F59E0B"/>
          </a:solidFill>
          <a:ln w="12700">
            <a:solidFill>
              <a:srgbClr val="F59E0B"/>
            </a:solidFill>
            <a:prstDash val="solid"/>
          </a:ln>
        </p:spPr>
        <p:txBody>
          <a:bodyPr/>
          <a:lstStyle/>
          <a:p>
            <a:endParaRPr lang="en-US"/>
          </a:p>
        </p:txBody>
      </p:sp>
      <p:sp>
        <p:nvSpPr>
          <p:cNvPr id="13" name="num-t-344"/>
          <p:cNvSpPr txBox="1"/>
          <p:nvPr/>
        </p:nvSpPr>
        <p:spPr>
          <a:xfrm>
            <a:off x="274320" y="2889504"/>
            <a:ext cx="329184" cy="329184"/>
          </a:xfrm>
          <a:prstGeom prst="rect">
            <a:avLst/>
          </a:prstGeom>
          <a:noFill/>
          <a:ln/>
        </p:spPr>
        <p:txBody>
          <a:bodyPr wrap="square" lIns="0" tIns="0" rIns="0" bIns="0" rtlCol="0" anchor="ctr"/>
          <a:lstStyle/>
          <a:p>
            <a:pPr marL="0" indent="0" algn="ctr">
              <a:buNone/>
            </a:pPr>
            <a:r>
              <a:rPr lang="en-US" sz="1300" b="1" dirty="0">
                <a:solidFill>
                  <a:srgbClr val="1A2535"/>
                </a:solidFill>
              </a:rPr>
              <a:t>4</a:t>
            </a:r>
            <a:endParaRPr lang="en-US" sz="1300" dirty="0"/>
          </a:p>
        </p:txBody>
      </p:sp>
      <p:sp>
        <p:nvSpPr>
          <p:cNvPr id="14" name="q-345"/>
          <p:cNvSpPr txBox="1"/>
          <p:nvPr/>
        </p:nvSpPr>
        <p:spPr>
          <a:xfrm>
            <a:off x="731520" y="2889504"/>
            <a:ext cx="8138160" cy="329184"/>
          </a:xfrm>
          <a:prstGeom prst="rect">
            <a:avLst/>
          </a:prstGeom>
          <a:noFill/>
          <a:ln/>
        </p:spPr>
        <p:txBody>
          <a:bodyPr wrap="square" lIns="0" tIns="0" rIns="0" bIns="0" rtlCol="0" anchor="ctr"/>
          <a:lstStyle/>
          <a:p>
            <a:pPr marL="0" indent="0">
              <a:buNone/>
            </a:pPr>
            <a:r>
              <a:rPr lang="en-US" sz="1300" dirty="0">
                <a:solidFill>
                  <a:srgbClr val="2D3748"/>
                </a:solidFill>
              </a:rPr>
              <a:t>What do you change to move from SQLite to PostgreSQL?</a:t>
            </a:r>
            <a:endParaRPr lang="en-US" sz="1300" dirty="0"/>
          </a:p>
        </p:txBody>
      </p:sp>
      <p:sp>
        <p:nvSpPr>
          <p:cNvPr id="15" name="num-346"/>
          <p:cNvSpPr/>
          <p:nvPr/>
        </p:nvSpPr>
        <p:spPr>
          <a:xfrm>
            <a:off x="274320" y="3602736"/>
            <a:ext cx="329184" cy="329184"/>
          </a:xfrm>
          <a:prstGeom prst="ellipse">
            <a:avLst/>
          </a:prstGeom>
          <a:solidFill>
            <a:srgbClr val="F59E0B"/>
          </a:solidFill>
          <a:ln w="12700">
            <a:solidFill>
              <a:srgbClr val="F59E0B"/>
            </a:solidFill>
            <a:prstDash val="solid"/>
          </a:ln>
        </p:spPr>
        <p:txBody>
          <a:bodyPr/>
          <a:lstStyle/>
          <a:p>
            <a:endParaRPr lang="en-US"/>
          </a:p>
        </p:txBody>
      </p:sp>
      <p:sp>
        <p:nvSpPr>
          <p:cNvPr id="16" name="num-t-347"/>
          <p:cNvSpPr txBox="1"/>
          <p:nvPr/>
        </p:nvSpPr>
        <p:spPr>
          <a:xfrm>
            <a:off x="274320" y="3602736"/>
            <a:ext cx="329184" cy="329184"/>
          </a:xfrm>
          <a:prstGeom prst="rect">
            <a:avLst/>
          </a:prstGeom>
          <a:noFill/>
          <a:ln/>
        </p:spPr>
        <p:txBody>
          <a:bodyPr wrap="square" lIns="0" tIns="0" rIns="0" bIns="0" rtlCol="0" anchor="ctr"/>
          <a:lstStyle/>
          <a:p>
            <a:pPr marL="0" indent="0" algn="ctr">
              <a:buNone/>
            </a:pPr>
            <a:r>
              <a:rPr lang="en-US" sz="1300" b="1" dirty="0">
                <a:solidFill>
                  <a:srgbClr val="1A2535"/>
                </a:solidFill>
              </a:rPr>
              <a:t>5</a:t>
            </a:r>
            <a:endParaRPr lang="en-US" sz="1300" dirty="0"/>
          </a:p>
        </p:txBody>
      </p:sp>
      <p:sp>
        <p:nvSpPr>
          <p:cNvPr id="17" name="q-348"/>
          <p:cNvSpPr txBox="1"/>
          <p:nvPr/>
        </p:nvSpPr>
        <p:spPr>
          <a:xfrm>
            <a:off x="731520" y="3602736"/>
            <a:ext cx="8138160" cy="329184"/>
          </a:xfrm>
          <a:prstGeom prst="rect">
            <a:avLst/>
          </a:prstGeom>
          <a:noFill/>
          <a:ln/>
        </p:spPr>
        <p:txBody>
          <a:bodyPr wrap="square" lIns="0" tIns="0" rIns="0" bIns="0" rtlCol="0" anchor="ctr"/>
          <a:lstStyle/>
          <a:p>
            <a:pPr marL="0" indent="0">
              <a:buNone/>
            </a:pPr>
            <a:r>
              <a:rPr lang="en-US" sz="1300" dirty="0">
                <a:solidFill>
                  <a:srgbClr val="2D3748"/>
                </a:solidFill>
              </a:rPr>
              <a:t>Load 700 kW, solar 100 kW: how loaded is the 630 kVA transformer?</a:t>
            </a:r>
            <a:endParaRPr lang="en-US" sz="1300" dirty="0"/>
          </a:p>
        </p:txBody>
      </p:sp>
      <p:sp>
        <p:nvSpPr>
          <p:cNvPr id="18" name="lab-349"/>
          <p:cNvSpPr/>
          <p:nvPr/>
        </p:nvSpPr>
        <p:spPr>
          <a:xfrm>
            <a:off x="274320" y="4498848"/>
            <a:ext cx="8595360" cy="384048"/>
          </a:xfrm>
          <a:prstGeom prst="roundRect">
            <a:avLst>
              <a:gd name="adj" fmla="val 11905"/>
            </a:avLst>
          </a:prstGeom>
          <a:solidFill>
            <a:srgbClr val="FFF8E7"/>
          </a:solidFill>
          <a:ln w="12700">
            <a:solidFill>
              <a:srgbClr val="F6D9A8"/>
            </a:solidFill>
            <a:prstDash val="solid"/>
          </a:ln>
        </p:spPr>
        <p:txBody>
          <a:bodyPr/>
          <a:lstStyle/>
          <a:p>
            <a:endParaRPr lang="en-US"/>
          </a:p>
        </p:txBody>
      </p:sp>
      <p:sp>
        <p:nvSpPr>
          <p:cNvPr id="19" name="lab-t-350"/>
          <p:cNvSpPr txBox="1"/>
          <p:nvPr/>
        </p:nvSpPr>
        <p:spPr>
          <a:xfrm>
            <a:off x="411480" y="4507992"/>
            <a:ext cx="8321040" cy="365760"/>
          </a:xfrm>
          <a:prstGeom prst="rect">
            <a:avLst/>
          </a:prstGeom>
          <a:noFill/>
          <a:ln/>
        </p:spPr>
        <p:txBody>
          <a:bodyPr wrap="square" lIns="0" tIns="0" rIns="0" bIns="0" rtlCol="0" anchor="ctr"/>
          <a:lstStyle/>
          <a:p>
            <a:pPr marL="0" indent="0">
              <a:buNone/>
            </a:pPr>
            <a:r>
              <a:rPr lang="en-US" sz="1050" b="1" dirty="0">
                <a:solidFill>
                  <a:srgbClr val="2D3748"/>
                </a:solidFill>
              </a:rPr>
              <a:t>Answers:  </a:t>
            </a:r>
            <a:r>
              <a:rPr lang="en-US" sz="1050" dirty="0">
                <a:solidFill>
                  <a:srgbClr val="2D3748"/>
                </a:solidFill>
              </a:rPr>
              <a:t>in the speaker notes — ask first, reveal after</a:t>
            </a:r>
            <a:endParaRPr lang="en-US" sz="1050" dirty="0"/>
          </a:p>
        </p:txBody>
      </p:sp>
      <p:sp>
        <p:nvSpPr>
          <p:cNvPr id="25" name="Slide Number Placeholder 0"/>
          <p:cNvSpPr>
            <a:spLocks noGrp="1"/>
          </p:cNvSpPr>
          <p:nvPr>
            <p:ph type="sldNum" sz="quarter" idx="4294967295"/>
          </p:nvPr>
        </p:nvSpPr>
        <p:spPr>
          <a:xfrm>
            <a:off x="8549640" y="4919472"/>
            <a:ext cx="36576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718096"/>
                </a:solidFill>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2"/>
          <p:cNvSpPr>
            <a:spLocks noGrp="1"/>
          </p:cNvSpPr>
          <p:nvPr>
            <p:ph type="title" idx="107" hasCustomPrompt="1"/>
          </p:nvPr>
        </p:nvSpPr>
        <p:spPr>
          <a:xfrm>
            <a:off x="274320" y="2377440"/>
            <a:ext cx="8595360" cy="731520"/>
          </a:xfrm>
          <a:prstGeom prst="rect">
            <a:avLst/>
          </a:prstGeom>
          <a:noFill/>
          <a:ln/>
        </p:spPr>
        <p:txBody>
          <a:bodyPr wrap="square" lIns="0" tIns="0" rIns="0" bIns="0" rtlCol="0" anchor="ctr"/>
          <a:lstStyle/>
          <a:p>
            <a:pPr marL="0" indent="0" algn="l">
              <a:buNone/>
            </a:pPr>
            <a:r>
              <a:rPr lang="en-US" sz="3000" b="1" dirty="0">
                <a:solidFill>
                  <a:srgbClr val="FFFFFF"/>
                </a:solidFill>
              </a:rPr>
              <a:t>Our API now remembers — and answers</a:t>
            </a:r>
            <a:endParaRPr lang="en-US" sz="3000" dirty="0"/>
          </a:p>
        </p:txBody>
      </p:sp>
      <p:sp>
        <p:nvSpPr>
          <p:cNvPr id="3" name="Text 2"/>
          <p:cNvSpPr>
            <a:spLocks noGrp="1"/>
          </p:cNvSpPr>
          <p:nvPr>
            <p:ph type="body" idx="108" hasCustomPrompt="1"/>
          </p:nvPr>
        </p:nvSpPr>
        <p:spPr>
          <a:xfrm>
            <a:off x="274320" y="3127248"/>
            <a:ext cx="8595360" cy="411480"/>
          </a:xfrm>
          <a:prstGeom prst="rect">
            <a:avLst/>
          </a:prstGeom>
          <a:noFill/>
          <a:ln/>
        </p:spPr>
        <p:txBody>
          <a:bodyPr wrap="square" lIns="0" tIns="0" rIns="0" bIns="0" rtlCol="0" anchor="t"/>
          <a:lstStyle/>
          <a:p>
            <a:pPr marL="0" indent="0">
              <a:buNone/>
            </a:pPr>
            <a:r>
              <a:rPr lang="en-US" sz="1400" dirty="0">
                <a:solidFill>
                  <a:srgbClr val="F59E0B"/>
                </a:solidFill>
              </a:rPr>
              <a:t>Tomorrow: a dashboard on top of these answers, for people who never open /docs</a:t>
            </a:r>
            <a:endParaRPr lang="en-US" sz="1400" dirty="0"/>
          </a:p>
        </p:txBody>
      </p:sp>
      <p:sp>
        <p:nvSpPr>
          <p:cNvPr id="4" name="recap"/>
          <p:cNvSpPr txBox="1"/>
          <p:nvPr/>
        </p:nvSpPr>
        <p:spPr>
          <a:xfrm>
            <a:off x="274320" y="3611880"/>
            <a:ext cx="8595360" cy="1051560"/>
          </a:xfrm>
          <a:prstGeom prst="rect">
            <a:avLst/>
          </a:prstGeom>
          <a:noFill/>
          <a:ln/>
        </p:spPr>
        <p:txBody>
          <a:bodyPr wrap="square" lIns="0" tIns="0" rIns="0" bIns="0" rtlCol="0" anchor="t"/>
          <a:lstStyle/>
          <a:p>
            <a:pPr marL="342900" indent="-342900">
              <a:spcAft>
                <a:spcPts val="200"/>
              </a:spcAft>
              <a:buSzPct val="100000"/>
              <a:buChar char="•"/>
            </a:pPr>
            <a:r>
              <a:rPr lang="en-US" sz="1200" dirty="0">
                <a:solidFill>
                  <a:srgbClr val="E2E8F0"/>
                </a:solidFill>
              </a:rPr>
              <a:t>Readings loaded once, read many times</a:t>
            </a:r>
            <a:endParaRPr lang="en-US" sz="1200" dirty="0"/>
          </a:p>
          <a:p>
            <a:pPr marL="342900" indent="-342900">
              <a:spcAft>
                <a:spcPts val="200"/>
              </a:spcAft>
              <a:buSzPct val="100000"/>
              <a:buChar char="•"/>
            </a:pPr>
            <a:r>
              <a:rPr lang="en-US" sz="1200" dirty="0">
                <a:solidFill>
                  <a:srgbClr val="E2E8F0"/>
                </a:solidFill>
              </a:rPr>
              <a:t>Every calculation written in the logbook</a:t>
            </a:r>
            <a:endParaRPr lang="en-US" sz="1200" dirty="0"/>
          </a:p>
          <a:p>
            <a:pPr marL="342900" indent="-342900">
              <a:spcAft>
                <a:spcPts val="200"/>
              </a:spcAft>
              <a:buSzPct val="100000"/>
              <a:buChar char="•"/>
            </a:pPr>
            <a:r>
              <a:rPr lang="en-US" sz="1200" dirty="0">
                <a:solidFill>
                  <a:srgbClr val="E2E8F0"/>
                </a:solidFill>
              </a:rPr>
              <a:t>Monday's list safe on disk</a:t>
            </a:r>
            <a:endParaRPr lang="en-US" sz="1200" dirty="0"/>
          </a:p>
          <a:p>
            <a:pPr marL="342900" indent="-342900">
              <a:spcAft>
                <a:spcPts val="200"/>
              </a:spcAft>
              <a:buSzPct val="100000"/>
              <a:buChar char="•"/>
            </a:pPr>
            <a:r>
              <a:rPr lang="en-US" sz="1200" dirty="0">
                <a:solidFill>
                  <a:srgbClr val="E2E8F0"/>
                </a:solidFill>
              </a:rPr>
              <a:t>The transformer question answered: 106.4 % at 12:45 on 23 March</a:t>
            </a:r>
            <a:endParaRPr lang="en-US" sz="1200" dirty="0"/>
          </a:p>
        </p:txBody>
      </p:sp>
      <p:sp>
        <p:nvSpPr>
          <p:cNvPr id="5" name="next-deck"/>
          <p:cNvSpPr txBox="1"/>
          <p:nvPr/>
        </p:nvSpPr>
        <p:spPr>
          <a:xfrm>
            <a:off x="274320" y="4754880"/>
            <a:ext cx="8595360" cy="256032"/>
          </a:xfrm>
          <a:prstGeom prst="rect">
            <a:avLst/>
          </a:prstGeom>
          <a:noFill/>
          <a:ln/>
        </p:spPr>
        <p:txBody>
          <a:bodyPr wrap="square" lIns="0" tIns="0" rIns="0" bIns="0" rtlCol="0" anchor="ctr"/>
          <a:lstStyle/>
          <a:p>
            <a:pPr marL="0" indent="0">
              <a:buNone/>
            </a:pPr>
            <a:r>
              <a:rPr lang="en-US" sz="950" dirty="0">
                <a:solidFill>
                  <a:srgbClr val="718096"/>
                </a:solidFill>
              </a:rPr>
              <a:t>Next: the Day 2 page — step by step, with the code and the task</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143" y="0"/>
            <a:ext cx="9141714" cy="51435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 name="Picture 1">
            <a:extLst>
              <a:ext uri="{FF2B5EF4-FFF2-40B4-BE49-F238E27FC236}">
                <a16:creationId xmlns:a16="http://schemas.microsoft.com/office/drawing/2014/main" id="{31286218-DCB4-D39B-EECB-0C8519733006}"/>
              </a:ext>
            </a:extLst>
          </p:cNvPr>
          <p:cNvPicPr>
            <a:picLocks noChangeAspect="1"/>
          </p:cNvPicPr>
          <p:nvPr/>
        </p:nvPicPr>
        <p:blipFill>
          <a:blip r:embed="rId2"/>
          <a:srcRect b="19"/>
          <a:stretch>
            <a:fillRect/>
          </a:stretch>
        </p:blipFill>
        <p:spPr>
          <a:xfrm>
            <a:off x="20" y="961"/>
            <a:ext cx="9143980" cy="5142539"/>
          </a:xfrm>
          <a:prstGeom prst="rect">
            <a:avLst/>
          </a:prstGeom>
        </p:spPr>
      </p:pic>
    </p:spTree>
    <p:extLst>
      <p:ext uri="{BB962C8B-B14F-4D97-AF65-F5344CB8AC3E}">
        <p14:creationId xmlns:p14="http://schemas.microsoft.com/office/powerpoint/2010/main" val="2902939970"/>
      </p:ext>
    </p:extLst>
  </p:cSld>
  <p:clrMapOvr>
    <a:masterClrMapping/>
  </p:clrMapOvr>
</p:sld>
</file>

<file path=ppt/theme/theme1.xml><?xml version="1.0" encoding="utf-8"?>
<a:theme xmlns:a="http://schemas.openxmlformats.org/drawingml/2006/main" name="Actoryx">
  <a:themeElements>
    <a:clrScheme name="Actoryx">
      <a:dk1>
        <a:srgbClr val="1A2535"/>
      </a:dk1>
      <a:lt1>
        <a:srgbClr val="FFFFFF"/>
      </a:lt1>
      <a:dk2>
        <a:srgbClr val="2D3748"/>
      </a:dk2>
      <a:lt2>
        <a:srgbClr val="F7F8FA"/>
      </a:lt2>
      <a:accent1>
        <a:srgbClr val="F59E0B"/>
      </a:accent1>
      <a:accent2>
        <a:srgbClr val="4A5568"/>
      </a:accent2>
      <a:accent3>
        <a:srgbClr val="718096"/>
      </a:accent3>
      <a:accent4>
        <a:srgbClr val="68D391"/>
      </a:accent4>
      <a:accent5>
        <a:srgbClr val="E2E8F0"/>
      </a:accent5>
      <a:accent6>
        <a:srgbClr val="FFF8E7"/>
      </a:accent6>
      <a:hlink>
        <a:srgbClr val="185FA5"/>
      </a:hlink>
      <a:folHlink>
        <a:srgbClr val="534AB7"/>
      </a:folHlink>
    </a:clrScheme>
    <a:fontScheme name="Actoryx">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5763</Words>
  <Application>Microsoft Macintosh PowerPoint</Application>
  <PresentationFormat>On-screen Show (16:9)</PresentationFormat>
  <Paragraphs>706</Paragraphs>
  <Slides>28</Slides>
  <Notes>26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Calibri</vt:lpstr>
      <vt:lpstr>Consolas</vt:lpstr>
      <vt:lpstr>Actoryx</vt:lpstr>
      <vt:lpstr>Giving Our API a Memory</vt:lpstr>
      <vt:lpstr>PowerPoint Presentation</vt:lpstr>
      <vt:lpstr>PROBLEM STATEMENT  ·  And how we will solve it</vt:lpstr>
      <vt:lpstr>FROM PROBLEM TO DESIGN  ·  Each need becomes one technical decision</vt:lpstr>
      <vt:lpstr>THE DESIGN AT A GLANCE  ·  Where the data comes from and where it lives</vt:lpstr>
      <vt:lpstr>WHAT IS A DATABASE?  ·  A spreadsheet you can ask questions</vt:lpstr>
      <vt:lpstr>WHY NOT JUST EXCEL?  ·  What a database adds</vt:lpstr>
      <vt:lpstr>OUR DATA  ·  Two months of the college's main substation</vt:lpstr>
      <vt:lpstr>SQL  ·  Asking the database in sentences</vt:lpstr>
      <vt:lpstr>OUR THREE TABLES  ·  Three different kinds of data in one file, energy.db</vt:lpstr>
      <vt:lpstr>THE THREE CALCULATIONS  ·  Three separate requests, worked out step by step</vt:lpstr>
      <vt:lpstr>THE LOGBOOK IN ACTION  ·  What happens when someone asks for an energy cost</vt:lpstr>
      <vt:lpstr>TABLES AS PYTHON CLASSES  ·  A blank form, and filled-in copies</vt:lpstr>
      <vt:lpstr>db.py  ·  Four jobs, in order</vt:lpstr>
      <vt:lpstr>SESSION AND COMMIT  ·  Like a shopping cart</vt:lpstr>
      <vt:lpstr>LOADING THE CSV  ·  02_load_readings.py, run once</vt:lpstr>
      <vt:lpstr>QUESTIONS AS FUNCTIONS  ·  queries.py is the help desk</vt:lpstr>
      <vt:lpstr>THE ENGINEERING ANSWER  ·  Is the transformer overworked?</vt:lpstr>
      <vt:lpstr>MONDAY'S LIST, NOW SAFE  ·  Same four buttons, new storage</vt:lpstr>
      <vt:lpstr>TRY IT YOURSELF  ·  Run these in the day2_tue_database/code folder</vt:lpstr>
      <vt:lpstr>EXTRA  ·  From one file to a database server: SQLite → PostgreSQL</vt:lpstr>
      <vt:lpstr>POSTGRESQL IN DOCKER  ·  One command, one server on localhost:5432</vt:lpstr>
      <vt:lpstr>MOVING THE DATA  ·  migrate_sqlite_to_postgres.py</vt:lpstr>
      <vt:lpstr>YOUR TURN  ·  Convert the remaining days to PostgreSQL</vt:lpstr>
      <vt:lpstr>KEY WORDS  ·  One line each</vt:lpstr>
      <vt:lpstr>CHECK YOURSELF  ·  Five questions</vt:lpstr>
      <vt:lpstr>Our API now remembers — and answers</vt:lpstr>
      <vt:lpstr>PowerPoint Presentation</vt:lpstr>
    </vt:vector>
  </TitlesOfParts>
  <Company>Actoryx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2 Explained — Giving Our API a Memory</dc:title>
  <dc:subject>PptxGenJS Presentation</dc:subject>
  <dc:creator>Actoryx Technologies</dc:creator>
  <cp:lastModifiedBy>Vijaya Kumar Reddy Maddela</cp:lastModifiedBy>
  <cp:revision>3</cp:revision>
  <dcterms:created xsi:type="dcterms:W3CDTF">2026-10-26T17:40:03Z</dcterms:created>
  <dcterms:modified xsi:type="dcterms:W3CDTF">2026-10-26T17:50:17Z</dcterms:modified>
</cp:coreProperties>
</file>